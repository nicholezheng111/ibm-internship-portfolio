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474" r:id="rId2"/>
    <p:sldId id="543" r:id="rId3"/>
    <p:sldId id="514" r:id="rId4"/>
    <p:sldId id="544" r:id="rId5"/>
    <p:sldId id="545"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5F6FF"/>
    <a:srgbClr val="2D4E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878260-1EEC-014A-AAF3-39011C9CD836}" v="22" dt="2026-06-04T18:17:21.1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340"/>
    <p:restoredTop sz="74274"/>
  </p:normalViewPr>
  <p:slideViewPr>
    <p:cSldViewPr snapToGrid="0">
      <p:cViewPr>
        <p:scale>
          <a:sx n="87" d="100"/>
          <a:sy n="87" d="100"/>
        </p:scale>
        <p:origin x="1904" y="592"/>
      </p:cViewPr>
      <p:guideLst/>
    </p:cSldViewPr>
  </p:slideViewPr>
  <p:outlineViewPr>
    <p:cViewPr>
      <p:scale>
        <a:sx n="30" d="100"/>
        <a:sy n="30" d="100"/>
      </p:scale>
      <p:origin x="0" y="0"/>
    </p:cViewPr>
  </p:outlineViewPr>
  <p:notesTextViewPr>
    <p:cViewPr>
      <p:scale>
        <a:sx n="1" d="1"/>
        <a:sy n="1" d="1"/>
      </p:scale>
      <p:origin x="0" y="0"/>
    </p:cViewPr>
  </p:notesTextViewPr>
  <p:notesViewPr>
    <p:cSldViewPr snapToGrid="0">
      <p:cViewPr>
        <p:scale>
          <a:sx n="150" d="100"/>
          <a:sy n="150" d="100"/>
        </p:scale>
        <p:origin x="2464" y="-156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hole Zheng" userId="2fa9b4ff-7c93-426a-be9e-5eed41d5f0e9" providerId="ADAL" clId="{4BD5F60B-B3EA-51A7-8699-52FAB9EFEEB7}"/>
    <pc:docChg chg="undo custSel delSld modSld">
      <pc:chgData name="Nichole Zheng" userId="2fa9b4ff-7c93-426a-be9e-5eed41d5f0e9" providerId="ADAL" clId="{4BD5F60B-B3EA-51A7-8699-52FAB9EFEEB7}" dt="2026-06-04T18:29:14.983" v="293" actId="20577"/>
      <pc:docMkLst>
        <pc:docMk/>
      </pc:docMkLst>
      <pc:sldChg chg="addSp modSp mod modNotesTx">
        <pc:chgData name="Nichole Zheng" userId="2fa9b4ff-7c93-426a-be9e-5eed41d5f0e9" providerId="ADAL" clId="{4BD5F60B-B3EA-51A7-8699-52FAB9EFEEB7}" dt="2026-06-04T15:59:17.336" v="258" actId="20577"/>
        <pc:sldMkLst>
          <pc:docMk/>
          <pc:sldMk cId="2571291216" sldId="474"/>
        </pc:sldMkLst>
        <pc:spChg chg="mod">
          <ac:chgData name="Nichole Zheng" userId="2fa9b4ff-7c93-426a-be9e-5eed41d5f0e9" providerId="ADAL" clId="{4BD5F60B-B3EA-51A7-8699-52FAB9EFEEB7}" dt="2026-06-04T15:58:43.184" v="251" actId="1076"/>
          <ac:spMkLst>
            <pc:docMk/>
            <pc:sldMk cId="2571291216" sldId="474"/>
            <ac:spMk id="7" creationId="{343613A2-28F2-1135-13AB-E7155D225A45}"/>
          </ac:spMkLst>
        </pc:spChg>
        <pc:spChg chg="mod">
          <ac:chgData name="Nichole Zheng" userId="2fa9b4ff-7c93-426a-be9e-5eed41d5f0e9" providerId="ADAL" clId="{4BD5F60B-B3EA-51A7-8699-52FAB9EFEEB7}" dt="2026-06-04T15:58:59.559" v="253" actId="20577"/>
          <ac:spMkLst>
            <pc:docMk/>
            <pc:sldMk cId="2571291216" sldId="474"/>
            <ac:spMk id="24" creationId="{4E648575-0B45-F247-78F8-6615EE8C8478}"/>
          </ac:spMkLst>
        </pc:spChg>
        <pc:spChg chg="mod">
          <ac:chgData name="Nichole Zheng" userId="2fa9b4ff-7c93-426a-be9e-5eed41d5f0e9" providerId="ADAL" clId="{4BD5F60B-B3EA-51A7-8699-52FAB9EFEEB7}" dt="2026-06-04T15:59:09.635" v="256" actId="20577"/>
          <ac:spMkLst>
            <pc:docMk/>
            <pc:sldMk cId="2571291216" sldId="474"/>
            <ac:spMk id="28" creationId="{4C0847BB-E74B-E8B7-2715-EA4D03ABFDE3}"/>
          </ac:spMkLst>
        </pc:spChg>
        <pc:spChg chg="mod">
          <ac:chgData name="Nichole Zheng" userId="2fa9b4ff-7c93-426a-be9e-5eed41d5f0e9" providerId="ADAL" clId="{4BD5F60B-B3EA-51A7-8699-52FAB9EFEEB7}" dt="2026-06-04T15:59:17.336" v="258" actId="20577"/>
          <ac:spMkLst>
            <pc:docMk/>
            <pc:sldMk cId="2571291216" sldId="474"/>
            <ac:spMk id="31" creationId="{14916E19-6ADB-8481-77FE-AB23C2D05715}"/>
          </ac:spMkLst>
        </pc:spChg>
        <pc:spChg chg="add mod">
          <ac:chgData name="Nichole Zheng" userId="2fa9b4ff-7c93-426a-be9e-5eed41d5f0e9" providerId="ADAL" clId="{4BD5F60B-B3EA-51A7-8699-52FAB9EFEEB7}" dt="2026-06-04T15:58:47.267" v="252" actId="1076"/>
          <ac:spMkLst>
            <pc:docMk/>
            <pc:sldMk cId="2571291216" sldId="474"/>
            <ac:spMk id="35" creationId="{7C31643A-656A-D24F-06F4-D2C032C7949C}"/>
          </ac:spMkLst>
        </pc:spChg>
      </pc:sldChg>
      <pc:sldChg chg="modNotesTx">
        <pc:chgData name="Nichole Zheng" userId="2fa9b4ff-7c93-426a-be9e-5eed41d5f0e9" providerId="ADAL" clId="{4BD5F60B-B3EA-51A7-8699-52FAB9EFEEB7}" dt="2026-06-04T15:31:48.051" v="176" actId="20577"/>
        <pc:sldMkLst>
          <pc:docMk/>
          <pc:sldMk cId="1404687391" sldId="514"/>
        </pc:sldMkLst>
      </pc:sldChg>
      <pc:sldChg chg="modNotesTx">
        <pc:chgData name="Nichole Zheng" userId="2fa9b4ff-7c93-426a-be9e-5eed41d5f0e9" providerId="ADAL" clId="{4BD5F60B-B3EA-51A7-8699-52FAB9EFEEB7}" dt="2026-06-04T18:17:24.753" v="285" actId="20577"/>
        <pc:sldMkLst>
          <pc:docMk/>
          <pc:sldMk cId="980564431" sldId="543"/>
        </pc:sldMkLst>
      </pc:sldChg>
      <pc:sldChg chg="addSp modSp mod modNotesTx">
        <pc:chgData name="Nichole Zheng" userId="2fa9b4ff-7c93-426a-be9e-5eed41d5f0e9" providerId="ADAL" clId="{4BD5F60B-B3EA-51A7-8699-52FAB9EFEEB7}" dt="2026-06-04T18:29:14.983" v="293" actId="20577"/>
        <pc:sldMkLst>
          <pc:docMk/>
          <pc:sldMk cId="887005421" sldId="544"/>
        </pc:sldMkLst>
        <pc:spChg chg="mod">
          <ac:chgData name="Nichole Zheng" userId="2fa9b4ff-7c93-426a-be9e-5eed41d5f0e9" providerId="ADAL" clId="{4BD5F60B-B3EA-51A7-8699-52FAB9EFEEB7}" dt="2026-06-04T18:29:14.983" v="293" actId="20577"/>
          <ac:spMkLst>
            <pc:docMk/>
            <pc:sldMk cId="887005421" sldId="544"/>
            <ac:spMk id="29" creationId="{ECB4FA45-3DFC-FFFF-F7E2-F8E2FF549C32}"/>
          </ac:spMkLst>
        </pc:spChg>
        <pc:spChg chg="mod">
          <ac:chgData name="Nichole Zheng" userId="2fa9b4ff-7c93-426a-be9e-5eed41d5f0e9" providerId="ADAL" clId="{4BD5F60B-B3EA-51A7-8699-52FAB9EFEEB7}" dt="2026-06-04T16:02:41.111" v="269" actId="167"/>
          <ac:spMkLst>
            <pc:docMk/>
            <pc:sldMk cId="887005421" sldId="544"/>
            <ac:spMk id="34" creationId="{BA074D5A-F2B4-3910-4EE4-3A29FB8E6494}"/>
          </ac:spMkLst>
        </pc:spChg>
        <pc:spChg chg="add mod">
          <ac:chgData name="Nichole Zheng" userId="2fa9b4ff-7c93-426a-be9e-5eed41d5f0e9" providerId="ADAL" clId="{4BD5F60B-B3EA-51A7-8699-52FAB9EFEEB7}" dt="2026-06-04T16:02:51.827" v="270"/>
          <ac:spMkLst>
            <pc:docMk/>
            <pc:sldMk cId="887005421" sldId="544"/>
            <ac:spMk id="44" creationId="{0917398D-A8F5-39DC-0C9E-C2AE8CC0AE33}"/>
          </ac:spMkLst>
        </pc:spChg>
      </pc:sldChg>
      <pc:sldChg chg="addSp modSp mod modNotesTx">
        <pc:chgData name="Nichole Zheng" userId="2fa9b4ff-7c93-426a-be9e-5eed41d5f0e9" providerId="ADAL" clId="{4BD5F60B-B3EA-51A7-8699-52FAB9EFEEB7}" dt="2026-06-04T18:27:38.270" v="289" actId="20577"/>
        <pc:sldMkLst>
          <pc:docMk/>
          <pc:sldMk cId="2859304724" sldId="545"/>
        </pc:sldMkLst>
        <pc:spChg chg="mod">
          <ac:chgData name="Nichole Zheng" userId="2fa9b4ff-7c93-426a-be9e-5eed41d5f0e9" providerId="ADAL" clId="{4BD5F60B-B3EA-51A7-8699-52FAB9EFEEB7}" dt="2026-06-04T15:00:04.453" v="14" actId="207"/>
          <ac:spMkLst>
            <pc:docMk/>
            <pc:sldMk cId="2859304724" sldId="545"/>
            <ac:spMk id="10" creationId="{75CB6B27-1ADE-6B32-0D5B-9074FD95DAED}"/>
          </ac:spMkLst>
        </pc:spChg>
        <pc:spChg chg="mod">
          <ac:chgData name="Nichole Zheng" userId="2fa9b4ff-7c93-426a-be9e-5eed41d5f0e9" providerId="ADAL" clId="{4BD5F60B-B3EA-51A7-8699-52FAB9EFEEB7}" dt="2026-06-04T15:00:02.887" v="12" actId="207"/>
          <ac:spMkLst>
            <pc:docMk/>
            <pc:sldMk cId="2859304724" sldId="545"/>
            <ac:spMk id="15" creationId="{EF0E2BFD-CDF2-C9A7-A177-88323DDBAE5F}"/>
          </ac:spMkLst>
        </pc:spChg>
        <pc:spChg chg="mod">
          <ac:chgData name="Nichole Zheng" userId="2fa9b4ff-7c93-426a-be9e-5eed41d5f0e9" providerId="ADAL" clId="{4BD5F60B-B3EA-51A7-8699-52FAB9EFEEB7}" dt="2026-06-04T14:59:55.715" v="8" actId="1076"/>
          <ac:spMkLst>
            <pc:docMk/>
            <pc:sldMk cId="2859304724" sldId="545"/>
            <ac:spMk id="26" creationId="{205B10F2-0A06-DDE2-B442-05236607019E}"/>
          </ac:spMkLst>
        </pc:spChg>
        <pc:spChg chg="add mod">
          <ac:chgData name="Nichole Zheng" userId="2fa9b4ff-7c93-426a-be9e-5eed41d5f0e9" providerId="ADAL" clId="{4BD5F60B-B3EA-51A7-8699-52FAB9EFEEB7}" dt="2026-06-04T16:02:54.900" v="271"/>
          <ac:spMkLst>
            <pc:docMk/>
            <pc:sldMk cId="2859304724" sldId="545"/>
            <ac:spMk id="40" creationId="{A5507B22-0FE1-5E95-A20A-CEC7D5B74573}"/>
          </ac:spMkLst>
        </pc:spChg>
      </pc:sldChg>
      <pc:sldChg chg="del">
        <pc:chgData name="Nichole Zheng" userId="2fa9b4ff-7c93-426a-be9e-5eed41d5f0e9" providerId="ADAL" clId="{4BD5F60B-B3EA-51A7-8699-52FAB9EFEEB7}" dt="2026-06-04T15:34:56.067" v="210" actId="2696"/>
        <pc:sldMkLst>
          <pc:docMk/>
          <pc:sldMk cId="2069041620" sldId="54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3E090A-4877-9846-AF88-11D56D04C0EC}" type="datetimeFigureOut">
              <a:rPr lang="en-US" smtClean="0"/>
              <a:t>6/2/26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826E52-C466-BE44-9FD9-EEAB73B8AC34}" type="slidenum">
              <a:rPr lang="en-US" smtClean="0"/>
              <a:t>‹#›</a:t>
            </a:fld>
            <a:endParaRPr lang="en-US" dirty="0"/>
          </a:p>
        </p:txBody>
      </p:sp>
    </p:spTree>
    <p:extLst>
      <p:ext uri="{BB962C8B-B14F-4D97-AF65-F5344CB8AC3E}">
        <p14:creationId xmlns:p14="http://schemas.microsoft.com/office/powerpoint/2010/main" val="27846068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txBody>
          <a:bodyPr/>
          <a:lstStyle/>
          <a:p>
            <a:endParaRPr lang="en-US" dirty="0"/>
          </a:p>
        </p:txBody>
      </p:sp>
      <p:sp>
        <p:nvSpPr>
          <p:cNvPr id="3" name="Notes Placeholder 2"/>
          <p:cNvSpPr>
            <a:spLocks noGrp="1"/>
          </p:cNvSpPr>
          <p:nvPr>
            <p:ph type="body" idx="1"/>
          </p:nvPr>
        </p:nvSpPr>
        <p:spPr/>
        <p:txBody>
          <a:bodyPr/>
          <a:lstStyle/>
          <a:p>
            <a:r>
              <a:rPr lang="en-US" b="1" u="sng" dirty="0"/>
              <a:t>Introduction</a:t>
            </a:r>
          </a:p>
          <a:p>
            <a:r>
              <a:rPr lang="en-US" dirty="0"/>
              <a:t>Today I'd like to introduce IBM watsonx.data intelligence and discuss how it helps organizations create trusted, AI-ready data.</a:t>
            </a:r>
          </a:p>
          <a:p>
            <a:r>
              <a:rPr lang="en-US" dirty="0"/>
              <a:t>As companies continue investing in AI, many are discovering that the biggest challenge isn't the AI models themselves—it's making sure AI has access to trusted, governed, and understandable data.</a:t>
            </a:r>
          </a:p>
          <a:p>
            <a:r>
              <a:rPr lang="en-US" dirty="0"/>
              <a:t>Today I'll cover three things:</a:t>
            </a:r>
          </a:p>
          <a:p>
            <a:r>
              <a:rPr lang="en-US" dirty="0"/>
              <a:t>	1. The business problem organizations face </a:t>
            </a:r>
          </a:p>
          <a:p>
            <a:r>
              <a:rPr lang="en-US" dirty="0"/>
              <a:t>	2. How IBM solves that problem with watsonx.data intelligence </a:t>
            </a:r>
          </a:p>
          <a:p>
            <a:r>
              <a:rPr lang="en-US" dirty="0"/>
              <a:t>	3. The business value customers achieve</a:t>
            </a:r>
          </a:p>
          <a:p>
            <a:r>
              <a:rPr lang="en-US" b="0" u="none" dirty="0"/>
              <a:t>---</a:t>
            </a:r>
          </a:p>
          <a:p>
            <a:endParaRPr lang="en-US" dirty="0"/>
          </a:p>
          <a:p>
            <a:r>
              <a:rPr lang="en-US" dirty="0"/>
              <a:t>Before going into the product</a:t>
            </a:r>
            <a:r>
              <a:rPr lang="en-US" baseline="0" dirty="0"/>
              <a:t>, I would like to talk the challenge many organizations face. </a:t>
            </a:r>
            <a:endParaRPr lang="en-US" dirty="0"/>
          </a:p>
          <a:p>
            <a:endParaRPr lang="en-US" dirty="0"/>
          </a:p>
          <a:p>
            <a:r>
              <a:rPr lang="en-US" dirty="0"/>
              <a:t>Today, most organizations already have access to AI technologies such as AI agents, AI assistants, copilots, and advanced analytics. The technology itself is no longer the biggest barrier.</a:t>
            </a:r>
          </a:p>
          <a:p>
            <a:r>
              <a:rPr lang="en-US" dirty="0"/>
              <a:t>The challenge is that AI needs context.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AI is only as smart as the data behind it.</a:t>
            </a:r>
            <a:endParaRPr lang="en-US" dirty="0"/>
          </a:p>
          <a:p>
            <a:endParaRPr lang="en-US" dirty="0"/>
          </a:p>
          <a:p>
            <a:r>
              <a:rPr lang="en-US" dirty="0"/>
              <a:t>Diagram: 4 things organizations are investing heavily in today.</a:t>
            </a:r>
            <a:r>
              <a:rPr lang="en-US" baseline="0" dirty="0"/>
              <a:t> </a:t>
            </a:r>
            <a:r>
              <a:rPr lang="en-US" dirty="0"/>
              <a:t>These are the outcomes companies want.</a:t>
            </a:r>
          </a:p>
          <a:p>
            <a:pPr marL="171450" indent="-171450">
              <a:buFontTx/>
              <a:buChar char="-"/>
            </a:pPr>
            <a:r>
              <a:rPr lang="en-US" dirty="0"/>
              <a:t>AI agent automate tasks</a:t>
            </a:r>
          </a:p>
          <a:p>
            <a:pPr marL="171450" indent="-171450">
              <a:buFontTx/>
              <a:buChar char="-"/>
            </a:pPr>
            <a:r>
              <a:rPr lang="en-US" dirty="0"/>
              <a:t>assistant answer employee questions</a:t>
            </a:r>
          </a:p>
          <a:p>
            <a:pPr marL="171450" indent="-171450">
              <a:buFontTx/>
              <a:buChar char="-"/>
            </a:pPr>
            <a:r>
              <a:rPr lang="en-US" dirty="0"/>
              <a:t>copilot help sales or developers work more efficiently</a:t>
            </a:r>
          </a:p>
          <a:p>
            <a:pPr marL="171450" indent="-171450">
              <a:buFontTx/>
              <a:buChar char="-"/>
            </a:pPr>
            <a:r>
              <a:rPr lang="en-US" dirty="0"/>
              <a:t>analytics helps organizations make better decisions.</a:t>
            </a:r>
          </a:p>
          <a:p>
            <a:r>
              <a:rPr lang="en-US" dirty="0"/>
              <a:t>But notice that all four of these capabilities are connected to a single foundation: </a:t>
            </a:r>
            <a:r>
              <a:rPr lang="en-US" b="1" dirty="0"/>
              <a:t>enterprise data.</a:t>
            </a:r>
            <a:endParaRPr lang="en-US" dirty="0"/>
          </a:p>
          <a:p>
            <a:endParaRPr lang="en-US" dirty="0"/>
          </a:p>
          <a:p>
            <a:endParaRPr lang="en-US" dirty="0"/>
          </a:p>
          <a:p>
            <a:r>
              <a:rPr lang="en-US" dirty="0"/>
              <a:t>AI must understand an organization's enterprise data — customer information, business processes, documents, policies, contracts, and operational data.</a:t>
            </a:r>
          </a:p>
          <a:p>
            <a:r>
              <a:rPr lang="en-US" dirty="0"/>
              <a:t>The problem is that most organizations struggle to make that data usable for AI.</a:t>
            </a:r>
          </a:p>
          <a:p>
            <a:r>
              <a:rPr lang="en-US" dirty="0"/>
              <a:t>In fact, </a:t>
            </a:r>
            <a:r>
              <a:rPr lang="en-US" b="1" dirty="0"/>
              <a:t>87% of organizations say that data readiness and context are barriers to AI adoption.</a:t>
            </a:r>
            <a:endParaRPr lang="en-US" dirty="0"/>
          </a:p>
          <a:p>
            <a:r>
              <a:rPr lang="en-US" dirty="0"/>
              <a:t>Even more surprisingly, only </a:t>
            </a:r>
            <a:r>
              <a:rPr lang="en-US" b="1" dirty="0"/>
              <a:t>12% believe their data is sufficiently ready for AI.</a:t>
            </a:r>
            <a:endParaRPr lang="en-US" dirty="0"/>
          </a:p>
          <a:p>
            <a:r>
              <a:rPr lang="en-US" dirty="0"/>
              <a:t>And a major reason for that is shown in the bottom statistic: </a:t>
            </a:r>
            <a:r>
              <a:rPr lang="en-US" b="1" dirty="0"/>
              <a:t>90% of enterprise data is unstructured.</a:t>
            </a:r>
          </a:p>
          <a:p>
            <a:endParaRPr lang="en-US" dirty="0"/>
          </a:p>
          <a:p>
            <a:r>
              <a:rPr lang="en-US" dirty="0"/>
              <a:t>That means valuable information is trapped inside emails, PDFs, documents, reports, presentations, and other formats that AI often cannot easily understand or trust.</a:t>
            </a:r>
          </a:p>
          <a:p>
            <a:r>
              <a:rPr lang="en-US" dirty="0"/>
              <a:t>So while many companies are investing heavily in AI, they're discovering that the real challenge isn't the AI itself.</a:t>
            </a:r>
          </a:p>
          <a:p>
            <a:endParaRPr lang="en-US" dirty="0"/>
          </a:p>
          <a:p>
            <a:r>
              <a:rPr lang="en-US" b="1" dirty="0"/>
              <a:t>Transition</a:t>
            </a:r>
          </a:p>
          <a:p>
            <a:r>
              <a:rPr lang="en-US" dirty="0"/>
              <a:t>And that's exactly where IBM watsonx.data intelligence comes in."</a:t>
            </a:r>
          </a:p>
        </p:txBody>
      </p:sp>
      <p:sp>
        <p:nvSpPr>
          <p:cNvPr id="4" name="Slide Number Placeholder 3"/>
          <p:cNvSpPr>
            <a:spLocks noGrp="1"/>
          </p:cNvSpPr>
          <p:nvPr>
            <p:ph type="sldNum" sz="quarter" idx="5"/>
          </p:nvPr>
        </p:nvSpPr>
        <p:spPr/>
        <p:txBody>
          <a:bodyPr/>
          <a:lstStyle/>
          <a:p>
            <a:fld id="{6E2E38B8-B0B4-AD41-AC6E-B781F46A9FD3}" type="slidenum">
              <a:rPr lang="en-US" smtClean="0"/>
              <a:pPr/>
              <a:t>1</a:t>
            </a:fld>
            <a:endParaRPr lang="en-US" dirty="0"/>
          </a:p>
        </p:txBody>
      </p:sp>
      <p:sp>
        <p:nvSpPr>
          <p:cNvPr id="5" name="Footer Placeholder 4"/>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12132327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2470A-E674-767E-F6AC-4BF9C32086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B1DF9C-2B89-CC88-8077-E0E10D020AE3}"/>
              </a:ext>
            </a:extLst>
          </p:cNvPr>
          <p:cNvSpPr>
            <a:spLocks noGrp="1" noRot="1" noChangeAspect="1"/>
          </p:cNvSpPr>
          <p:nvPr>
            <p:ph type="sldImg"/>
          </p:nvPr>
        </p:nvSpPr>
        <p:spPr>
          <a:xfrm>
            <a:off x="206375" y="228600"/>
            <a:ext cx="6419850" cy="3611563"/>
          </a:xfrm>
        </p:spPr>
        <p:txBody>
          <a:bodyPr/>
          <a:lstStyle/>
          <a:p>
            <a:endParaRPr lang="en-US" dirty="0"/>
          </a:p>
        </p:txBody>
      </p:sp>
      <p:sp>
        <p:nvSpPr>
          <p:cNvPr id="3" name="Notes Placeholder 2">
            <a:extLst>
              <a:ext uri="{FF2B5EF4-FFF2-40B4-BE49-F238E27FC236}">
                <a16:creationId xmlns:a16="http://schemas.microsoft.com/office/drawing/2014/main" id="{2A43B460-5ED5-4933-7591-23BFA4F6CAC9}"/>
              </a:ext>
            </a:extLst>
          </p:cNvPr>
          <p:cNvSpPr>
            <a:spLocks noGrp="1"/>
          </p:cNvSpPr>
          <p:nvPr>
            <p:ph type="body" idx="1"/>
          </p:nvPr>
        </p:nvSpPr>
        <p:spPr/>
        <p:txBody>
          <a:bodyPr/>
          <a:lstStyle/>
          <a:p>
            <a:r>
              <a:rPr lang="en-US" dirty="0"/>
              <a:t>IBM solves that challenge with </a:t>
            </a:r>
            <a:r>
              <a:rPr lang="en-US" b="1" dirty="0"/>
              <a:t>watsonx.data intelligence</a:t>
            </a:r>
            <a:r>
              <a:rPr lang="en-US" dirty="0"/>
              <a:t>. At a high level, it helps organizations </a:t>
            </a:r>
            <a:r>
              <a:rPr lang="en-US" sz="1200" dirty="0"/>
              <a:t>connects scattered data across systems and turns them</a:t>
            </a:r>
            <a:r>
              <a:rPr lang="en-US" dirty="0"/>
              <a:t> into trusted intelligence that both humans and AI can use.</a:t>
            </a:r>
          </a:p>
          <a:p>
            <a:endParaRPr lang="en-US" dirty="0"/>
          </a:p>
          <a:p>
            <a:r>
              <a:rPr lang="en-US" dirty="0"/>
              <a:t>If we follow the flow across the diagram from left to right, we start with </a:t>
            </a:r>
            <a:r>
              <a:rPr lang="en-US" b="1" dirty="0"/>
              <a:t>enterprise data</a:t>
            </a:r>
            <a:r>
              <a:rPr lang="en-US" dirty="0"/>
              <a:t>.</a:t>
            </a:r>
          </a:p>
          <a:p>
            <a:r>
              <a:rPr lang="en-US" dirty="0"/>
              <a:t>- This data exists across many different systems throughout an organization. It could include customer information, financial records, documents, and operational data. The challenge is that this information is often scattered across hundreds of locations and formats.</a:t>
            </a:r>
          </a:p>
          <a:p>
            <a:r>
              <a:rPr lang="en-US" dirty="0"/>
              <a:t>- </a:t>
            </a:r>
            <a:r>
              <a:rPr lang="en-US" b="1" dirty="0"/>
              <a:t>watsonx.data intelligence</a:t>
            </a:r>
            <a:r>
              <a:rPr lang="en-US" dirty="0"/>
              <a:t> </a:t>
            </a:r>
          </a:p>
          <a:p>
            <a:r>
              <a:rPr lang="en-US" dirty="0"/>
              <a:t>- Help organizations discover, connect, organize, and understand their data. Rather than simply storing data, it helps create a complete understanding of what that data means and how it relates to the rest of the business.</a:t>
            </a:r>
          </a:p>
          <a:p>
            <a:r>
              <a:rPr lang="en-US" dirty="0"/>
              <a:t>Leads to what IBM calls </a:t>
            </a:r>
            <a:r>
              <a:rPr lang="en-US" b="1" dirty="0"/>
              <a:t>trusted context</a:t>
            </a:r>
            <a:r>
              <a:rPr lang="en-US" dirty="0"/>
              <a:t>.</a:t>
            </a:r>
          </a:p>
          <a:p>
            <a:r>
              <a:rPr lang="en-US" dirty="0"/>
              <a:t>- Trusted context means understanding important information about the data, such as:</a:t>
            </a:r>
          </a:p>
          <a:p>
            <a:r>
              <a:rPr lang="en-US" dirty="0"/>
              <a:t>	- What the data represents , Where it came from </a:t>
            </a:r>
          </a:p>
          <a:p>
            <a:r>
              <a:rPr lang="en-US" dirty="0"/>
              <a:t>	- Who owns it, How it has changed over time </a:t>
            </a:r>
          </a:p>
          <a:p>
            <a:r>
              <a:rPr lang="en-US" dirty="0"/>
              <a:t>	- Whether it can be trusted for business decisions or AI apps </a:t>
            </a:r>
          </a:p>
          <a:p>
            <a:r>
              <a:rPr lang="en-US" dirty="0"/>
              <a:t>Once organizations have that trusted context, both </a:t>
            </a:r>
            <a:r>
              <a:rPr lang="en-US" b="1" dirty="0"/>
              <a:t>humans and AI systems</a:t>
            </a:r>
            <a:r>
              <a:rPr lang="en-US" dirty="0"/>
              <a:t> can use the data with confidence to make faster and better decisions.</a:t>
            </a:r>
          </a:p>
          <a:p>
            <a:r>
              <a:rPr lang="en-US" dirty="0"/>
              <a:t>So the key idea of this slide is that watsonx.data intelligence acts as the bridge between raw enterprise data and trustworthy business outcomes.</a:t>
            </a:r>
          </a:p>
          <a:p>
            <a:endParaRPr lang="en-US" dirty="0"/>
          </a:p>
          <a:p>
            <a:r>
              <a:rPr lang="en-US" b="1" dirty="0"/>
              <a:t>---</a:t>
            </a:r>
          </a:p>
          <a:p>
            <a:r>
              <a:rPr lang="en-US" b="0" u="sng" dirty="0"/>
              <a:t>This is made possible through three key capabilities.</a:t>
            </a:r>
          </a:p>
          <a:p>
            <a:r>
              <a:rPr lang="en-US" b="1" dirty="0"/>
              <a:t>IBM Knowledge Catalog</a:t>
            </a:r>
            <a:r>
              <a:rPr lang="en-US" dirty="0"/>
              <a:t>: searchable inventory of an organization's data (Google search engine for enterprise data. Instead of spending hours searching through databases and spreadsheets, employees can quickly find trusted data, understand where it came from, and use it confidently for analytics and AI)</a:t>
            </a:r>
          </a:p>
          <a:p>
            <a:r>
              <a:rPr lang="en-US" b="1" dirty="0"/>
              <a:t>Manta</a:t>
            </a:r>
            <a:r>
              <a:rPr lang="en-US" dirty="0"/>
              <a:t> tracks where data originated, how it moved through systems, and how it was transformed along the way.</a:t>
            </a:r>
          </a:p>
          <a:p>
            <a:r>
              <a:rPr lang="en-US" b="1" dirty="0"/>
              <a:t>Data Product Hub</a:t>
            </a:r>
            <a:r>
              <a:rPr lang="en-US" dirty="0"/>
              <a:t> helps organizations package and share trusted data products so teams can easily access the information they need (</a:t>
            </a:r>
            <a:r>
              <a:rPr lang="en-US" sz="1200" kern="1200" dirty="0">
                <a:solidFill>
                  <a:schemeClr val="tx1"/>
                </a:solidFill>
                <a:effectLst/>
                <a:latin typeface="+mn-lt"/>
                <a:ea typeface="+mn-ea"/>
                <a:cs typeface="+mn-cs"/>
              </a:rPr>
              <a:t>Marketplace for data products)</a:t>
            </a:r>
          </a:p>
          <a:p>
            <a:r>
              <a:rPr lang="en-US" sz="1200" kern="1200" dirty="0">
                <a:solidFill>
                  <a:schemeClr val="tx1"/>
                </a:solidFill>
                <a:effectLst/>
                <a:latin typeface="+mn-lt"/>
                <a:ea typeface="+mn-ea"/>
                <a:cs typeface="+mn-cs"/>
              </a:rPr>
              <a:t>---</a:t>
            </a:r>
          </a:p>
          <a:p>
            <a:r>
              <a:rPr lang="en-US" dirty="0"/>
              <a:t>Together, these capabilities create a metadata foundation that gives data meaning and context.</a:t>
            </a:r>
            <a:endParaRPr lang="en-US" sz="1200" kern="1200" dirty="0">
              <a:solidFill>
                <a:schemeClr val="tx1"/>
              </a:solidFill>
              <a:effectLst/>
              <a:latin typeface="+mn-lt"/>
              <a:ea typeface="+mn-ea"/>
              <a:cs typeface="+mn-cs"/>
            </a:endParaRPr>
          </a:p>
          <a:p>
            <a:r>
              <a:rPr lang="en-US" dirty="0"/>
              <a:t>Metadata means 'data about data.’ It gives idea of who, what, when and where the data came from. With metadata, data becomes understandable and trustworthy, which is exactly what AI needs to generate accurate results.</a:t>
            </a:r>
          </a:p>
          <a:p>
            <a:endParaRPr lang="en-US" dirty="0"/>
          </a:p>
          <a:p>
            <a:r>
              <a:rPr lang="en-US" dirty="0"/>
              <a:t>---</a:t>
            </a:r>
          </a:p>
          <a:p>
            <a:r>
              <a:rPr lang="en-US" dirty="0"/>
              <a:t>So watsonx.data intelligence isn't just helping organizations manage data. It's helping them create trusted context, which ultimately makes AI more accurate, more explainable, and more valuable to the business.</a:t>
            </a:r>
          </a:p>
          <a:p>
            <a:endParaRPr lang="en-US" dirty="0"/>
          </a:p>
          <a:p>
            <a:endParaRPr lang="en-BR"/>
          </a:p>
        </p:txBody>
      </p:sp>
      <p:sp>
        <p:nvSpPr>
          <p:cNvPr id="4" name="Slide Number Placeholder 3">
            <a:extLst>
              <a:ext uri="{FF2B5EF4-FFF2-40B4-BE49-F238E27FC236}">
                <a16:creationId xmlns:a16="http://schemas.microsoft.com/office/drawing/2014/main" id="{8F4741BF-0D34-FEE9-F90D-22559B7C4479}"/>
              </a:ext>
            </a:extLst>
          </p:cNvPr>
          <p:cNvSpPr>
            <a:spLocks noGrp="1"/>
          </p:cNvSpPr>
          <p:nvPr>
            <p:ph type="sldNum" sz="quarter" idx="5"/>
          </p:nvPr>
        </p:nvSpPr>
        <p:spPr/>
        <p:txBody>
          <a:bodyPr/>
          <a:lstStyle/>
          <a:p>
            <a:fld id="{6E2E38B8-B0B4-AD41-AC6E-B781F46A9FD3}" type="slidenum">
              <a:rPr lang="en-US" smtClean="0"/>
              <a:pPr/>
              <a:t>2</a:t>
            </a:fld>
            <a:endParaRPr lang="en-US" dirty="0"/>
          </a:p>
        </p:txBody>
      </p:sp>
      <p:sp>
        <p:nvSpPr>
          <p:cNvPr id="5" name="Footer Placeholder 4">
            <a:extLst>
              <a:ext uri="{FF2B5EF4-FFF2-40B4-BE49-F238E27FC236}">
                <a16:creationId xmlns:a16="http://schemas.microsoft.com/office/drawing/2014/main" id="{7CFF084C-9B68-43DA-1F8E-4470C646B705}"/>
              </a:ext>
            </a:extLst>
          </p:cNvPr>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35097525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rPr lang="en-US" dirty="0"/>
              <a:t>IBM approaches this through four core capabilities : </a:t>
            </a:r>
            <a:r>
              <a:rPr lang="en-US" b="1" dirty="0"/>
              <a:t>Discover, Govern, Understand, and Reuse.</a:t>
            </a:r>
          </a:p>
          <a:p>
            <a:endParaRPr lang="en-US" b="1" dirty="0"/>
          </a:p>
          <a:p>
            <a:pPr marL="228600" indent="-228600">
              <a:buAutoNum type="arabicPeriod"/>
            </a:pPr>
            <a:r>
              <a:rPr lang="en-US" dirty="0"/>
              <a:t>Discover</a:t>
            </a:r>
          </a:p>
          <a:p>
            <a:r>
              <a:rPr lang="en-US" dirty="0"/>
              <a:t>- Organizations often have data spread across hundreds of systems, making it difficult for employees and AI applications to find the right information.</a:t>
            </a:r>
          </a:p>
          <a:p>
            <a:r>
              <a:rPr lang="en-US" dirty="0"/>
              <a:t>- IBM helps users quickly discover trusted data through capabilities like natural language search, data cataloging, and business glossaries.</a:t>
            </a:r>
          </a:p>
          <a:p>
            <a:r>
              <a:rPr lang="en-US" dirty="0"/>
              <a:t>- Instead of spending hours searching for data, users can find what they need in seconds.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 Govern</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Data found, needs to govern to make sure data is secure, compliant, and being used appropriately.</a:t>
            </a:r>
          </a:p>
          <a:p>
            <a:r>
              <a:rPr lang="en-US" dirty="0"/>
              <a:t>- IBM provides policy management, data classification, and access controls to help organizations manage sensitive information and meet regulatory requirements. This helps organizations build trust while reducing risk.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3. Understand</a:t>
            </a:r>
          </a:p>
          <a:p>
            <a:r>
              <a:rPr lang="en-US" dirty="0"/>
              <a:t>- t's not enough to know that data exists—we also need to understand where it came from and how it has changed over time.</a:t>
            </a:r>
          </a:p>
          <a:p>
            <a:r>
              <a:rPr lang="en-US" dirty="0"/>
              <a:t>IBM provides visibility into data lineage, allowing organizations to track data flow, perform impact analysis, and identify root causes when issues arise.</a:t>
            </a:r>
          </a:p>
          <a:p>
            <a:r>
              <a:rPr lang="en-US" dirty="0"/>
              <a:t>This creates transparency and confidence in the data being used by both people and AI.</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4. Reuse </a:t>
            </a:r>
          </a:p>
          <a:p>
            <a:r>
              <a:rPr lang="en-US" dirty="0"/>
              <a:t>- organizations can maximize its value through </a:t>
            </a:r>
            <a:r>
              <a:rPr lang="en-US" b="1" dirty="0"/>
              <a:t>Reuse.</a:t>
            </a:r>
            <a:endParaRPr lang="en-US" dirty="0"/>
          </a:p>
          <a:p>
            <a:r>
              <a:rPr lang="en-US" dirty="0"/>
              <a:t>Instead of repeatedly creating new datasets for every project, teams can package trusted information into reusable data products.</a:t>
            </a:r>
          </a:p>
          <a:p>
            <a:r>
              <a:rPr lang="en-US" dirty="0"/>
              <a:t>Through capabilities like Data Product Hub and self-service access, organizations can accelerate new AI and analytics initiatives while reducing duplication of effort.</a:t>
            </a:r>
          </a:p>
          <a:p>
            <a:r>
              <a:rPr lang="en-US" dirty="0"/>
              <a:t>---</a:t>
            </a:r>
          </a:p>
          <a:p>
            <a:r>
              <a:rPr lang="en-US" dirty="0"/>
              <a:t>Together, these four capabilities create a strong metadata foundation.</a:t>
            </a:r>
          </a:p>
          <a:p>
            <a:r>
              <a:rPr lang="en-US" dirty="0"/>
              <a:t>Organizations can discover their data, govern it properly, understand its context, and reuse it across the business.</a:t>
            </a:r>
          </a:p>
          <a:p>
            <a:r>
              <a:rPr lang="en-US" dirty="0"/>
              <a:t>The result is not just better data management. The result is measurable business value."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a:p>
            <a:endParaRPr lang="en-US" dirty="0"/>
          </a:p>
          <a:p>
            <a:pPr marL="685800" lvl="1" indent="-228600">
              <a:buAutoNum type="arabicPeriod"/>
            </a:pPr>
            <a:endParaRPr lang="en-US" dirty="0"/>
          </a:p>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3</a:t>
            </a:fld>
            <a:endParaRPr lang="en-US" dirty="0"/>
          </a:p>
        </p:txBody>
      </p:sp>
      <p:sp>
        <p:nvSpPr>
          <p:cNvPr id="5" name="Footer Placeholder 4"/>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4784612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customers implement watsonx.data intelligence, the outcomes extend beyond IT and data teams.</a:t>
            </a:r>
          </a:p>
          <a:p>
            <a:endParaRPr lang="en-US" dirty="0"/>
          </a:p>
          <a:p>
            <a:r>
              <a:rPr lang="en-US" b="1" dirty="0"/>
              <a:t>first outcome is faster AI adoption</a:t>
            </a:r>
            <a:endParaRPr lang="en-US" dirty="0"/>
          </a:p>
          <a:p>
            <a:r>
              <a:rPr lang="en-US" dirty="0"/>
              <a:t>Organizations can prepare governed, trusted data for AI significantly faster, with some customers seeing up to 70% faster preparation of AI-ready data.</a:t>
            </a:r>
          </a:p>
          <a:p>
            <a:endParaRPr lang="en-US" b="1" dirty="0"/>
          </a:p>
          <a:p>
            <a:r>
              <a:rPr lang="en-US" b="1" dirty="0"/>
              <a:t>2</a:t>
            </a:r>
            <a:r>
              <a:rPr lang="en-US" b="1" baseline="30000" dirty="0"/>
              <a:t>nd</a:t>
            </a:r>
            <a:r>
              <a:rPr lang="en-US" b="1" dirty="0"/>
              <a:t> outcome is better decision making</a:t>
            </a:r>
          </a:p>
          <a:p>
            <a:r>
              <a:rPr lang="en-US" dirty="0"/>
              <a:t>When users can find trusted data and understand its context, they make decisions with greater confidence and less uncertainty.</a:t>
            </a:r>
          </a:p>
          <a:p>
            <a:endParaRPr lang="en-US" dirty="0"/>
          </a:p>
          <a:p>
            <a:r>
              <a:rPr lang="en-US" b="1" dirty="0"/>
              <a:t>3</a:t>
            </a:r>
            <a:r>
              <a:rPr lang="en-US" b="1" baseline="30000" dirty="0"/>
              <a:t>rd</a:t>
            </a:r>
            <a:r>
              <a:rPr lang="en-US" b="1" dirty="0"/>
              <a:t> outcome is reduced risk</a:t>
            </a:r>
          </a:p>
          <a:p>
            <a:r>
              <a:rPr lang="en-US" dirty="0"/>
              <a:t>Governance, lineage, and policy enforcement improve compliance and auditability while helping protect sensitive information.</a:t>
            </a:r>
          </a:p>
          <a:p>
            <a:endParaRPr lang="en-US" dirty="0"/>
          </a:p>
          <a:p>
            <a:r>
              <a:rPr lang="en-US" b="1" dirty="0"/>
              <a:t>Finally, organizations gain higher productivity.</a:t>
            </a:r>
          </a:p>
          <a:p>
            <a:r>
              <a:rPr lang="en-US" dirty="0"/>
              <a:t>Employees spend less time searching for data and less time manually creating metadata.</a:t>
            </a:r>
          </a:p>
          <a:p>
            <a:r>
              <a:rPr lang="en-US" dirty="0"/>
              <a:t>Some organizations have reduced time spent searching for data by more than 75%, while AI-powered metadata generation has saved thousands of hours of manual effort.</a:t>
            </a:r>
          </a:p>
          <a:p>
            <a:endParaRPr lang="en-US" dirty="0"/>
          </a:p>
          <a:p>
            <a:r>
              <a:rPr lang="en-US" dirty="0"/>
              <a:t>Ultimately, the value isn't just managing data better.</a:t>
            </a:r>
          </a:p>
          <a:p>
            <a:r>
              <a:rPr lang="en-US" dirty="0"/>
              <a:t>The value is helping organizations accelerate AI adoption while increasing trust and reducing risk.</a:t>
            </a:r>
          </a:p>
          <a:p>
            <a:endParaRPr lang="en-US" dirty="0"/>
          </a:p>
          <a:p>
            <a:r>
              <a:rPr lang="en-US" dirty="0"/>
              <a:t>---</a:t>
            </a:r>
          </a:p>
          <a:p>
            <a:r>
              <a:rPr lang="en-US" dirty="0"/>
              <a:t>Let's look at what this can look like in practice.</a:t>
            </a:r>
          </a:p>
          <a:p>
            <a:endParaRPr lang="en-US" dirty="0"/>
          </a:p>
          <a:p>
            <a:endParaRPr lang="en-US" dirty="0"/>
          </a:p>
        </p:txBody>
      </p:sp>
      <p:sp>
        <p:nvSpPr>
          <p:cNvPr id="4" name="Slide Number Placeholder 3"/>
          <p:cNvSpPr>
            <a:spLocks noGrp="1"/>
          </p:cNvSpPr>
          <p:nvPr>
            <p:ph type="sldNum" sz="quarter" idx="5"/>
          </p:nvPr>
        </p:nvSpPr>
        <p:spPr/>
        <p:txBody>
          <a:bodyPr/>
          <a:lstStyle/>
          <a:p>
            <a:fld id="{AF826E52-C466-BE44-9FD9-EEAB73B8AC34}" type="slidenum">
              <a:rPr lang="en-US" smtClean="0"/>
              <a:t>4</a:t>
            </a:fld>
            <a:endParaRPr lang="en-US" dirty="0"/>
          </a:p>
        </p:txBody>
      </p:sp>
    </p:spTree>
    <p:extLst>
      <p:ext uri="{BB962C8B-B14F-4D97-AF65-F5344CB8AC3E}">
        <p14:creationId xmlns:p14="http://schemas.microsoft.com/office/powerpoint/2010/main" val="20345899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great example of this is Lockheed Martin.</a:t>
            </a:r>
          </a:p>
          <a:p>
            <a:r>
              <a:rPr lang="en-US" dirty="0"/>
              <a:t>Before working with IBM, Lockheed Martin faced significant data fragmentation.</a:t>
            </a:r>
          </a:p>
          <a:p>
            <a:r>
              <a:rPr lang="en-US" dirty="0"/>
              <a:t>- 46 different data systems and tools, multiple data silos, and a fragmented AI and analytics environment.</a:t>
            </a:r>
          </a:p>
          <a:p>
            <a:r>
              <a:rPr lang="en-US" dirty="0"/>
              <a:t>This made it difficult to create a consistent and trusted foundation for AI.</a:t>
            </a:r>
          </a:p>
          <a:p>
            <a:r>
              <a:rPr lang="en-US" dirty="0"/>
              <a:t>Using IBM's data intelligence capabilities, they established a unified data foundation, implemented governance and metadata management, and created a trusted AI environment.</a:t>
            </a:r>
          </a:p>
          <a:p>
            <a:endParaRPr lang="en-US" dirty="0"/>
          </a:p>
          <a:p>
            <a:r>
              <a:rPr lang="en-US" dirty="0"/>
              <a:t>As a result:</a:t>
            </a:r>
          </a:p>
          <a:p>
            <a:r>
              <a:rPr lang="en-US" dirty="0"/>
              <a:t>AI response accuracy improved by 20% </a:t>
            </a:r>
          </a:p>
          <a:p>
            <a:r>
              <a:rPr lang="en-US" dirty="0"/>
              <a:t>46 systems were consolidated </a:t>
            </a:r>
          </a:p>
          <a:p>
            <a:r>
              <a:rPr lang="en-US" dirty="0"/>
              <a:t>Data and AI tools were reduced by 50% </a:t>
            </a:r>
          </a:p>
          <a:p>
            <a:r>
              <a:rPr lang="en-US" dirty="0"/>
              <a:t>This demonstrates the broader goal of watsonx.data intelligence.</a:t>
            </a:r>
          </a:p>
          <a:p>
            <a:r>
              <a:rPr lang="en-US" dirty="0"/>
              <a:t>It's not simply about managing metadata.</a:t>
            </a:r>
          </a:p>
          <a:p>
            <a:r>
              <a:rPr lang="en-US" dirty="0"/>
              <a:t>It's about transforming enterprise data into trusted intelligence that enables better decisions, stronger governance, and more successful AI initiatives.</a:t>
            </a:r>
          </a:p>
          <a:p>
            <a:endParaRPr lang="en-US" dirty="0"/>
          </a:p>
          <a:p>
            <a:r>
              <a:rPr lang="en-US" sz="1200" b="1"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Data silos</a:t>
            </a:r>
            <a:r>
              <a:rPr lang="en-US" dirty="0"/>
              <a:t> are isolated collections of data stored within one department or system</a:t>
            </a:r>
          </a:p>
          <a:p>
            <a:endParaRPr lang="en-US" dirty="0"/>
          </a:p>
          <a:p>
            <a:r>
              <a:rPr lang="en-US" dirty="0"/>
              <a:t>So to summarize:</a:t>
            </a:r>
          </a:p>
          <a:p>
            <a:r>
              <a:rPr lang="en-US" dirty="0"/>
              <a:t>Organizations today don't have an AI problem—they have a data context problem.</a:t>
            </a:r>
          </a:p>
          <a:p>
            <a:r>
              <a:rPr lang="en-US" dirty="0"/>
              <a:t>IBM watsonx.data intelligence helps solve that challenge by creating trusted context around enterprise data through discovery, governance, lineage, and reuse.</a:t>
            </a:r>
          </a:p>
          <a:p>
            <a:r>
              <a:rPr lang="en-US" dirty="0"/>
              <a:t>The result is trusted AI-ready data, faster decision making, lower risk, and improved business outcomes.</a:t>
            </a:r>
          </a:p>
          <a:p>
            <a:endParaRPr lang="en-US" dirty="0"/>
          </a:p>
        </p:txBody>
      </p:sp>
      <p:sp>
        <p:nvSpPr>
          <p:cNvPr id="4" name="Slide Number Placeholder 3"/>
          <p:cNvSpPr>
            <a:spLocks noGrp="1"/>
          </p:cNvSpPr>
          <p:nvPr>
            <p:ph type="sldNum" sz="quarter" idx="5"/>
          </p:nvPr>
        </p:nvSpPr>
        <p:spPr/>
        <p:txBody>
          <a:bodyPr/>
          <a:lstStyle/>
          <a:p>
            <a:fld id="{AF826E52-C466-BE44-9FD9-EEAB73B8AC34}" type="slidenum">
              <a:rPr lang="en-US" smtClean="0"/>
              <a:t>5</a:t>
            </a:fld>
            <a:endParaRPr lang="en-US" dirty="0"/>
          </a:p>
        </p:txBody>
      </p:sp>
    </p:spTree>
    <p:extLst>
      <p:ext uri="{BB962C8B-B14F-4D97-AF65-F5344CB8AC3E}">
        <p14:creationId xmlns:p14="http://schemas.microsoft.com/office/powerpoint/2010/main" val="36207014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3ED50-6714-14E5-5202-51CDBF5586E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D75946B-A6F0-51B1-951E-27B16B2F529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533318D-25EE-0410-EEF5-D5C6D5A779A3}"/>
              </a:ext>
            </a:extLst>
          </p:cNvPr>
          <p:cNvSpPr>
            <a:spLocks noGrp="1"/>
          </p:cNvSpPr>
          <p:nvPr>
            <p:ph type="dt" sz="half" idx="10"/>
          </p:nvPr>
        </p:nvSpPr>
        <p:spPr/>
        <p:txBody>
          <a:bodyPr/>
          <a:lstStyle/>
          <a:p>
            <a:fld id="{4257CCAB-7BF0-3743-9D3E-6766A9E44D54}" type="datetimeFigureOut">
              <a:rPr lang="en-US" smtClean="0"/>
              <a:t>6/2/26</a:t>
            </a:fld>
            <a:endParaRPr lang="en-US" dirty="0"/>
          </a:p>
        </p:txBody>
      </p:sp>
      <p:sp>
        <p:nvSpPr>
          <p:cNvPr id="5" name="Footer Placeholder 4">
            <a:extLst>
              <a:ext uri="{FF2B5EF4-FFF2-40B4-BE49-F238E27FC236}">
                <a16:creationId xmlns:a16="http://schemas.microsoft.com/office/drawing/2014/main" id="{8046F1E9-0986-8494-1624-AB679A60A61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13A0450-E62D-253D-9AD1-1A8D0B5AECA1}"/>
              </a:ext>
            </a:extLst>
          </p:cNvPr>
          <p:cNvSpPr>
            <a:spLocks noGrp="1"/>
          </p:cNvSpPr>
          <p:nvPr>
            <p:ph type="sldNum" sz="quarter" idx="12"/>
          </p:nvPr>
        </p:nvSpPr>
        <p:spPr/>
        <p:txBody>
          <a:bodyPr/>
          <a:lstStyle/>
          <a:p>
            <a:fld id="{CFF1924D-BDD0-3941-AB4A-5CBD41A22843}" type="slidenum">
              <a:rPr lang="en-US" smtClean="0"/>
              <a:t>‹#›</a:t>
            </a:fld>
            <a:endParaRPr lang="en-US" dirty="0"/>
          </a:p>
        </p:txBody>
      </p:sp>
    </p:spTree>
    <p:extLst>
      <p:ext uri="{BB962C8B-B14F-4D97-AF65-F5344CB8AC3E}">
        <p14:creationId xmlns:p14="http://schemas.microsoft.com/office/powerpoint/2010/main" val="3078771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60BAA-8771-B496-830D-C7466FA9022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5F0F16-1659-4753-B42A-8EA8D42290E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C084A5-5357-40DA-AC06-F01E9697430C}"/>
              </a:ext>
            </a:extLst>
          </p:cNvPr>
          <p:cNvSpPr>
            <a:spLocks noGrp="1"/>
          </p:cNvSpPr>
          <p:nvPr>
            <p:ph type="dt" sz="half" idx="10"/>
          </p:nvPr>
        </p:nvSpPr>
        <p:spPr/>
        <p:txBody>
          <a:bodyPr/>
          <a:lstStyle/>
          <a:p>
            <a:fld id="{4257CCAB-7BF0-3743-9D3E-6766A9E44D54}" type="datetimeFigureOut">
              <a:rPr lang="en-US" smtClean="0"/>
              <a:t>6/2/26</a:t>
            </a:fld>
            <a:endParaRPr lang="en-US" dirty="0"/>
          </a:p>
        </p:txBody>
      </p:sp>
      <p:sp>
        <p:nvSpPr>
          <p:cNvPr id="5" name="Footer Placeholder 4">
            <a:extLst>
              <a:ext uri="{FF2B5EF4-FFF2-40B4-BE49-F238E27FC236}">
                <a16:creationId xmlns:a16="http://schemas.microsoft.com/office/drawing/2014/main" id="{836C99FF-F0FB-087B-945E-83318D8A298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3C839F5-E904-A443-7B2B-5220EB0FAA02}"/>
              </a:ext>
            </a:extLst>
          </p:cNvPr>
          <p:cNvSpPr>
            <a:spLocks noGrp="1"/>
          </p:cNvSpPr>
          <p:nvPr>
            <p:ph type="sldNum" sz="quarter" idx="12"/>
          </p:nvPr>
        </p:nvSpPr>
        <p:spPr/>
        <p:txBody>
          <a:bodyPr/>
          <a:lstStyle/>
          <a:p>
            <a:fld id="{CFF1924D-BDD0-3941-AB4A-5CBD41A22843}" type="slidenum">
              <a:rPr lang="en-US" smtClean="0"/>
              <a:t>‹#›</a:t>
            </a:fld>
            <a:endParaRPr lang="en-US" dirty="0"/>
          </a:p>
        </p:txBody>
      </p:sp>
    </p:spTree>
    <p:extLst>
      <p:ext uri="{BB962C8B-B14F-4D97-AF65-F5344CB8AC3E}">
        <p14:creationId xmlns:p14="http://schemas.microsoft.com/office/powerpoint/2010/main" val="29930010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A62C3-535D-CABA-6B10-89AA86397E8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A4889F9-45CB-2680-6DAD-BDB4A23803A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F96445-04A0-337E-421E-B283B325499C}"/>
              </a:ext>
            </a:extLst>
          </p:cNvPr>
          <p:cNvSpPr>
            <a:spLocks noGrp="1"/>
          </p:cNvSpPr>
          <p:nvPr>
            <p:ph type="dt" sz="half" idx="10"/>
          </p:nvPr>
        </p:nvSpPr>
        <p:spPr/>
        <p:txBody>
          <a:bodyPr/>
          <a:lstStyle/>
          <a:p>
            <a:fld id="{4257CCAB-7BF0-3743-9D3E-6766A9E44D54}" type="datetimeFigureOut">
              <a:rPr lang="en-US" smtClean="0"/>
              <a:t>6/2/26</a:t>
            </a:fld>
            <a:endParaRPr lang="en-US" dirty="0"/>
          </a:p>
        </p:txBody>
      </p:sp>
      <p:sp>
        <p:nvSpPr>
          <p:cNvPr id="5" name="Footer Placeholder 4">
            <a:extLst>
              <a:ext uri="{FF2B5EF4-FFF2-40B4-BE49-F238E27FC236}">
                <a16:creationId xmlns:a16="http://schemas.microsoft.com/office/drawing/2014/main" id="{0C42B09A-4A0D-7F81-CD05-0D58FB3D78E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B3B95C2-228E-7666-1A65-2D08A3FA732F}"/>
              </a:ext>
            </a:extLst>
          </p:cNvPr>
          <p:cNvSpPr>
            <a:spLocks noGrp="1"/>
          </p:cNvSpPr>
          <p:nvPr>
            <p:ph type="sldNum" sz="quarter" idx="12"/>
          </p:nvPr>
        </p:nvSpPr>
        <p:spPr/>
        <p:txBody>
          <a:bodyPr/>
          <a:lstStyle/>
          <a:p>
            <a:fld id="{CFF1924D-BDD0-3941-AB4A-5CBD41A22843}" type="slidenum">
              <a:rPr lang="en-US" smtClean="0"/>
              <a:t>‹#›</a:t>
            </a:fld>
            <a:endParaRPr lang="en-US" dirty="0"/>
          </a:p>
        </p:txBody>
      </p:sp>
    </p:spTree>
    <p:extLst>
      <p:ext uri="{BB962C8B-B14F-4D97-AF65-F5344CB8AC3E}">
        <p14:creationId xmlns:p14="http://schemas.microsoft.com/office/powerpoint/2010/main" val="678230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DAAF2-542E-6220-A02D-496E62BCF47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EBEF7C3-23AE-E52B-1E5A-BBCC7CF1513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73899A8-9EE1-EC5B-4520-2202F927CCB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1C219F8-BF44-EE62-62C9-67047C287C4A}"/>
              </a:ext>
            </a:extLst>
          </p:cNvPr>
          <p:cNvSpPr>
            <a:spLocks noGrp="1"/>
          </p:cNvSpPr>
          <p:nvPr>
            <p:ph type="dt" sz="half" idx="10"/>
          </p:nvPr>
        </p:nvSpPr>
        <p:spPr/>
        <p:txBody>
          <a:bodyPr/>
          <a:lstStyle/>
          <a:p>
            <a:fld id="{4257CCAB-7BF0-3743-9D3E-6766A9E44D54}" type="datetimeFigureOut">
              <a:rPr lang="en-US" smtClean="0"/>
              <a:t>6/2/26</a:t>
            </a:fld>
            <a:endParaRPr lang="en-US" dirty="0"/>
          </a:p>
        </p:txBody>
      </p:sp>
      <p:sp>
        <p:nvSpPr>
          <p:cNvPr id="6" name="Footer Placeholder 5">
            <a:extLst>
              <a:ext uri="{FF2B5EF4-FFF2-40B4-BE49-F238E27FC236}">
                <a16:creationId xmlns:a16="http://schemas.microsoft.com/office/drawing/2014/main" id="{223C4700-8981-368F-0531-486D08240E6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11C71D3-0D69-39BD-BAD9-7D16120E6719}"/>
              </a:ext>
            </a:extLst>
          </p:cNvPr>
          <p:cNvSpPr>
            <a:spLocks noGrp="1"/>
          </p:cNvSpPr>
          <p:nvPr>
            <p:ph type="sldNum" sz="quarter" idx="12"/>
          </p:nvPr>
        </p:nvSpPr>
        <p:spPr/>
        <p:txBody>
          <a:bodyPr/>
          <a:lstStyle/>
          <a:p>
            <a:fld id="{CFF1924D-BDD0-3941-AB4A-5CBD41A22843}" type="slidenum">
              <a:rPr lang="en-US" smtClean="0"/>
              <a:t>‹#›</a:t>
            </a:fld>
            <a:endParaRPr lang="en-US" dirty="0"/>
          </a:p>
        </p:txBody>
      </p:sp>
    </p:spTree>
    <p:extLst>
      <p:ext uri="{BB962C8B-B14F-4D97-AF65-F5344CB8AC3E}">
        <p14:creationId xmlns:p14="http://schemas.microsoft.com/office/powerpoint/2010/main" val="27381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947DC-6662-F2DB-F136-192F2D5CAC1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19B64DD-CE0D-8C0F-EB57-5B6132BEEE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5C5EC7C-90C8-2DBF-A276-6C8F7D4827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0052991-ADD3-C22A-540C-0C919A72F3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3589D9-473C-3B70-388C-52E78286816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E83364E-023D-7089-A0C1-34862A280FE3}"/>
              </a:ext>
            </a:extLst>
          </p:cNvPr>
          <p:cNvSpPr>
            <a:spLocks noGrp="1"/>
          </p:cNvSpPr>
          <p:nvPr>
            <p:ph type="dt" sz="half" idx="10"/>
          </p:nvPr>
        </p:nvSpPr>
        <p:spPr/>
        <p:txBody>
          <a:bodyPr/>
          <a:lstStyle/>
          <a:p>
            <a:fld id="{4257CCAB-7BF0-3743-9D3E-6766A9E44D54}" type="datetimeFigureOut">
              <a:rPr lang="en-US" smtClean="0"/>
              <a:t>6/2/26</a:t>
            </a:fld>
            <a:endParaRPr lang="en-US" dirty="0"/>
          </a:p>
        </p:txBody>
      </p:sp>
      <p:sp>
        <p:nvSpPr>
          <p:cNvPr id="8" name="Footer Placeholder 7">
            <a:extLst>
              <a:ext uri="{FF2B5EF4-FFF2-40B4-BE49-F238E27FC236}">
                <a16:creationId xmlns:a16="http://schemas.microsoft.com/office/drawing/2014/main" id="{0CAC7F7D-1B6F-5723-0E76-72AAE050BE7A}"/>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1FFA6F05-5875-197C-C772-48F5A6E0AD11}"/>
              </a:ext>
            </a:extLst>
          </p:cNvPr>
          <p:cNvSpPr>
            <a:spLocks noGrp="1"/>
          </p:cNvSpPr>
          <p:nvPr>
            <p:ph type="sldNum" sz="quarter" idx="12"/>
          </p:nvPr>
        </p:nvSpPr>
        <p:spPr/>
        <p:txBody>
          <a:bodyPr/>
          <a:lstStyle/>
          <a:p>
            <a:fld id="{CFF1924D-BDD0-3941-AB4A-5CBD41A22843}" type="slidenum">
              <a:rPr lang="en-US" smtClean="0"/>
              <a:t>‹#›</a:t>
            </a:fld>
            <a:endParaRPr lang="en-US" dirty="0"/>
          </a:p>
        </p:txBody>
      </p:sp>
    </p:spTree>
    <p:extLst>
      <p:ext uri="{BB962C8B-B14F-4D97-AF65-F5344CB8AC3E}">
        <p14:creationId xmlns:p14="http://schemas.microsoft.com/office/powerpoint/2010/main" val="673827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DBDAD-E647-36CD-68C8-50343C90758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C5026ED-1BF3-D6D7-F55D-05E67132A5EB}"/>
              </a:ext>
            </a:extLst>
          </p:cNvPr>
          <p:cNvSpPr>
            <a:spLocks noGrp="1"/>
          </p:cNvSpPr>
          <p:nvPr>
            <p:ph type="dt" sz="half" idx="10"/>
          </p:nvPr>
        </p:nvSpPr>
        <p:spPr/>
        <p:txBody>
          <a:bodyPr/>
          <a:lstStyle/>
          <a:p>
            <a:fld id="{4257CCAB-7BF0-3743-9D3E-6766A9E44D54}" type="datetimeFigureOut">
              <a:rPr lang="en-US" smtClean="0"/>
              <a:t>6/2/26</a:t>
            </a:fld>
            <a:endParaRPr lang="en-US" dirty="0"/>
          </a:p>
        </p:txBody>
      </p:sp>
      <p:sp>
        <p:nvSpPr>
          <p:cNvPr id="4" name="Footer Placeholder 3">
            <a:extLst>
              <a:ext uri="{FF2B5EF4-FFF2-40B4-BE49-F238E27FC236}">
                <a16:creationId xmlns:a16="http://schemas.microsoft.com/office/drawing/2014/main" id="{703938EA-EDF3-5877-5EA6-B66B29DB3CD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ECB5B8C7-6427-85B8-3B75-B877F8E1B7E6}"/>
              </a:ext>
            </a:extLst>
          </p:cNvPr>
          <p:cNvSpPr>
            <a:spLocks noGrp="1"/>
          </p:cNvSpPr>
          <p:nvPr>
            <p:ph type="sldNum" sz="quarter" idx="12"/>
          </p:nvPr>
        </p:nvSpPr>
        <p:spPr/>
        <p:txBody>
          <a:bodyPr/>
          <a:lstStyle/>
          <a:p>
            <a:fld id="{CFF1924D-BDD0-3941-AB4A-5CBD41A22843}" type="slidenum">
              <a:rPr lang="en-US" smtClean="0"/>
              <a:t>‹#›</a:t>
            </a:fld>
            <a:endParaRPr lang="en-US" dirty="0"/>
          </a:p>
        </p:txBody>
      </p:sp>
    </p:spTree>
    <p:extLst>
      <p:ext uri="{BB962C8B-B14F-4D97-AF65-F5344CB8AC3E}">
        <p14:creationId xmlns:p14="http://schemas.microsoft.com/office/powerpoint/2010/main" val="19079290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B1B362-DED2-0599-E951-D68533C9A5DA}"/>
              </a:ext>
            </a:extLst>
          </p:cNvPr>
          <p:cNvSpPr>
            <a:spLocks noGrp="1"/>
          </p:cNvSpPr>
          <p:nvPr>
            <p:ph type="dt" sz="half" idx="10"/>
          </p:nvPr>
        </p:nvSpPr>
        <p:spPr/>
        <p:txBody>
          <a:bodyPr/>
          <a:lstStyle/>
          <a:p>
            <a:fld id="{4257CCAB-7BF0-3743-9D3E-6766A9E44D54}" type="datetimeFigureOut">
              <a:rPr lang="en-US" smtClean="0"/>
              <a:t>6/2/26</a:t>
            </a:fld>
            <a:endParaRPr lang="en-US" dirty="0"/>
          </a:p>
        </p:txBody>
      </p:sp>
      <p:sp>
        <p:nvSpPr>
          <p:cNvPr id="3" name="Footer Placeholder 2">
            <a:extLst>
              <a:ext uri="{FF2B5EF4-FFF2-40B4-BE49-F238E27FC236}">
                <a16:creationId xmlns:a16="http://schemas.microsoft.com/office/drawing/2014/main" id="{A96C49C1-8B74-424B-FF2F-8FAD6DE44CEA}"/>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65A4FD8B-FE15-1D75-93DF-02C3BFF065EC}"/>
              </a:ext>
            </a:extLst>
          </p:cNvPr>
          <p:cNvSpPr>
            <a:spLocks noGrp="1"/>
          </p:cNvSpPr>
          <p:nvPr>
            <p:ph type="sldNum" sz="quarter" idx="12"/>
          </p:nvPr>
        </p:nvSpPr>
        <p:spPr/>
        <p:txBody>
          <a:bodyPr/>
          <a:lstStyle/>
          <a:p>
            <a:fld id="{CFF1924D-BDD0-3941-AB4A-5CBD41A22843}" type="slidenum">
              <a:rPr lang="en-US" smtClean="0"/>
              <a:t>‹#›</a:t>
            </a:fld>
            <a:endParaRPr lang="en-US" dirty="0"/>
          </a:p>
        </p:txBody>
      </p:sp>
    </p:spTree>
    <p:extLst>
      <p:ext uri="{BB962C8B-B14F-4D97-AF65-F5344CB8AC3E}">
        <p14:creationId xmlns:p14="http://schemas.microsoft.com/office/powerpoint/2010/main" val="28965731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F1837-6B4C-0802-0146-B41BA878DA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33B921F-BE09-D3E1-317E-CE9F66FE0F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D0EACAC-3C46-3DB6-DBC6-D856070AA3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3CFDC0-297D-FC71-7598-3BFF489FED12}"/>
              </a:ext>
            </a:extLst>
          </p:cNvPr>
          <p:cNvSpPr>
            <a:spLocks noGrp="1"/>
          </p:cNvSpPr>
          <p:nvPr>
            <p:ph type="dt" sz="half" idx="10"/>
          </p:nvPr>
        </p:nvSpPr>
        <p:spPr/>
        <p:txBody>
          <a:bodyPr/>
          <a:lstStyle/>
          <a:p>
            <a:fld id="{4257CCAB-7BF0-3743-9D3E-6766A9E44D54}" type="datetimeFigureOut">
              <a:rPr lang="en-US" smtClean="0"/>
              <a:t>6/2/26</a:t>
            </a:fld>
            <a:endParaRPr lang="en-US" dirty="0"/>
          </a:p>
        </p:txBody>
      </p:sp>
      <p:sp>
        <p:nvSpPr>
          <p:cNvPr id="6" name="Footer Placeholder 5">
            <a:extLst>
              <a:ext uri="{FF2B5EF4-FFF2-40B4-BE49-F238E27FC236}">
                <a16:creationId xmlns:a16="http://schemas.microsoft.com/office/drawing/2014/main" id="{98FE575B-8DD7-D083-D00B-A6210ADB723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6E72715-C2E2-0289-158B-3F337EA3C044}"/>
              </a:ext>
            </a:extLst>
          </p:cNvPr>
          <p:cNvSpPr>
            <a:spLocks noGrp="1"/>
          </p:cNvSpPr>
          <p:nvPr>
            <p:ph type="sldNum" sz="quarter" idx="12"/>
          </p:nvPr>
        </p:nvSpPr>
        <p:spPr/>
        <p:txBody>
          <a:bodyPr/>
          <a:lstStyle/>
          <a:p>
            <a:fld id="{CFF1924D-BDD0-3941-AB4A-5CBD41A22843}" type="slidenum">
              <a:rPr lang="en-US" smtClean="0"/>
              <a:t>‹#›</a:t>
            </a:fld>
            <a:endParaRPr lang="en-US" dirty="0"/>
          </a:p>
        </p:txBody>
      </p:sp>
    </p:spTree>
    <p:extLst>
      <p:ext uri="{BB962C8B-B14F-4D97-AF65-F5344CB8AC3E}">
        <p14:creationId xmlns:p14="http://schemas.microsoft.com/office/powerpoint/2010/main" val="21481233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4E0A9-799E-992D-6167-0D12B93FAA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D3ACA0C-6B26-219D-5351-269D02F5E20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597D92E7-4558-51AE-6B76-D13A46C54D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423B8B-4B50-39DB-06AA-648183CBFDE0}"/>
              </a:ext>
            </a:extLst>
          </p:cNvPr>
          <p:cNvSpPr>
            <a:spLocks noGrp="1"/>
          </p:cNvSpPr>
          <p:nvPr>
            <p:ph type="dt" sz="half" idx="10"/>
          </p:nvPr>
        </p:nvSpPr>
        <p:spPr/>
        <p:txBody>
          <a:bodyPr/>
          <a:lstStyle/>
          <a:p>
            <a:fld id="{4257CCAB-7BF0-3743-9D3E-6766A9E44D54}" type="datetimeFigureOut">
              <a:rPr lang="en-US" smtClean="0"/>
              <a:t>6/2/26</a:t>
            </a:fld>
            <a:endParaRPr lang="en-US" dirty="0"/>
          </a:p>
        </p:txBody>
      </p:sp>
      <p:sp>
        <p:nvSpPr>
          <p:cNvPr id="6" name="Footer Placeholder 5">
            <a:extLst>
              <a:ext uri="{FF2B5EF4-FFF2-40B4-BE49-F238E27FC236}">
                <a16:creationId xmlns:a16="http://schemas.microsoft.com/office/drawing/2014/main" id="{8E8D0E70-3B71-3AFF-FB7B-FD0172D7AD3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0EB029A-163F-46CF-D3E2-2C5B77708073}"/>
              </a:ext>
            </a:extLst>
          </p:cNvPr>
          <p:cNvSpPr>
            <a:spLocks noGrp="1"/>
          </p:cNvSpPr>
          <p:nvPr>
            <p:ph type="sldNum" sz="quarter" idx="12"/>
          </p:nvPr>
        </p:nvSpPr>
        <p:spPr/>
        <p:txBody>
          <a:bodyPr/>
          <a:lstStyle/>
          <a:p>
            <a:fld id="{CFF1924D-BDD0-3941-AB4A-5CBD41A22843}" type="slidenum">
              <a:rPr lang="en-US" smtClean="0"/>
              <a:t>‹#›</a:t>
            </a:fld>
            <a:endParaRPr lang="en-US" dirty="0"/>
          </a:p>
        </p:txBody>
      </p:sp>
    </p:spTree>
    <p:extLst>
      <p:ext uri="{BB962C8B-B14F-4D97-AF65-F5344CB8AC3E}">
        <p14:creationId xmlns:p14="http://schemas.microsoft.com/office/powerpoint/2010/main" val="13962961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9761C-4F4F-4824-F58F-F6BCA910601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BF8B050-C412-97F8-2DAF-9E21B005C4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F31223-3313-C1EF-3662-CD3A02E332FC}"/>
              </a:ext>
            </a:extLst>
          </p:cNvPr>
          <p:cNvSpPr>
            <a:spLocks noGrp="1"/>
          </p:cNvSpPr>
          <p:nvPr>
            <p:ph type="dt" sz="half" idx="10"/>
          </p:nvPr>
        </p:nvSpPr>
        <p:spPr/>
        <p:txBody>
          <a:bodyPr/>
          <a:lstStyle/>
          <a:p>
            <a:fld id="{4257CCAB-7BF0-3743-9D3E-6766A9E44D54}" type="datetimeFigureOut">
              <a:rPr lang="en-US" smtClean="0"/>
              <a:t>6/2/26</a:t>
            </a:fld>
            <a:endParaRPr lang="en-US" dirty="0"/>
          </a:p>
        </p:txBody>
      </p:sp>
      <p:sp>
        <p:nvSpPr>
          <p:cNvPr id="5" name="Footer Placeholder 4">
            <a:extLst>
              <a:ext uri="{FF2B5EF4-FFF2-40B4-BE49-F238E27FC236}">
                <a16:creationId xmlns:a16="http://schemas.microsoft.com/office/drawing/2014/main" id="{6DDFCFCE-5CDA-6654-C26C-299612F6C53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8CDC71-1B2B-88DE-A991-CC8E2EC039F9}"/>
              </a:ext>
            </a:extLst>
          </p:cNvPr>
          <p:cNvSpPr>
            <a:spLocks noGrp="1"/>
          </p:cNvSpPr>
          <p:nvPr>
            <p:ph type="sldNum" sz="quarter" idx="12"/>
          </p:nvPr>
        </p:nvSpPr>
        <p:spPr/>
        <p:txBody>
          <a:bodyPr/>
          <a:lstStyle/>
          <a:p>
            <a:fld id="{CFF1924D-BDD0-3941-AB4A-5CBD41A22843}" type="slidenum">
              <a:rPr lang="en-US" smtClean="0"/>
              <a:t>‹#›</a:t>
            </a:fld>
            <a:endParaRPr lang="en-US" dirty="0"/>
          </a:p>
        </p:txBody>
      </p:sp>
    </p:spTree>
    <p:extLst>
      <p:ext uri="{BB962C8B-B14F-4D97-AF65-F5344CB8AC3E}">
        <p14:creationId xmlns:p14="http://schemas.microsoft.com/office/powerpoint/2010/main" val="974048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7FEB94-5DA8-6DD3-ED51-1DE0CD8F543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7C20F1E-7C54-AD1D-0E0C-98BCF28F703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66F79B-E539-AAA4-F39A-FB877DC797AD}"/>
              </a:ext>
            </a:extLst>
          </p:cNvPr>
          <p:cNvSpPr>
            <a:spLocks noGrp="1"/>
          </p:cNvSpPr>
          <p:nvPr>
            <p:ph type="dt" sz="half" idx="10"/>
          </p:nvPr>
        </p:nvSpPr>
        <p:spPr/>
        <p:txBody>
          <a:bodyPr/>
          <a:lstStyle/>
          <a:p>
            <a:fld id="{4257CCAB-7BF0-3743-9D3E-6766A9E44D54}" type="datetimeFigureOut">
              <a:rPr lang="en-US" smtClean="0"/>
              <a:t>6/2/26</a:t>
            </a:fld>
            <a:endParaRPr lang="en-US" dirty="0"/>
          </a:p>
        </p:txBody>
      </p:sp>
      <p:sp>
        <p:nvSpPr>
          <p:cNvPr id="5" name="Footer Placeholder 4">
            <a:extLst>
              <a:ext uri="{FF2B5EF4-FFF2-40B4-BE49-F238E27FC236}">
                <a16:creationId xmlns:a16="http://schemas.microsoft.com/office/drawing/2014/main" id="{A91D3E0C-1500-0B38-B247-6D8C0E36D6B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FE505FB-65FC-892A-D19F-2BE16B96ED06}"/>
              </a:ext>
            </a:extLst>
          </p:cNvPr>
          <p:cNvSpPr>
            <a:spLocks noGrp="1"/>
          </p:cNvSpPr>
          <p:nvPr>
            <p:ph type="sldNum" sz="quarter" idx="12"/>
          </p:nvPr>
        </p:nvSpPr>
        <p:spPr/>
        <p:txBody>
          <a:bodyPr/>
          <a:lstStyle/>
          <a:p>
            <a:fld id="{CFF1924D-BDD0-3941-AB4A-5CBD41A22843}" type="slidenum">
              <a:rPr lang="en-US" smtClean="0"/>
              <a:t>‹#›</a:t>
            </a:fld>
            <a:endParaRPr lang="en-US" dirty="0"/>
          </a:p>
        </p:txBody>
      </p:sp>
    </p:spTree>
    <p:extLst>
      <p:ext uri="{BB962C8B-B14F-4D97-AF65-F5344CB8AC3E}">
        <p14:creationId xmlns:p14="http://schemas.microsoft.com/office/powerpoint/2010/main" val="41609519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63" y="192024"/>
            <a:ext cx="5517527" cy="1331913"/>
          </a:xfrm>
        </p:spPr>
        <p:txBody>
          <a:bodyPr rIns="457200"/>
          <a:lstStyle>
            <a:lvl1pPr>
              <a:lnSpc>
                <a:spcPct val="100000"/>
              </a:lnSpc>
              <a:defRPr sz="3399">
                <a:solidFill>
                  <a:schemeClr val="tx2"/>
                </a:solidFill>
              </a:defRPr>
            </a:lvl1pPr>
          </a:lstStyle>
          <a:p>
            <a:r>
              <a:rPr lang="en-US"/>
              <a:t>Click to edit Master title style</a:t>
            </a:r>
            <a:endParaRPr lang="en-US" dirty="0"/>
          </a:p>
        </p:txBody>
      </p:sp>
      <p:sp>
        <p:nvSpPr>
          <p:cNvPr id="3" name="Footer Placeholder 3">
            <a:extLst>
              <a:ext uri="{FF2B5EF4-FFF2-40B4-BE49-F238E27FC236}">
                <a16:creationId xmlns:a16="http://schemas.microsoft.com/office/drawing/2014/main" id="{42F412B5-726F-373A-86F7-2FBA60F14014}"/>
              </a:ext>
            </a:extLst>
          </p:cNvPr>
          <p:cNvSpPr>
            <a:spLocks noGrp="1"/>
          </p:cNvSpPr>
          <p:nvPr>
            <p:ph type="ftr" sz="quarter" idx="18"/>
          </p:nvPr>
        </p:nvSpPr>
        <p:spPr>
          <a:xfrm>
            <a:off x="287963" y="6408000"/>
            <a:ext cx="2477765" cy="190500"/>
          </a:xfrm>
        </p:spPr>
        <p:txBody>
          <a:bodyPr/>
          <a:lstStyle/>
          <a:p>
            <a:endParaRPr lang="en-US" dirty="0"/>
          </a:p>
        </p:txBody>
      </p:sp>
      <p:sp>
        <p:nvSpPr>
          <p:cNvPr id="6" name="Slide Number">
            <a:extLst>
              <a:ext uri="{FF2B5EF4-FFF2-40B4-BE49-F238E27FC236}">
                <a16:creationId xmlns:a16="http://schemas.microsoft.com/office/drawing/2014/main" id="{6E2B1415-A9D9-645B-4DF0-7D16976DF727}"/>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684161162"/>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ver, cyan">
    <p:spTree>
      <p:nvGrpSpPr>
        <p:cNvPr id="1" name=""/>
        <p:cNvGrpSpPr/>
        <p:nvPr/>
      </p:nvGrpSpPr>
      <p:grpSpPr>
        <a:xfrm>
          <a:off x="0" y="0"/>
          <a:ext cx="0" cy="0"/>
          <a:chOff x="0" y="0"/>
          <a:chExt cx="0" cy="0"/>
        </a:xfrm>
      </p:grpSpPr>
      <p:sp>
        <p:nvSpPr>
          <p:cNvPr id="3" name="Rectangle 2" descr="Blue 10 full slide background ">
            <a:extLst>
              <a:ext uri="{FF2B5EF4-FFF2-40B4-BE49-F238E27FC236}">
                <a16:creationId xmlns:a16="http://schemas.microsoft.com/office/drawing/2014/main" id="{8D23798D-A03E-2BC6-136A-14C1E387E723}"/>
              </a:ext>
            </a:extLst>
          </p:cNvPr>
          <p:cNvSpPr/>
          <p:nvPr userDrawn="1"/>
        </p:nvSpPr>
        <p:spPr bwMode="auto">
          <a:xfrm>
            <a:off x="0" y="0"/>
            <a:ext cx="12192000" cy="6097588"/>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marL="0" marR="0" indent="0" algn="l" defTabSz="457109" rtl="0" eaLnBrk="1" fontAlgn="base" latinLnBrk="0" hangingPunct="1">
              <a:lnSpc>
                <a:spcPct val="100000"/>
              </a:lnSpc>
              <a:spcBef>
                <a:spcPct val="0"/>
              </a:spcBef>
              <a:spcAft>
                <a:spcPct val="0"/>
              </a:spcAft>
              <a:buClrTx/>
              <a:buSzTx/>
              <a:buFont typeface="IBM Plex Sans Light"/>
              <a:buNone/>
              <a:tabLst/>
            </a:pPr>
            <a:endParaRPr kumimoji="0" lang="en-US" sz="700" b="0" i="0" u="none" strike="noStrike" cap="none" normalizeH="0" baseline="0" dirty="0">
              <a:ln>
                <a:noFill/>
              </a:ln>
              <a:solidFill>
                <a:schemeClr val="bg1"/>
              </a:solidFill>
              <a:effectLst/>
              <a:latin typeface="+mn-lt"/>
            </a:endParaRPr>
          </a:p>
        </p:txBody>
      </p:sp>
      <p:pic>
        <p:nvPicPr>
          <p:cNvPr id="7" name="Picture 6" descr="IBM 8-bar logo">
            <a:extLst>
              <a:ext uri="{FF2B5EF4-FFF2-40B4-BE49-F238E27FC236}">
                <a16:creationId xmlns:a16="http://schemas.microsoft.com/office/drawing/2014/main" id="{B4B109D8-FCAE-74D0-0B39-85BF626C84C5}"/>
              </a:ext>
            </a:extLst>
          </p:cNvPr>
          <p:cNvPicPr>
            <a:picLocks noChangeAspect="1"/>
          </p:cNvPicPr>
          <p:nvPr userDrawn="1"/>
        </p:nvPicPr>
        <p:blipFill>
          <a:blip r:embed="rId2"/>
          <a:stretch>
            <a:fillRect/>
          </a:stretch>
        </p:blipFill>
        <p:spPr>
          <a:xfrm>
            <a:off x="11185445" y="6288882"/>
            <a:ext cx="769062" cy="286200"/>
          </a:xfrm>
          <a:prstGeom prst="rect">
            <a:avLst/>
          </a:prstGeom>
        </p:spPr>
      </p:pic>
      <p:sp>
        <p:nvSpPr>
          <p:cNvPr id="8" name="Text Placeholder 6">
            <a:extLst>
              <a:ext uri="{FF2B5EF4-FFF2-40B4-BE49-F238E27FC236}">
                <a16:creationId xmlns:a16="http://schemas.microsoft.com/office/drawing/2014/main" id="{A9FACBA3-656A-1C9D-A350-7759736DCC4B}"/>
              </a:ext>
            </a:extLst>
          </p:cNvPr>
          <p:cNvSpPr>
            <a:spLocks noGrp="1"/>
          </p:cNvSpPr>
          <p:nvPr>
            <p:ph type="body" sz="quarter" idx="12"/>
          </p:nvPr>
        </p:nvSpPr>
        <p:spPr>
          <a:xfrm>
            <a:off x="287963" y="6083300"/>
            <a:ext cx="2470906" cy="537147"/>
          </a:xfrm>
        </p:spPr>
        <p:txBody>
          <a:bodyPr anchor="b"/>
          <a:lstStyle>
            <a:lvl1pPr>
              <a:lnSpc>
                <a:spcPct val="110000"/>
              </a:lnSpc>
              <a:spcBef>
                <a:spcPts val="0"/>
              </a:spcBef>
              <a:defRPr sz="1200">
                <a:solidFill>
                  <a:schemeClr val="tx1"/>
                </a:solidFill>
              </a:defRPr>
            </a:lvl1pPr>
            <a:lvl2pPr marL="127990" indent="-127990">
              <a:lnSpc>
                <a:spcPct val="110000"/>
              </a:lnSpc>
              <a:spcBef>
                <a:spcPts val="0"/>
              </a:spcBef>
              <a:defRPr sz="1200">
                <a:solidFill>
                  <a:schemeClr val="tx1"/>
                </a:solidFill>
              </a:defRPr>
            </a:lvl2pPr>
            <a:lvl3pPr marL="255981" indent="-127990">
              <a:lnSpc>
                <a:spcPct val="110000"/>
              </a:lnSpc>
              <a:spcBef>
                <a:spcPts val="0"/>
              </a:spcBef>
              <a:defRPr sz="1200">
                <a:solidFill>
                  <a:schemeClr val="tx1"/>
                </a:solidFill>
              </a:defRPr>
            </a:lvl3pPr>
            <a:lvl4pPr marL="383971" indent="-127990">
              <a:lnSpc>
                <a:spcPct val="110000"/>
              </a:lnSpc>
              <a:spcBef>
                <a:spcPts val="0"/>
              </a:spcBef>
              <a:defRPr sz="12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5">
            <a:extLst>
              <a:ext uri="{FF2B5EF4-FFF2-40B4-BE49-F238E27FC236}">
                <a16:creationId xmlns:a16="http://schemas.microsoft.com/office/drawing/2014/main" id="{FA47F09F-F9D8-7B01-E53E-EE9451C6A6EB}"/>
              </a:ext>
            </a:extLst>
          </p:cNvPr>
          <p:cNvSpPr>
            <a:spLocks noGrp="1"/>
          </p:cNvSpPr>
          <p:nvPr>
            <p:ph type="body" sz="quarter" idx="13"/>
          </p:nvPr>
        </p:nvSpPr>
        <p:spPr>
          <a:xfrm>
            <a:off x="3335316" y="6083300"/>
            <a:ext cx="2473384" cy="538507"/>
          </a:xfrm>
        </p:spPr>
        <p:txBody>
          <a:bodyPr anchor="b"/>
          <a:lstStyle>
            <a:lvl1pPr>
              <a:lnSpc>
                <a:spcPct val="110000"/>
              </a:lnSpc>
              <a:spcBef>
                <a:spcPts val="0"/>
              </a:spcBef>
              <a:defRPr sz="1200">
                <a:solidFill>
                  <a:schemeClr val="tx1"/>
                </a:solidFill>
              </a:defRPr>
            </a:lvl1pPr>
            <a:lvl2pPr marL="127990" indent="-127990">
              <a:lnSpc>
                <a:spcPct val="110000"/>
              </a:lnSpc>
              <a:spcBef>
                <a:spcPts val="0"/>
              </a:spcBef>
              <a:defRPr sz="1200">
                <a:solidFill>
                  <a:schemeClr val="tx1"/>
                </a:solidFill>
              </a:defRPr>
            </a:lvl2pPr>
            <a:lvl3pPr marL="255981" indent="-127990">
              <a:lnSpc>
                <a:spcPct val="110000"/>
              </a:lnSpc>
              <a:spcBef>
                <a:spcPts val="0"/>
              </a:spcBef>
              <a:defRPr sz="1200">
                <a:solidFill>
                  <a:schemeClr val="tx1"/>
                </a:solidFill>
              </a:defRPr>
            </a:lvl3pPr>
            <a:lvl4pPr marL="383971" indent="-127990">
              <a:lnSpc>
                <a:spcPct val="110000"/>
              </a:lnSpc>
              <a:spcBef>
                <a:spcPts val="0"/>
              </a:spcBef>
              <a:defRPr sz="12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itle 1">
            <a:extLst>
              <a:ext uri="{FF2B5EF4-FFF2-40B4-BE49-F238E27FC236}">
                <a16:creationId xmlns:a16="http://schemas.microsoft.com/office/drawing/2014/main" id="{B8FFB679-F0FF-1DD1-8243-9D4ADEF3889F}"/>
              </a:ext>
            </a:extLst>
          </p:cNvPr>
          <p:cNvSpPr>
            <a:spLocks noGrp="1"/>
          </p:cNvSpPr>
          <p:nvPr>
            <p:ph type="title"/>
          </p:nvPr>
        </p:nvSpPr>
        <p:spPr>
          <a:xfrm>
            <a:off x="287963" y="155575"/>
            <a:ext cx="5049878" cy="3654425"/>
          </a:xfrm>
        </p:spPr>
        <p:txBody>
          <a:bodyPr/>
          <a:lstStyle>
            <a:lvl1pPr>
              <a:lnSpc>
                <a:spcPct val="100000"/>
              </a:lnSpc>
              <a:defRPr sz="4199">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32615358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287962" y="192024"/>
            <a:ext cx="5517779" cy="2105089"/>
          </a:xfrm>
        </p:spPr>
        <p:txBody>
          <a:bodyPr rIns="457200"/>
          <a:lstStyle>
            <a:lvl1pPr>
              <a:lnSpc>
                <a:spcPct val="100000"/>
              </a:lnSpc>
              <a:defRPr sz="3399">
                <a:solidFill>
                  <a:schemeClr val="tx2"/>
                </a:solidFill>
              </a:defRPr>
            </a:lvl1pPr>
          </a:lstStyle>
          <a:p>
            <a:r>
              <a:rPr lang="en-GB" dirty="0"/>
              <a:t>Click to edit Master title style</a:t>
            </a:r>
            <a:endParaRPr lang="en-US" dirty="0"/>
          </a:p>
        </p:txBody>
      </p:sp>
      <p:sp>
        <p:nvSpPr>
          <p:cNvPr id="3" name="Footer Placeholder 3">
            <a:extLst>
              <a:ext uri="{FF2B5EF4-FFF2-40B4-BE49-F238E27FC236}">
                <a16:creationId xmlns:a16="http://schemas.microsoft.com/office/drawing/2014/main" id="{A61589D3-5821-F43C-9924-D7FBDD5E84A5}"/>
              </a:ext>
            </a:extLst>
          </p:cNvPr>
          <p:cNvSpPr>
            <a:spLocks noGrp="1"/>
          </p:cNvSpPr>
          <p:nvPr>
            <p:ph type="ftr" sz="quarter" idx="18"/>
          </p:nvPr>
        </p:nvSpPr>
        <p:spPr>
          <a:xfrm>
            <a:off x="290474" y="6411643"/>
            <a:ext cx="2477765" cy="190500"/>
          </a:xfrm>
        </p:spPr>
        <p:txBody>
          <a:bodyPr/>
          <a:lstStyle/>
          <a:p>
            <a:endParaRPr lang="en-US" dirty="0"/>
          </a:p>
        </p:txBody>
      </p:sp>
      <p:sp>
        <p:nvSpPr>
          <p:cNvPr id="6" name="Slide Number">
            <a:extLst>
              <a:ext uri="{FF2B5EF4-FFF2-40B4-BE49-F238E27FC236}">
                <a16:creationId xmlns:a16="http://schemas.microsoft.com/office/drawing/2014/main" id="{9EA471B4-B30A-F4D7-84E4-C54A4D1ACDB2}"/>
              </a:ext>
            </a:extLst>
          </p:cNvPr>
          <p:cNvSpPr txBox="1">
            <a:spLocks noGrp="1"/>
          </p:cNvSpPr>
          <p:nvPr>
            <p:ph type="sldNum" sz="quarter" idx="4"/>
          </p:nvPr>
        </p:nvSpPr>
        <p:spPr>
          <a:xfrm>
            <a:off x="11769264" y="647576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 name="Text Placeholder 10">
            <a:extLst>
              <a:ext uri="{FF2B5EF4-FFF2-40B4-BE49-F238E27FC236}">
                <a16:creationId xmlns:a16="http://schemas.microsoft.com/office/drawing/2014/main" id="{C5CEBFE7-AD2E-DFE8-B046-3B866828612E}"/>
              </a:ext>
            </a:extLst>
          </p:cNvPr>
          <p:cNvSpPr>
            <a:spLocks noGrp="1"/>
          </p:cNvSpPr>
          <p:nvPr>
            <p:ph type="body" sz="quarter" idx="11"/>
          </p:nvPr>
        </p:nvSpPr>
        <p:spPr>
          <a:xfrm>
            <a:off x="287999" y="3337941"/>
            <a:ext cx="2474590" cy="2759647"/>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5" name="Text Placeholder 10">
            <a:extLst>
              <a:ext uri="{FF2B5EF4-FFF2-40B4-BE49-F238E27FC236}">
                <a16:creationId xmlns:a16="http://schemas.microsoft.com/office/drawing/2014/main" id="{42695C8E-740F-09FE-EEF5-F2D3F3F88137}"/>
              </a:ext>
            </a:extLst>
          </p:cNvPr>
          <p:cNvSpPr>
            <a:spLocks noGrp="1"/>
          </p:cNvSpPr>
          <p:nvPr>
            <p:ph type="body" sz="quarter" idx="12"/>
          </p:nvPr>
        </p:nvSpPr>
        <p:spPr>
          <a:xfrm>
            <a:off x="3331187"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10">
            <a:extLst>
              <a:ext uri="{FF2B5EF4-FFF2-40B4-BE49-F238E27FC236}">
                <a16:creationId xmlns:a16="http://schemas.microsoft.com/office/drawing/2014/main" id="{59937119-9484-C422-CDBB-7ACF8FB463EA}"/>
              </a:ext>
            </a:extLst>
          </p:cNvPr>
          <p:cNvSpPr>
            <a:spLocks noGrp="1"/>
          </p:cNvSpPr>
          <p:nvPr>
            <p:ph type="body" sz="quarter" idx="13"/>
          </p:nvPr>
        </p:nvSpPr>
        <p:spPr>
          <a:xfrm>
            <a:off x="6383049"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8" name="Text Placeholder 10">
            <a:extLst>
              <a:ext uri="{FF2B5EF4-FFF2-40B4-BE49-F238E27FC236}">
                <a16:creationId xmlns:a16="http://schemas.microsoft.com/office/drawing/2014/main" id="{031FDB97-22F2-B958-137D-E25328D2B01D}"/>
              </a:ext>
            </a:extLst>
          </p:cNvPr>
          <p:cNvSpPr>
            <a:spLocks noGrp="1"/>
          </p:cNvSpPr>
          <p:nvPr>
            <p:ph type="body" sz="quarter" idx="14"/>
          </p:nvPr>
        </p:nvSpPr>
        <p:spPr>
          <a:xfrm>
            <a:off x="9428523" y="3336926"/>
            <a:ext cx="2474590" cy="2760662"/>
          </a:xfrm>
        </p:spPr>
        <p:txBody>
          <a:bodyPr/>
          <a:lstStyle>
            <a:lvl1pPr>
              <a:spcBef>
                <a:spcPts val="0"/>
              </a:spcBef>
              <a:defRPr sz="1400">
                <a:solidFill>
                  <a:schemeClr val="tx1"/>
                </a:solidFill>
              </a:defRPr>
            </a:lvl1pPr>
            <a:lvl2pPr marL="127990" indent="-127990">
              <a:spcBef>
                <a:spcPts val="0"/>
              </a:spcBef>
              <a:defRPr sz="1400">
                <a:solidFill>
                  <a:schemeClr val="tx1"/>
                </a:solidFill>
              </a:defRPr>
            </a:lvl2pPr>
            <a:lvl3pPr marL="255981" indent="-127990">
              <a:spcBef>
                <a:spcPts val="0"/>
              </a:spcBef>
              <a:defRPr sz="1400">
                <a:solidFill>
                  <a:schemeClr val="tx1"/>
                </a:solidFill>
              </a:defRPr>
            </a:lvl3pPr>
            <a:lvl4pPr marL="383971" indent="-127990">
              <a:spcBef>
                <a:spcPts val="0"/>
              </a:spcBef>
              <a:defRPr sz="1400">
                <a:solidFill>
                  <a:schemeClr val="tx1"/>
                </a:solidFill>
              </a:defRPr>
            </a:lvl4pPr>
            <a:lvl5pPr>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395639810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E37B80-E078-D180-7332-A1B7E2AF8E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4DAE6A0-3C24-BBC3-338C-9474FFAB79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82DAD8-3218-0013-F901-6BF8A7A865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257CCAB-7BF0-3743-9D3E-6766A9E44D54}" type="datetimeFigureOut">
              <a:rPr lang="en-US" smtClean="0"/>
              <a:t>6/2/26</a:t>
            </a:fld>
            <a:endParaRPr lang="en-US" dirty="0"/>
          </a:p>
        </p:txBody>
      </p:sp>
      <p:sp>
        <p:nvSpPr>
          <p:cNvPr id="5" name="Footer Placeholder 4">
            <a:extLst>
              <a:ext uri="{FF2B5EF4-FFF2-40B4-BE49-F238E27FC236}">
                <a16:creationId xmlns:a16="http://schemas.microsoft.com/office/drawing/2014/main" id="{DF257F57-06AE-DE85-AEB2-034EFAB717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C0FC4036-628D-BE0B-22BE-5D80ECEBC3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FF1924D-BDD0-3941-AB4A-5CBD41A22843}" type="slidenum">
              <a:rPr lang="en-US" smtClean="0"/>
              <a:t>‹#›</a:t>
            </a:fld>
            <a:endParaRPr lang="en-US" dirty="0"/>
          </a:p>
        </p:txBody>
      </p:sp>
    </p:spTree>
    <p:extLst>
      <p:ext uri="{BB962C8B-B14F-4D97-AF65-F5344CB8AC3E}">
        <p14:creationId xmlns:p14="http://schemas.microsoft.com/office/powerpoint/2010/main" val="1501402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4"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mailto:Nicholezheng123@ibm.com" TargetMode="External"/><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3.png"/><Relationship Id="rId11" Type="http://schemas.openxmlformats.org/officeDocument/2006/relationships/image" Target="../media/image8.png"/><Relationship Id="rId5" Type="http://schemas.openxmlformats.org/officeDocument/2006/relationships/image" Target="../media/image2.emf"/><Relationship Id="rId10" Type="http://schemas.openxmlformats.org/officeDocument/2006/relationships/image" Target="../media/image7.png"/><Relationship Id="rId4" Type="http://schemas.openxmlformats.org/officeDocument/2006/relationships/hyperlink" Target="mailto:icholezheng123@ibm.com" TargetMode="External"/><Relationship Id="rId9"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5.png"/><Relationship Id="rId7"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11.png"/><Relationship Id="rId5" Type="http://schemas.openxmlformats.org/officeDocument/2006/relationships/image" Target="../media/image10.emf"/><Relationship Id="rId4" Type="http://schemas.openxmlformats.org/officeDocument/2006/relationships/image" Target="../media/image9.png"/><Relationship Id="rId9" Type="http://schemas.openxmlformats.org/officeDocument/2006/relationships/image" Target="../media/image14.em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14.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343613A2-28F2-1135-13AB-E7155D225A45}"/>
              </a:ext>
            </a:extLst>
          </p:cNvPr>
          <p:cNvSpPr>
            <a:spLocks noGrp="1"/>
          </p:cNvSpPr>
          <p:nvPr>
            <p:ph type="body" sz="quarter" idx="12"/>
          </p:nvPr>
        </p:nvSpPr>
        <p:spPr>
          <a:xfrm>
            <a:off x="8780190" y="6185294"/>
            <a:ext cx="2470906" cy="537077"/>
          </a:xfrm>
        </p:spPr>
        <p:txBody>
          <a:bodyPr/>
          <a:lstStyle/>
          <a:p>
            <a:pPr marL="0" indent="0">
              <a:buNone/>
            </a:pPr>
            <a:r>
              <a:rPr lang="en-US" dirty="0"/>
              <a:t>Nichole Zheng</a:t>
            </a:r>
            <a:br>
              <a:rPr lang="en-US" dirty="0"/>
            </a:br>
            <a:r>
              <a:rPr lang="en-US" dirty="0">
                <a:hlinkClick r:id="rId3"/>
              </a:rPr>
              <a:t>N</a:t>
            </a:r>
            <a:r>
              <a:rPr lang="en-US" dirty="0">
                <a:hlinkClick r:id="rId4"/>
              </a:rPr>
              <a:t>icholezheng123@ibm.com</a:t>
            </a:r>
            <a:endParaRPr lang="en-US" dirty="0"/>
          </a:p>
        </p:txBody>
      </p:sp>
      <p:sp>
        <p:nvSpPr>
          <p:cNvPr id="2" name="Title 1">
            <a:extLst>
              <a:ext uri="{FF2B5EF4-FFF2-40B4-BE49-F238E27FC236}">
                <a16:creationId xmlns:a16="http://schemas.microsoft.com/office/drawing/2014/main" id="{B335AEEA-5D4C-1E14-8D74-5ACD379B06AE}"/>
              </a:ext>
            </a:extLst>
          </p:cNvPr>
          <p:cNvSpPr>
            <a:spLocks noGrp="1"/>
          </p:cNvSpPr>
          <p:nvPr>
            <p:ph type="title"/>
          </p:nvPr>
        </p:nvSpPr>
        <p:spPr>
          <a:xfrm>
            <a:off x="290985" y="-593639"/>
            <a:ext cx="7095467" cy="3653949"/>
          </a:xfrm>
        </p:spPr>
        <p:txBody>
          <a:bodyPr>
            <a:normAutofit/>
          </a:bodyPr>
          <a:lstStyle/>
          <a:p>
            <a:r>
              <a:rPr lang="en-US" sz="4400" dirty="0">
                <a:latin typeface="IBM Plex Sans Light" panose="020B0403050203000203" pitchFamily="34" charset="0"/>
              </a:rPr>
              <a:t>AI is only as smart as the </a:t>
            </a:r>
            <a:r>
              <a:rPr lang="en-US" sz="4400" b="1" dirty="0">
                <a:solidFill>
                  <a:srgbClr val="0070C0"/>
                </a:solidFill>
                <a:latin typeface="IBM Plex Sans Light" panose="020B0403050203000203" pitchFamily="34" charset="0"/>
              </a:rPr>
              <a:t>data behind it</a:t>
            </a:r>
            <a:br>
              <a:rPr lang="en-US" sz="6599" dirty="0"/>
            </a:br>
            <a:r>
              <a:rPr lang="en-US" sz="1800" dirty="0">
                <a:solidFill>
                  <a:schemeClr val="tx1">
                    <a:lumMod val="50000"/>
                    <a:lumOff val="50000"/>
                  </a:schemeClr>
                </a:solidFill>
                <a:latin typeface="IBM Plex Sans Light" panose="020B0403050203000203" pitchFamily="34" charset="0"/>
              </a:rPr>
              <a:t>Most organizations have access to AI.</a:t>
            </a:r>
            <a:br>
              <a:rPr lang="en-US" sz="1800" dirty="0">
                <a:solidFill>
                  <a:schemeClr val="tx1">
                    <a:lumMod val="50000"/>
                    <a:lumOff val="50000"/>
                  </a:schemeClr>
                </a:solidFill>
                <a:latin typeface="IBM Plex Sans Light" panose="020B0403050203000203" pitchFamily="34" charset="0"/>
              </a:rPr>
            </a:br>
            <a:r>
              <a:rPr lang="en-US" sz="1800" dirty="0">
                <a:solidFill>
                  <a:schemeClr val="tx1">
                    <a:lumMod val="50000"/>
                    <a:lumOff val="50000"/>
                  </a:schemeClr>
                </a:solidFill>
                <a:latin typeface="IBM Plex Sans Light" panose="020B0403050203000203" pitchFamily="34" charset="0"/>
              </a:rPr>
              <a:t>Few have data that AI can actually understand and trust.</a:t>
            </a:r>
          </a:p>
        </p:txBody>
      </p:sp>
      <p:sp>
        <p:nvSpPr>
          <p:cNvPr id="4" name="TextBox 3">
            <a:extLst>
              <a:ext uri="{FF2B5EF4-FFF2-40B4-BE49-F238E27FC236}">
                <a16:creationId xmlns:a16="http://schemas.microsoft.com/office/drawing/2014/main" id="{F94A33F8-139B-8200-6A96-D49D97030438}"/>
              </a:ext>
            </a:extLst>
          </p:cNvPr>
          <p:cNvSpPr txBox="1"/>
          <p:nvPr/>
        </p:nvSpPr>
        <p:spPr>
          <a:xfrm>
            <a:off x="6755521" y="6349620"/>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222188" indent="-223330" defTabSz="1218956">
              <a:spcBef>
                <a:spcPts val="1450"/>
              </a:spcBef>
              <a:buSzPct val="100000"/>
              <a:buFontTx/>
              <a:buChar char="–"/>
            </a:pPr>
            <a:endParaRPr lang="en-US" sz="900" kern="0" dirty="0">
              <a:solidFill>
                <a:srgbClr val="000000"/>
              </a:solidFill>
              <a:ea typeface="+mj-ea"/>
              <a:cs typeface="+mj-cs"/>
              <a:sym typeface="IBM Plex Sans Light"/>
            </a:endParaRPr>
          </a:p>
        </p:txBody>
      </p:sp>
      <p:pic>
        <p:nvPicPr>
          <p:cNvPr id="5" name="Picture 4" descr="Dialogue, Black pictogram">
            <a:extLst>
              <a:ext uri="{FF2B5EF4-FFF2-40B4-BE49-F238E27FC236}">
                <a16:creationId xmlns:a16="http://schemas.microsoft.com/office/drawing/2014/main" id="{7B301ACA-9EF6-EDE9-F5C5-6288C4B2AF9C}"/>
              </a:ext>
            </a:extLst>
          </p:cNvPr>
          <p:cNvPicPr>
            <a:picLocks noChangeAspect="1"/>
          </p:cNvPicPr>
          <p:nvPr/>
        </p:nvPicPr>
        <p:blipFill>
          <a:blip r:embed="rId5"/>
          <a:srcRect/>
          <a:stretch/>
        </p:blipFill>
        <p:spPr>
          <a:xfrm>
            <a:off x="2059964" y="2926508"/>
            <a:ext cx="814779" cy="719777"/>
          </a:xfrm>
          <a:prstGeom prst="rect">
            <a:avLst/>
          </a:prstGeom>
        </p:spPr>
      </p:pic>
      <p:sp>
        <p:nvSpPr>
          <p:cNvPr id="8" name="TextBox 7">
            <a:extLst>
              <a:ext uri="{FF2B5EF4-FFF2-40B4-BE49-F238E27FC236}">
                <a16:creationId xmlns:a16="http://schemas.microsoft.com/office/drawing/2014/main" id="{D67B5F35-6DC8-96C5-FFCE-C780ADAC4D1A}"/>
              </a:ext>
            </a:extLst>
          </p:cNvPr>
          <p:cNvSpPr txBox="1"/>
          <p:nvPr/>
        </p:nvSpPr>
        <p:spPr>
          <a:xfrm>
            <a:off x="447337" y="3561993"/>
            <a:ext cx="1149927" cy="369332"/>
          </a:xfrm>
          <a:prstGeom prst="rect">
            <a:avLst/>
          </a:prstGeom>
          <a:noFill/>
        </p:spPr>
        <p:txBody>
          <a:bodyPr wrap="square" rtlCol="0">
            <a:spAutoFit/>
          </a:bodyPr>
          <a:lstStyle/>
          <a:p>
            <a:r>
              <a:rPr lang="en-US" dirty="0"/>
              <a:t>AI Agents</a:t>
            </a:r>
          </a:p>
        </p:txBody>
      </p:sp>
      <p:sp>
        <p:nvSpPr>
          <p:cNvPr id="9" name="TextBox 8">
            <a:extLst>
              <a:ext uri="{FF2B5EF4-FFF2-40B4-BE49-F238E27FC236}">
                <a16:creationId xmlns:a16="http://schemas.microsoft.com/office/drawing/2014/main" id="{39536B60-D6CD-1BB3-ED03-CA74E654B1B8}"/>
              </a:ext>
            </a:extLst>
          </p:cNvPr>
          <p:cNvSpPr txBox="1"/>
          <p:nvPr/>
        </p:nvSpPr>
        <p:spPr>
          <a:xfrm>
            <a:off x="1765281" y="3561993"/>
            <a:ext cx="1469242" cy="369332"/>
          </a:xfrm>
          <a:prstGeom prst="rect">
            <a:avLst/>
          </a:prstGeom>
          <a:noFill/>
        </p:spPr>
        <p:txBody>
          <a:bodyPr wrap="square" rtlCol="0">
            <a:spAutoFit/>
          </a:bodyPr>
          <a:lstStyle/>
          <a:p>
            <a:r>
              <a:rPr lang="en-US" dirty="0"/>
              <a:t>AI Assistants</a:t>
            </a:r>
          </a:p>
        </p:txBody>
      </p:sp>
      <p:pic>
        <p:nvPicPr>
          <p:cNvPr id="10" name="Picture 9" descr="ai agent Icon - Free PNG &amp; SVG 7028094 - Noun Project">
            <a:extLst>
              <a:ext uri="{FF2B5EF4-FFF2-40B4-BE49-F238E27FC236}">
                <a16:creationId xmlns:a16="http://schemas.microsoft.com/office/drawing/2014/main" id="{C43DA7C3-BB33-52DE-0BD1-9FDE28BBA8A7}"/>
              </a:ext>
            </a:extLst>
          </p:cNvPr>
          <p:cNvPicPr>
            <a:picLocks noChangeAspect="1"/>
          </p:cNvPicPr>
          <p:nvPr/>
        </p:nvPicPr>
        <p:blipFill>
          <a:blip r:embed="rId6"/>
          <a:srcRect b="15582"/>
          <a:stretch>
            <a:fillRect/>
          </a:stretch>
        </p:blipFill>
        <p:spPr>
          <a:xfrm>
            <a:off x="437649" y="2697626"/>
            <a:ext cx="1074950" cy="915036"/>
          </a:xfrm>
          <a:prstGeom prst="rect">
            <a:avLst/>
          </a:prstGeom>
        </p:spPr>
      </p:pic>
      <p:sp>
        <p:nvSpPr>
          <p:cNvPr id="11" name="TextBox 10">
            <a:extLst>
              <a:ext uri="{FF2B5EF4-FFF2-40B4-BE49-F238E27FC236}">
                <a16:creationId xmlns:a16="http://schemas.microsoft.com/office/drawing/2014/main" id="{A12F1008-7488-92F6-28EF-5C88AABCB150}"/>
              </a:ext>
            </a:extLst>
          </p:cNvPr>
          <p:cNvSpPr txBox="1"/>
          <p:nvPr/>
        </p:nvSpPr>
        <p:spPr>
          <a:xfrm>
            <a:off x="3427107" y="2962228"/>
            <a:ext cx="814779" cy="584775"/>
          </a:xfrm>
          <a:prstGeom prst="rect">
            <a:avLst/>
          </a:prstGeom>
          <a:noFill/>
        </p:spPr>
        <p:txBody>
          <a:bodyPr wrap="square" rtlCol="0">
            <a:spAutoFit/>
          </a:bodyPr>
          <a:lstStyle/>
          <a:p>
            <a:r>
              <a:rPr lang="en-US" sz="3200" dirty="0"/>
              <a:t>&lt;/&gt;</a:t>
            </a:r>
          </a:p>
        </p:txBody>
      </p:sp>
      <p:sp>
        <p:nvSpPr>
          <p:cNvPr id="12" name="TextBox 11">
            <a:extLst>
              <a:ext uri="{FF2B5EF4-FFF2-40B4-BE49-F238E27FC236}">
                <a16:creationId xmlns:a16="http://schemas.microsoft.com/office/drawing/2014/main" id="{FBDC96AC-A18F-E030-EECF-4ED8E298FB63}"/>
              </a:ext>
            </a:extLst>
          </p:cNvPr>
          <p:cNvSpPr txBox="1"/>
          <p:nvPr/>
        </p:nvSpPr>
        <p:spPr>
          <a:xfrm>
            <a:off x="3099875" y="3581757"/>
            <a:ext cx="1469242" cy="369332"/>
          </a:xfrm>
          <a:prstGeom prst="rect">
            <a:avLst/>
          </a:prstGeom>
          <a:noFill/>
        </p:spPr>
        <p:txBody>
          <a:bodyPr wrap="square" rtlCol="0">
            <a:spAutoFit/>
          </a:bodyPr>
          <a:lstStyle/>
          <a:p>
            <a:pPr algn="ctr"/>
            <a:r>
              <a:rPr lang="en-US" dirty="0"/>
              <a:t>Copilots </a:t>
            </a:r>
          </a:p>
        </p:txBody>
      </p:sp>
      <p:pic>
        <p:nvPicPr>
          <p:cNvPr id="14" name="Picture 13" descr="Chart line, Black pictogram">
            <a:extLst>
              <a:ext uri="{FF2B5EF4-FFF2-40B4-BE49-F238E27FC236}">
                <a16:creationId xmlns:a16="http://schemas.microsoft.com/office/drawing/2014/main" id="{B1676E9A-49AC-9267-D619-117C7B24B3A6}"/>
              </a:ext>
            </a:extLst>
          </p:cNvPr>
          <p:cNvPicPr>
            <a:picLocks noChangeAspect="1"/>
          </p:cNvPicPr>
          <p:nvPr/>
        </p:nvPicPr>
        <p:blipFill>
          <a:blip r:embed="rId7"/>
          <a:srcRect t="6406"/>
          <a:stretch>
            <a:fillRect/>
          </a:stretch>
        </p:blipFill>
        <p:spPr>
          <a:xfrm>
            <a:off x="4675213" y="2916946"/>
            <a:ext cx="673179" cy="630057"/>
          </a:xfrm>
          <a:prstGeom prst="rect">
            <a:avLst/>
          </a:prstGeom>
        </p:spPr>
      </p:pic>
      <p:sp>
        <p:nvSpPr>
          <p:cNvPr id="15" name="TextBox 14">
            <a:extLst>
              <a:ext uri="{FF2B5EF4-FFF2-40B4-BE49-F238E27FC236}">
                <a16:creationId xmlns:a16="http://schemas.microsoft.com/office/drawing/2014/main" id="{FB978D5B-D435-C75D-BB08-EC1A55B6DC3C}"/>
              </a:ext>
            </a:extLst>
          </p:cNvPr>
          <p:cNvSpPr txBox="1"/>
          <p:nvPr/>
        </p:nvSpPr>
        <p:spPr>
          <a:xfrm>
            <a:off x="4313481" y="3591865"/>
            <a:ext cx="1469242" cy="369332"/>
          </a:xfrm>
          <a:prstGeom prst="rect">
            <a:avLst/>
          </a:prstGeom>
          <a:noFill/>
        </p:spPr>
        <p:txBody>
          <a:bodyPr wrap="square" rtlCol="0">
            <a:spAutoFit/>
          </a:bodyPr>
          <a:lstStyle/>
          <a:p>
            <a:pPr algn="ctr"/>
            <a:r>
              <a:rPr lang="en-US" dirty="0"/>
              <a:t>Analytics </a:t>
            </a:r>
          </a:p>
        </p:txBody>
      </p:sp>
      <p:sp>
        <p:nvSpPr>
          <p:cNvPr id="16" name="Left Brace 15">
            <a:extLst>
              <a:ext uri="{FF2B5EF4-FFF2-40B4-BE49-F238E27FC236}">
                <a16:creationId xmlns:a16="http://schemas.microsoft.com/office/drawing/2014/main" id="{55C2CC3B-A63E-8AF2-6B9B-FD6DD2772BE1}"/>
              </a:ext>
            </a:extLst>
          </p:cNvPr>
          <p:cNvSpPr/>
          <p:nvPr/>
        </p:nvSpPr>
        <p:spPr>
          <a:xfrm rot="16200000">
            <a:off x="2916802" y="1487267"/>
            <a:ext cx="369332" cy="5327638"/>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pic>
        <p:nvPicPr>
          <p:cNvPr id="17" name="Picture 16" descr="Symbol data source configuration Vector Icons free download in SVG, PNG  Format">
            <a:extLst>
              <a:ext uri="{FF2B5EF4-FFF2-40B4-BE49-F238E27FC236}">
                <a16:creationId xmlns:a16="http://schemas.microsoft.com/office/drawing/2014/main" id="{F6FAF0B1-827B-4800-1663-7BA9BD34D60B}"/>
              </a:ext>
            </a:extLst>
          </p:cNvPr>
          <p:cNvPicPr>
            <a:picLocks noChangeAspect="1"/>
          </p:cNvPicPr>
          <p:nvPr/>
        </p:nvPicPr>
        <p:blipFill>
          <a:blip r:embed="rId8"/>
          <a:stretch>
            <a:fillRect/>
          </a:stretch>
        </p:blipFill>
        <p:spPr>
          <a:xfrm>
            <a:off x="2761891" y="4368289"/>
            <a:ext cx="807077" cy="807077"/>
          </a:xfrm>
          <a:prstGeom prst="rect">
            <a:avLst/>
          </a:prstGeom>
        </p:spPr>
      </p:pic>
      <p:sp>
        <p:nvSpPr>
          <p:cNvPr id="18" name="TextBox 17">
            <a:extLst>
              <a:ext uri="{FF2B5EF4-FFF2-40B4-BE49-F238E27FC236}">
                <a16:creationId xmlns:a16="http://schemas.microsoft.com/office/drawing/2014/main" id="{C86F2915-8EFB-6821-A1C0-5AB7C76BA614}"/>
              </a:ext>
            </a:extLst>
          </p:cNvPr>
          <p:cNvSpPr txBox="1"/>
          <p:nvPr/>
        </p:nvSpPr>
        <p:spPr>
          <a:xfrm>
            <a:off x="2259890" y="5175366"/>
            <a:ext cx="1811078" cy="369332"/>
          </a:xfrm>
          <a:prstGeom prst="rect">
            <a:avLst/>
          </a:prstGeom>
          <a:noFill/>
        </p:spPr>
        <p:txBody>
          <a:bodyPr wrap="square" rtlCol="0">
            <a:spAutoFit/>
          </a:bodyPr>
          <a:lstStyle/>
          <a:p>
            <a:r>
              <a:rPr lang="en-US" dirty="0"/>
              <a:t>Enterprise Data</a:t>
            </a:r>
          </a:p>
        </p:txBody>
      </p:sp>
      <p:sp>
        <p:nvSpPr>
          <p:cNvPr id="20" name="Rounded Rectangle 19">
            <a:extLst>
              <a:ext uri="{FF2B5EF4-FFF2-40B4-BE49-F238E27FC236}">
                <a16:creationId xmlns:a16="http://schemas.microsoft.com/office/drawing/2014/main" id="{1A072D6D-C470-2A34-4B2B-B7470D3DD04D}"/>
              </a:ext>
            </a:extLst>
          </p:cNvPr>
          <p:cNvSpPr/>
          <p:nvPr/>
        </p:nvSpPr>
        <p:spPr>
          <a:xfrm>
            <a:off x="7583192" y="318052"/>
            <a:ext cx="3866686" cy="5466521"/>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763FDAA7-6775-4FF8-7E31-A7326BDA513D}"/>
              </a:ext>
            </a:extLst>
          </p:cNvPr>
          <p:cNvPicPr>
            <a:picLocks noChangeAspect="1"/>
          </p:cNvPicPr>
          <p:nvPr/>
        </p:nvPicPr>
        <p:blipFill>
          <a:blip r:embed="rId9"/>
          <a:stretch>
            <a:fillRect/>
          </a:stretch>
        </p:blipFill>
        <p:spPr>
          <a:xfrm>
            <a:off x="7801969" y="781406"/>
            <a:ext cx="1075061" cy="1075061"/>
          </a:xfrm>
          <a:prstGeom prst="rect">
            <a:avLst/>
          </a:prstGeom>
        </p:spPr>
      </p:pic>
      <p:sp>
        <p:nvSpPr>
          <p:cNvPr id="24" name="TextBox 23">
            <a:extLst>
              <a:ext uri="{FF2B5EF4-FFF2-40B4-BE49-F238E27FC236}">
                <a16:creationId xmlns:a16="http://schemas.microsoft.com/office/drawing/2014/main" id="{4E648575-0B45-F247-78F8-6615EE8C8478}"/>
              </a:ext>
            </a:extLst>
          </p:cNvPr>
          <p:cNvSpPr txBox="1"/>
          <p:nvPr/>
        </p:nvSpPr>
        <p:spPr>
          <a:xfrm>
            <a:off x="8877030" y="718773"/>
            <a:ext cx="2523646" cy="1200329"/>
          </a:xfrm>
          <a:prstGeom prst="rect">
            <a:avLst/>
          </a:prstGeom>
          <a:noFill/>
        </p:spPr>
        <p:txBody>
          <a:bodyPr wrap="square">
            <a:spAutoFit/>
          </a:bodyPr>
          <a:lstStyle/>
          <a:p>
            <a:r>
              <a:rPr lang="en-US" sz="2400" dirty="0">
                <a:solidFill>
                  <a:srgbClr val="0070C0"/>
                </a:solidFill>
              </a:rPr>
              <a:t>87% </a:t>
            </a:r>
          </a:p>
          <a:p>
            <a:r>
              <a:rPr lang="en-US" sz="1600" dirty="0"/>
              <a:t>of organizations say data readiness and context are barriers to AI adoption</a:t>
            </a:r>
            <a:r>
              <a:rPr lang="en-US" sz="1600" baseline="30000" dirty="0"/>
              <a:t>1</a:t>
            </a:r>
            <a:r>
              <a:rPr lang="en-US" sz="1600" dirty="0"/>
              <a:t> </a:t>
            </a:r>
          </a:p>
        </p:txBody>
      </p:sp>
      <p:cxnSp>
        <p:nvCxnSpPr>
          <p:cNvPr id="26" name="Straight Connector 25">
            <a:extLst>
              <a:ext uri="{FF2B5EF4-FFF2-40B4-BE49-F238E27FC236}">
                <a16:creationId xmlns:a16="http://schemas.microsoft.com/office/drawing/2014/main" id="{F8187049-AE7A-9C6F-6BC7-9E5B35AB4A88}"/>
              </a:ext>
            </a:extLst>
          </p:cNvPr>
          <p:cNvCxnSpPr/>
          <p:nvPr/>
        </p:nvCxnSpPr>
        <p:spPr>
          <a:xfrm>
            <a:off x="7801969" y="2206487"/>
            <a:ext cx="3449127" cy="0"/>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27" name="Picture 26">
            <a:extLst>
              <a:ext uri="{FF2B5EF4-FFF2-40B4-BE49-F238E27FC236}">
                <a16:creationId xmlns:a16="http://schemas.microsoft.com/office/drawing/2014/main" id="{44E11B01-6065-7317-9C17-430213FA5A12}"/>
              </a:ext>
            </a:extLst>
          </p:cNvPr>
          <p:cNvPicPr>
            <a:picLocks noChangeAspect="1"/>
          </p:cNvPicPr>
          <p:nvPr/>
        </p:nvPicPr>
        <p:blipFill>
          <a:blip r:embed="rId10"/>
          <a:stretch>
            <a:fillRect/>
          </a:stretch>
        </p:blipFill>
        <p:spPr>
          <a:xfrm>
            <a:off x="7860522" y="2543968"/>
            <a:ext cx="1000094" cy="1000094"/>
          </a:xfrm>
          <a:prstGeom prst="rect">
            <a:avLst/>
          </a:prstGeom>
        </p:spPr>
      </p:pic>
      <p:sp>
        <p:nvSpPr>
          <p:cNvPr id="28" name="TextBox 27">
            <a:extLst>
              <a:ext uri="{FF2B5EF4-FFF2-40B4-BE49-F238E27FC236}">
                <a16:creationId xmlns:a16="http://schemas.microsoft.com/office/drawing/2014/main" id="{4C0847BB-E74B-E8B7-2715-EA4D03ABFDE3}"/>
              </a:ext>
            </a:extLst>
          </p:cNvPr>
          <p:cNvSpPr txBox="1"/>
          <p:nvPr/>
        </p:nvSpPr>
        <p:spPr>
          <a:xfrm>
            <a:off x="8965083" y="2574258"/>
            <a:ext cx="2523646" cy="954107"/>
          </a:xfrm>
          <a:prstGeom prst="rect">
            <a:avLst/>
          </a:prstGeom>
          <a:noFill/>
        </p:spPr>
        <p:txBody>
          <a:bodyPr wrap="square">
            <a:spAutoFit/>
          </a:bodyPr>
          <a:lstStyle/>
          <a:p>
            <a:r>
              <a:rPr lang="en-US" sz="2400" dirty="0">
                <a:solidFill>
                  <a:srgbClr val="0070C0"/>
                </a:solidFill>
              </a:rPr>
              <a:t>12% </a:t>
            </a:r>
          </a:p>
          <a:p>
            <a:r>
              <a:rPr lang="en-US" sz="1600" dirty="0"/>
              <a:t>believe their data is sufficiently ready for AI </a:t>
            </a:r>
            <a:r>
              <a:rPr lang="en-US" sz="1600" baseline="30000" dirty="0"/>
              <a:t>2</a:t>
            </a:r>
            <a:r>
              <a:rPr lang="en-US" sz="1600" dirty="0"/>
              <a:t> </a:t>
            </a:r>
          </a:p>
        </p:txBody>
      </p:sp>
      <p:cxnSp>
        <p:nvCxnSpPr>
          <p:cNvPr id="29" name="Straight Connector 28">
            <a:extLst>
              <a:ext uri="{FF2B5EF4-FFF2-40B4-BE49-F238E27FC236}">
                <a16:creationId xmlns:a16="http://schemas.microsoft.com/office/drawing/2014/main" id="{C4A678EE-5465-BF2B-0880-8DE31AB7EA2A}"/>
              </a:ext>
            </a:extLst>
          </p:cNvPr>
          <p:cNvCxnSpPr/>
          <p:nvPr/>
        </p:nvCxnSpPr>
        <p:spPr>
          <a:xfrm>
            <a:off x="7791971" y="3931325"/>
            <a:ext cx="3449127" cy="0"/>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30" name="Picture 29">
            <a:extLst>
              <a:ext uri="{FF2B5EF4-FFF2-40B4-BE49-F238E27FC236}">
                <a16:creationId xmlns:a16="http://schemas.microsoft.com/office/drawing/2014/main" id="{E118ABAA-1683-EDAF-AEE8-7FE5EF263BF0}"/>
              </a:ext>
            </a:extLst>
          </p:cNvPr>
          <p:cNvPicPr>
            <a:picLocks noChangeAspect="1"/>
          </p:cNvPicPr>
          <p:nvPr/>
        </p:nvPicPr>
        <p:blipFill>
          <a:blip r:embed="rId11"/>
          <a:stretch>
            <a:fillRect/>
          </a:stretch>
        </p:blipFill>
        <p:spPr>
          <a:xfrm>
            <a:off x="8000087" y="4255772"/>
            <a:ext cx="916473" cy="775651"/>
          </a:xfrm>
          <a:prstGeom prst="rect">
            <a:avLst/>
          </a:prstGeom>
        </p:spPr>
      </p:pic>
      <p:sp>
        <p:nvSpPr>
          <p:cNvPr id="31" name="TextBox 30">
            <a:extLst>
              <a:ext uri="{FF2B5EF4-FFF2-40B4-BE49-F238E27FC236}">
                <a16:creationId xmlns:a16="http://schemas.microsoft.com/office/drawing/2014/main" id="{14916E19-6ADB-8481-77FE-AB23C2D05715}"/>
              </a:ext>
            </a:extLst>
          </p:cNvPr>
          <p:cNvSpPr txBox="1"/>
          <p:nvPr/>
        </p:nvSpPr>
        <p:spPr>
          <a:xfrm>
            <a:off x="8950335" y="4240075"/>
            <a:ext cx="2523646" cy="954107"/>
          </a:xfrm>
          <a:prstGeom prst="rect">
            <a:avLst/>
          </a:prstGeom>
          <a:noFill/>
        </p:spPr>
        <p:txBody>
          <a:bodyPr wrap="square">
            <a:spAutoFit/>
          </a:bodyPr>
          <a:lstStyle/>
          <a:p>
            <a:r>
              <a:rPr lang="en-US" sz="2400" dirty="0">
                <a:solidFill>
                  <a:srgbClr val="0070C0"/>
                </a:solidFill>
              </a:rPr>
              <a:t>90% </a:t>
            </a:r>
          </a:p>
          <a:p>
            <a:r>
              <a:rPr lang="en-US" sz="1600" dirty="0"/>
              <a:t>of enterprise data is unstructured </a:t>
            </a:r>
            <a:r>
              <a:rPr lang="en-US" sz="1600" baseline="30000" dirty="0"/>
              <a:t>3</a:t>
            </a:r>
            <a:r>
              <a:rPr lang="en-US" sz="1600" dirty="0"/>
              <a:t> </a:t>
            </a:r>
          </a:p>
        </p:txBody>
      </p:sp>
      <p:sp>
        <p:nvSpPr>
          <p:cNvPr id="35" name="TextBox 34">
            <a:extLst>
              <a:ext uri="{FF2B5EF4-FFF2-40B4-BE49-F238E27FC236}">
                <a16:creationId xmlns:a16="http://schemas.microsoft.com/office/drawing/2014/main" id="{7C31643A-656A-D24F-06F4-D2C032C7949C}"/>
              </a:ext>
            </a:extLst>
          </p:cNvPr>
          <p:cNvSpPr txBox="1"/>
          <p:nvPr/>
        </p:nvSpPr>
        <p:spPr>
          <a:xfrm>
            <a:off x="185294" y="6234541"/>
            <a:ext cx="6098458" cy="438582"/>
          </a:xfrm>
          <a:prstGeom prst="rect">
            <a:avLst/>
          </a:prstGeom>
          <a:noFill/>
        </p:spPr>
        <p:txBody>
          <a:bodyPr wrap="square">
            <a:spAutoFit/>
          </a:bodyPr>
          <a:lstStyle/>
          <a:p>
            <a:pPr defTabSz="457200">
              <a:lnSpc>
                <a:spcPts val="900"/>
              </a:lnSpc>
              <a:defRPr/>
            </a:pPr>
            <a:r>
              <a:rPr lang="en-US" sz="800" dirty="0">
                <a:solidFill>
                  <a:schemeClr val="tx1">
                    <a:lumMod val="75000"/>
                    <a:lumOff val="25000"/>
                  </a:schemeClr>
                </a:solidFill>
                <a:latin typeface="IBM Plex Sans Regular" pitchFamily="34" charset="0"/>
                <a:ea typeface="IBM Plex Sans Regular" pitchFamily="34" charset="-122"/>
                <a:cs typeface="IBM Plex Sans Regular" pitchFamily="34" charset="-120"/>
              </a:rPr>
              <a:t>1 Survey: Context Engineering Challenges Hinder AI Success, </a:t>
            </a:r>
            <a:r>
              <a:rPr lang="en-US" sz="800" dirty="0" err="1">
                <a:solidFill>
                  <a:schemeClr val="tx1">
                    <a:lumMod val="75000"/>
                    <a:lumOff val="25000"/>
                  </a:schemeClr>
                </a:solidFill>
                <a:latin typeface="IBM Plex Sans Regular" pitchFamily="34" charset="0"/>
                <a:ea typeface="IBM Plex Sans Regular" pitchFamily="34" charset="-122"/>
                <a:cs typeface="IBM Plex Sans Regular" pitchFamily="34" charset="-120"/>
              </a:rPr>
              <a:t>Techstrong</a:t>
            </a:r>
            <a:r>
              <a:rPr lang="en-US" sz="800" dirty="0">
                <a:solidFill>
                  <a:schemeClr val="tx1">
                    <a:lumMod val="75000"/>
                    <a:lumOff val="25000"/>
                  </a:schemeClr>
                </a:solidFill>
                <a:latin typeface="IBM Plex Sans Regular" pitchFamily="34" charset="0"/>
                <a:ea typeface="IBM Plex Sans Regular" pitchFamily="34" charset="-122"/>
                <a:cs typeface="IBM Plex Sans Regular" pitchFamily="34" charset="-120"/>
              </a:rPr>
              <a:t> </a:t>
            </a:r>
            <a:br>
              <a:rPr lang="en-US" sz="2000" dirty="0">
                <a:solidFill>
                  <a:schemeClr val="tx1">
                    <a:lumMod val="75000"/>
                    <a:lumOff val="25000"/>
                  </a:schemeClr>
                </a:solidFill>
                <a:latin typeface="Calibri" panose="020F0502020204030204"/>
              </a:rPr>
            </a:br>
            <a:r>
              <a:rPr lang="en-US" sz="800" dirty="0">
                <a:solidFill>
                  <a:schemeClr val="tx1">
                    <a:lumMod val="75000"/>
                    <a:lumOff val="25000"/>
                  </a:schemeClr>
                </a:solidFill>
                <a:latin typeface="IBM Plex Sans Regular" pitchFamily="34" charset="0"/>
              </a:rPr>
              <a:t>2</a:t>
            </a:r>
            <a:r>
              <a:rPr lang="en-US" sz="800" dirty="0">
                <a:solidFill>
                  <a:schemeClr val="tx1">
                    <a:lumMod val="75000"/>
                    <a:lumOff val="25000"/>
                  </a:schemeClr>
                </a:solidFill>
                <a:latin typeface="IBM Plex Sans Regular" pitchFamily="34" charset="0"/>
                <a:ea typeface="IBM Plex Sans Regular" pitchFamily="34" charset="-122"/>
                <a:cs typeface="IBM Plex Sans Regular" pitchFamily="34" charset="-120"/>
              </a:rPr>
              <a:t> “The Future of AI is Open”  IBM, 2024, https://</a:t>
            </a:r>
            <a:r>
              <a:rPr lang="en-US" sz="800" dirty="0" err="1">
                <a:solidFill>
                  <a:schemeClr val="tx1">
                    <a:lumMod val="75000"/>
                    <a:lumOff val="25000"/>
                  </a:schemeClr>
                </a:solidFill>
                <a:latin typeface="IBM Plex Sans Regular" pitchFamily="34" charset="0"/>
                <a:ea typeface="IBM Plex Sans Regular" pitchFamily="34" charset="-122"/>
                <a:cs typeface="IBM Plex Sans Regular" pitchFamily="34" charset="-120"/>
              </a:rPr>
              <a:t>research.ibm.com</a:t>
            </a:r>
            <a:r>
              <a:rPr lang="en-US" sz="800" dirty="0">
                <a:solidFill>
                  <a:schemeClr val="tx1">
                    <a:lumMod val="75000"/>
                    <a:lumOff val="25000"/>
                  </a:schemeClr>
                </a:solidFill>
                <a:latin typeface="IBM Plex Sans Regular" pitchFamily="34" charset="0"/>
                <a:ea typeface="IBM Plex Sans Regular" pitchFamily="34" charset="-122"/>
                <a:cs typeface="IBM Plex Sans Regular" pitchFamily="34" charset="-120"/>
              </a:rPr>
              <a:t>/blog/ai-open-think</a:t>
            </a:r>
            <a:br>
              <a:rPr lang="en-US" sz="2000" dirty="0">
                <a:solidFill>
                  <a:schemeClr val="tx1">
                    <a:lumMod val="75000"/>
                    <a:lumOff val="25000"/>
                  </a:schemeClr>
                </a:solidFill>
                <a:latin typeface="Calibri" panose="020F0502020204030204"/>
              </a:rPr>
            </a:br>
            <a:r>
              <a:rPr lang="en-US" sz="800" dirty="0">
                <a:solidFill>
                  <a:schemeClr val="tx1">
                    <a:lumMod val="75000"/>
                    <a:lumOff val="25000"/>
                  </a:schemeClr>
                </a:solidFill>
                <a:latin typeface="IBM Plex Sans Regular" pitchFamily="34" charset="0"/>
              </a:rPr>
              <a:t>3  Precisely. 2025 Outlook: Data Integrity Trends and Insights</a:t>
            </a:r>
          </a:p>
        </p:txBody>
      </p:sp>
    </p:spTree>
    <p:extLst>
      <p:ext uri="{BB962C8B-B14F-4D97-AF65-F5344CB8AC3E}">
        <p14:creationId xmlns:p14="http://schemas.microsoft.com/office/powerpoint/2010/main" val="2571291216"/>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81D31-13CD-0C8C-9D0C-FCFEA294A068}"/>
            </a:ext>
          </a:extLst>
        </p:cNvPr>
        <p:cNvGrpSpPr/>
        <p:nvPr/>
      </p:nvGrpSpPr>
      <p:grpSpPr>
        <a:xfrm>
          <a:off x="0" y="0"/>
          <a:ext cx="0" cy="0"/>
          <a:chOff x="0" y="0"/>
          <a:chExt cx="0" cy="0"/>
        </a:xfrm>
      </p:grpSpPr>
      <p:sp>
        <p:nvSpPr>
          <p:cNvPr id="33" name="Rectangle 32">
            <a:extLst>
              <a:ext uri="{FF2B5EF4-FFF2-40B4-BE49-F238E27FC236}">
                <a16:creationId xmlns:a16="http://schemas.microsoft.com/office/drawing/2014/main" id="{BD276C43-E518-743C-669C-0B8167AA87AC}"/>
              </a:ext>
            </a:extLst>
          </p:cNvPr>
          <p:cNvSpPr/>
          <p:nvPr/>
        </p:nvSpPr>
        <p:spPr>
          <a:xfrm>
            <a:off x="3173258" y="0"/>
            <a:ext cx="9018742" cy="6876029"/>
          </a:xfrm>
          <a:prstGeom prst="rect">
            <a:avLst/>
          </a:prstGeom>
          <a:solidFill>
            <a:srgbClr val="E5F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2139FA-0E2F-EF19-9E09-F3A9C39114CE}"/>
              </a:ext>
            </a:extLst>
          </p:cNvPr>
          <p:cNvSpPr>
            <a:spLocks noGrp="1"/>
          </p:cNvSpPr>
          <p:nvPr>
            <p:ph type="title"/>
          </p:nvPr>
        </p:nvSpPr>
        <p:spPr>
          <a:xfrm>
            <a:off x="3693096" y="245701"/>
            <a:ext cx="5992750" cy="1331739"/>
          </a:xfrm>
        </p:spPr>
        <p:txBody>
          <a:bodyPr>
            <a:normAutofit fontScale="90000"/>
          </a:bodyPr>
          <a:lstStyle/>
          <a:p>
            <a:pPr>
              <a:lnSpc>
                <a:spcPct val="150000"/>
              </a:lnSpc>
            </a:pPr>
            <a:br>
              <a:rPr lang="en-US" sz="3600" dirty="0">
                <a:latin typeface="IBM Plex Sans Light" panose="020B0403050203000203" pitchFamily="34" charset="0"/>
              </a:rPr>
            </a:br>
            <a:r>
              <a:rPr lang="en-US" sz="3600" dirty="0">
                <a:latin typeface="IBM Plex Sans Light" panose="020B0403050203000203" pitchFamily="34" charset="0"/>
              </a:rPr>
              <a:t>Watsonx.data intelligence</a:t>
            </a:r>
            <a:br>
              <a:rPr lang="en-US" sz="3600" dirty="0">
                <a:latin typeface="IBM Plex Sans Light" panose="020B0403050203000203" pitchFamily="34" charset="0"/>
              </a:rPr>
            </a:br>
            <a:r>
              <a:rPr lang="en-US" sz="2200" dirty="0">
                <a:solidFill>
                  <a:schemeClr val="tx1">
                    <a:lumMod val="50000"/>
                    <a:lumOff val="50000"/>
                  </a:schemeClr>
                </a:solidFill>
                <a:latin typeface="IBM Plex Sans Light" panose="020B0403050203000203" pitchFamily="34" charset="0"/>
              </a:rPr>
              <a:t>Turning enterprise data into trusted intelligence</a:t>
            </a:r>
            <a:br>
              <a:rPr lang="en-US" sz="3600" b="1" dirty="0"/>
            </a:br>
            <a:endParaRPr lang="en-US" sz="3600" dirty="0">
              <a:latin typeface="IBM Plex Sans Light" panose="020B0403050203000203" pitchFamily="34" charset="0"/>
            </a:endParaRPr>
          </a:p>
        </p:txBody>
      </p:sp>
      <p:sp>
        <p:nvSpPr>
          <p:cNvPr id="9" name="Slide Number Placeholder">
            <a:extLst>
              <a:ext uri="{FF2B5EF4-FFF2-40B4-BE49-F238E27FC236}">
                <a16:creationId xmlns:a16="http://schemas.microsoft.com/office/drawing/2014/main" id="{9FB8592C-434A-E09C-CE6F-007017F02ABF}"/>
              </a:ext>
            </a:extLst>
          </p:cNvPr>
          <p:cNvSpPr>
            <a:spLocks noGrp="1"/>
          </p:cNvSpPr>
          <p:nvPr>
            <p:ph type="sldNum" sz="quarter" idx="4"/>
          </p:nvPr>
        </p:nvSpPr>
        <p:spPr>
          <a:xfrm>
            <a:off x="11843786" y="6475365"/>
            <a:ext cx="60914" cy="123111"/>
          </a:xfrm>
        </p:spPr>
        <p:txBody>
          <a:bodyPr/>
          <a:lstStyle>
            <a:lvl1pPr>
              <a:defRPr>
                <a:solidFill>
                  <a:schemeClr val="tx1"/>
                </a:solidFill>
              </a:defRPr>
            </a:lvl1pPr>
          </a:lstStyle>
          <a:p>
            <a:fld id="{59395FB3-9C97-154F-86B2-7E381B951268}" type="slidenum">
              <a:rPr lang="en-US" smtClean="0"/>
              <a:pPr/>
              <a:t>2</a:t>
            </a:fld>
            <a:endParaRPr lang="en-US" dirty="0"/>
          </a:p>
        </p:txBody>
      </p:sp>
      <p:sp>
        <p:nvSpPr>
          <p:cNvPr id="4" name="Footer Placeholder 5">
            <a:extLst>
              <a:ext uri="{FF2B5EF4-FFF2-40B4-BE49-F238E27FC236}">
                <a16:creationId xmlns:a16="http://schemas.microsoft.com/office/drawing/2014/main" id="{82B5CD53-1AA8-ECB6-ACCC-704A1AA569E0}"/>
              </a:ext>
            </a:extLst>
          </p:cNvPr>
          <p:cNvSpPr>
            <a:spLocks noGrp="1"/>
          </p:cNvSpPr>
          <p:nvPr>
            <p:ph type="ftr" sz="quarter" idx="18"/>
          </p:nvPr>
        </p:nvSpPr>
        <p:spPr>
          <a:xfrm>
            <a:off x="287963" y="6407612"/>
            <a:ext cx="2477765" cy="190475"/>
          </a:xfrm>
        </p:spPr>
        <p:txBody>
          <a:bodyPr/>
          <a:lstStyle/>
          <a:p>
            <a:endParaRPr lang="en-US" dirty="0"/>
          </a:p>
        </p:txBody>
      </p:sp>
      <p:sp>
        <p:nvSpPr>
          <p:cNvPr id="18" name="TextBox 17">
            <a:extLst>
              <a:ext uri="{FF2B5EF4-FFF2-40B4-BE49-F238E27FC236}">
                <a16:creationId xmlns:a16="http://schemas.microsoft.com/office/drawing/2014/main" id="{8426D623-2029-0016-45E4-94F51649B05B}"/>
              </a:ext>
            </a:extLst>
          </p:cNvPr>
          <p:cNvSpPr txBox="1"/>
          <p:nvPr/>
        </p:nvSpPr>
        <p:spPr>
          <a:xfrm>
            <a:off x="167668" y="628938"/>
            <a:ext cx="2038548" cy="369332"/>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en-US" dirty="0">
                <a:solidFill>
                  <a:srgbClr val="002060"/>
                </a:solidFill>
                <a:latin typeface="IBM Plex Sans Light" panose="020B0403050203000203" pitchFamily="34" charset="0"/>
                <a:ea typeface="+mj-ea"/>
                <a:cs typeface="+mj-cs"/>
              </a:rPr>
              <a:t>Core</a:t>
            </a:r>
            <a:r>
              <a:rPr lang="en-US" dirty="0">
                <a:solidFill>
                  <a:srgbClr val="002060"/>
                </a:solidFill>
              </a:rPr>
              <a:t> </a:t>
            </a:r>
            <a:r>
              <a:rPr lang="en-US" dirty="0">
                <a:solidFill>
                  <a:srgbClr val="002060"/>
                </a:solidFill>
                <a:latin typeface="IBM Plex Sans Light" panose="020B0403050203000203" pitchFamily="34" charset="0"/>
                <a:ea typeface="+mj-ea"/>
                <a:cs typeface="+mj-cs"/>
              </a:rPr>
              <a:t>Capabilities</a:t>
            </a:r>
            <a:r>
              <a:rPr lang="en-US" dirty="0">
                <a:solidFill>
                  <a:srgbClr val="002060"/>
                </a:solidFill>
              </a:rPr>
              <a:t> </a:t>
            </a:r>
          </a:p>
        </p:txBody>
      </p:sp>
      <p:pic>
        <p:nvPicPr>
          <p:cNvPr id="26" name="Picture 25" descr="Symbol data source configuration Vector Icons free download in SVG, PNG  Format">
            <a:extLst>
              <a:ext uri="{FF2B5EF4-FFF2-40B4-BE49-F238E27FC236}">
                <a16:creationId xmlns:a16="http://schemas.microsoft.com/office/drawing/2014/main" id="{9A075AF9-7B79-C557-3D65-B68B657368FE}"/>
              </a:ext>
            </a:extLst>
          </p:cNvPr>
          <p:cNvPicPr>
            <a:picLocks noChangeAspect="1"/>
          </p:cNvPicPr>
          <p:nvPr/>
        </p:nvPicPr>
        <p:blipFill>
          <a:blip r:embed="rId3"/>
          <a:stretch>
            <a:fillRect/>
          </a:stretch>
        </p:blipFill>
        <p:spPr>
          <a:xfrm>
            <a:off x="3998414" y="2353939"/>
            <a:ext cx="807077" cy="807077"/>
          </a:xfrm>
          <a:prstGeom prst="rect">
            <a:avLst/>
          </a:prstGeom>
        </p:spPr>
      </p:pic>
      <p:sp>
        <p:nvSpPr>
          <p:cNvPr id="27" name="TextBox 26">
            <a:extLst>
              <a:ext uri="{FF2B5EF4-FFF2-40B4-BE49-F238E27FC236}">
                <a16:creationId xmlns:a16="http://schemas.microsoft.com/office/drawing/2014/main" id="{765FB3EB-0F84-EB53-6C22-1EF3ED4A198C}"/>
              </a:ext>
            </a:extLst>
          </p:cNvPr>
          <p:cNvSpPr txBox="1"/>
          <p:nvPr/>
        </p:nvSpPr>
        <p:spPr>
          <a:xfrm>
            <a:off x="3595903" y="3263017"/>
            <a:ext cx="1811078" cy="800219"/>
          </a:xfrm>
          <a:prstGeom prst="rect">
            <a:avLst/>
          </a:prstGeom>
          <a:noFill/>
        </p:spPr>
        <p:txBody>
          <a:bodyPr wrap="square" rtlCol="0">
            <a:spAutoFit/>
          </a:bodyPr>
          <a:lstStyle/>
          <a:p>
            <a:r>
              <a:rPr lang="en-US" dirty="0"/>
              <a:t>Enterprise Data</a:t>
            </a:r>
          </a:p>
          <a:p>
            <a:r>
              <a:rPr lang="en-US" sz="1400" dirty="0">
                <a:solidFill>
                  <a:schemeClr val="bg1">
                    <a:lumMod val="50000"/>
                  </a:schemeClr>
                </a:solidFill>
              </a:rPr>
              <a:t>From across your organization</a:t>
            </a:r>
          </a:p>
        </p:txBody>
      </p:sp>
      <p:cxnSp>
        <p:nvCxnSpPr>
          <p:cNvPr id="29" name="Straight Arrow Connector 28">
            <a:extLst>
              <a:ext uri="{FF2B5EF4-FFF2-40B4-BE49-F238E27FC236}">
                <a16:creationId xmlns:a16="http://schemas.microsoft.com/office/drawing/2014/main" id="{5D3E37D8-3A0A-BF54-8906-7F7AD5EAC97D}"/>
              </a:ext>
            </a:extLst>
          </p:cNvPr>
          <p:cNvCxnSpPr>
            <a:cxnSpLocks/>
          </p:cNvCxnSpPr>
          <p:nvPr/>
        </p:nvCxnSpPr>
        <p:spPr>
          <a:xfrm>
            <a:off x="5268085" y="2761317"/>
            <a:ext cx="666687" cy="0"/>
          </a:xfrm>
          <a:prstGeom prst="straightConnector1">
            <a:avLst/>
          </a:prstGeom>
          <a:ln w="57150">
            <a:solidFill>
              <a:schemeClr val="tx2">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11C47F03-D53E-E0B1-32AE-F432330981C7}"/>
              </a:ext>
            </a:extLst>
          </p:cNvPr>
          <p:cNvSpPr txBox="1"/>
          <p:nvPr/>
        </p:nvSpPr>
        <p:spPr>
          <a:xfrm>
            <a:off x="2988527" y="3291840"/>
            <a:ext cx="184731" cy="369332"/>
          </a:xfrm>
          <a:prstGeom prst="rect">
            <a:avLst/>
          </a:prstGeom>
          <a:noFill/>
        </p:spPr>
        <p:txBody>
          <a:bodyPr wrap="none" rtlCol="0">
            <a:spAutoFit/>
          </a:bodyPr>
          <a:lstStyle/>
          <a:p>
            <a:endParaRPr lang="en-US" dirty="0"/>
          </a:p>
        </p:txBody>
      </p:sp>
      <p:pic>
        <p:nvPicPr>
          <p:cNvPr id="34" name="Picture 33">
            <a:extLst>
              <a:ext uri="{FF2B5EF4-FFF2-40B4-BE49-F238E27FC236}">
                <a16:creationId xmlns:a16="http://schemas.microsoft.com/office/drawing/2014/main" id="{83510186-B7BB-CF69-C174-7EF07641670F}"/>
              </a:ext>
            </a:extLst>
          </p:cNvPr>
          <p:cNvPicPr>
            <a:picLocks noChangeAspect="1"/>
          </p:cNvPicPr>
          <p:nvPr/>
        </p:nvPicPr>
        <p:blipFill>
          <a:blip r:embed="rId4"/>
          <a:srcRect l="7767" t="7767" r="7767" b="7767"/>
          <a:stretch>
            <a:fillRect/>
          </a:stretch>
        </p:blipFill>
        <p:spPr>
          <a:xfrm>
            <a:off x="6118009" y="2352146"/>
            <a:ext cx="978194" cy="915083"/>
          </a:xfrm>
          <a:prstGeom prst="rect">
            <a:avLst/>
          </a:prstGeom>
        </p:spPr>
      </p:pic>
      <p:sp>
        <p:nvSpPr>
          <p:cNvPr id="35" name="TextBox 34">
            <a:extLst>
              <a:ext uri="{FF2B5EF4-FFF2-40B4-BE49-F238E27FC236}">
                <a16:creationId xmlns:a16="http://schemas.microsoft.com/office/drawing/2014/main" id="{1B503569-9845-CB2B-7677-3FD2A4252B6B}"/>
              </a:ext>
            </a:extLst>
          </p:cNvPr>
          <p:cNvSpPr txBox="1"/>
          <p:nvPr/>
        </p:nvSpPr>
        <p:spPr>
          <a:xfrm>
            <a:off x="5829627" y="3229804"/>
            <a:ext cx="1714648" cy="1292662"/>
          </a:xfrm>
          <a:prstGeom prst="rect">
            <a:avLst/>
          </a:prstGeom>
          <a:noFill/>
        </p:spPr>
        <p:txBody>
          <a:bodyPr wrap="square" rtlCol="0">
            <a:spAutoFit/>
          </a:bodyPr>
          <a:lstStyle/>
          <a:p>
            <a:r>
              <a:rPr lang="en-US" dirty="0">
                <a:solidFill>
                  <a:srgbClr val="2D4EEE"/>
                </a:solidFill>
              </a:rPr>
              <a:t>Watsonx.data intelligence</a:t>
            </a:r>
            <a:r>
              <a:rPr lang="en-US" dirty="0">
                <a:solidFill>
                  <a:srgbClr val="2D4EEE"/>
                </a:solidFill>
                <a:latin typeface="IBM Plex Sans Light" panose="020B0403050203000203" pitchFamily="34" charset="0"/>
              </a:rPr>
              <a:t> </a:t>
            </a:r>
          </a:p>
          <a:p>
            <a:r>
              <a:rPr lang="en-US" sz="1400" dirty="0">
                <a:solidFill>
                  <a:schemeClr val="bg1">
                    <a:lumMod val="50000"/>
                  </a:schemeClr>
                </a:solidFill>
              </a:rPr>
              <a:t>Unifies and understands your data </a:t>
            </a:r>
          </a:p>
        </p:txBody>
      </p:sp>
      <p:pic>
        <p:nvPicPr>
          <p:cNvPr id="36" name="Picture 35" descr="Data privacy, Black pictogram">
            <a:extLst>
              <a:ext uri="{FF2B5EF4-FFF2-40B4-BE49-F238E27FC236}">
                <a16:creationId xmlns:a16="http://schemas.microsoft.com/office/drawing/2014/main" id="{687CA0D0-A77D-5733-C30F-17C775CD88D6}"/>
              </a:ext>
            </a:extLst>
          </p:cNvPr>
          <p:cNvPicPr>
            <a:picLocks noChangeAspect="1"/>
          </p:cNvPicPr>
          <p:nvPr/>
        </p:nvPicPr>
        <p:blipFill>
          <a:blip r:embed="rId5"/>
          <a:srcRect/>
          <a:stretch/>
        </p:blipFill>
        <p:spPr>
          <a:xfrm>
            <a:off x="8136426" y="2353939"/>
            <a:ext cx="955216" cy="955216"/>
          </a:xfrm>
          <a:prstGeom prst="rect">
            <a:avLst/>
          </a:prstGeom>
        </p:spPr>
      </p:pic>
      <p:cxnSp>
        <p:nvCxnSpPr>
          <p:cNvPr id="37" name="Straight Arrow Connector 36">
            <a:extLst>
              <a:ext uri="{FF2B5EF4-FFF2-40B4-BE49-F238E27FC236}">
                <a16:creationId xmlns:a16="http://schemas.microsoft.com/office/drawing/2014/main" id="{FBC1C274-BE2E-421F-29F4-7B03FA12CED3}"/>
              </a:ext>
            </a:extLst>
          </p:cNvPr>
          <p:cNvCxnSpPr>
            <a:cxnSpLocks/>
          </p:cNvCxnSpPr>
          <p:nvPr/>
        </p:nvCxnSpPr>
        <p:spPr>
          <a:xfrm>
            <a:off x="7264999" y="2796739"/>
            <a:ext cx="666687" cy="0"/>
          </a:xfrm>
          <a:prstGeom prst="straightConnector1">
            <a:avLst/>
          </a:prstGeom>
          <a:ln w="57150">
            <a:solidFill>
              <a:schemeClr val="tx2">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D42B9BA2-11FA-337F-C1F3-621B22829BD8}"/>
              </a:ext>
            </a:extLst>
          </p:cNvPr>
          <p:cNvSpPr txBox="1"/>
          <p:nvPr/>
        </p:nvSpPr>
        <p:spPr>
          <a:xfrm>
            <a:off x="7840636" y="3254281"/>
            <a:ext cx="1748017" cy="800219"/>
          </a:xfrm>
          <a:prstGeom prst="rect">
            <a:avLst/>
          </a:prstGeom>
          <a:noFill/>
        </p:spPr>
        <p:txBody>
          <a:bodyPr wrap="square" rtlCol="0">
            <a:spAutoFit/>
          </a:bodyPr>
          <a:lstStyle/>
          <a:p>
            <a:r>
              <a:rPr lang="en-US" dirty="0"/>
              <a:t>Trusted Context</a:t>
            </a:r>
            <a:endParaRPr lang="en-US" dirty="0">
              <a:latin typeface="IBM Plex Sans Light" panose="020B0403050203000203" pitchFamily="34" charset="0"/>
            </a:endParaRPr>
          </a:p>
          <a:p>
            <a:r>
              <a:rPr lang="en-US" sz="1400" dirty="0">
                <a:solidFill>
                  <a:schemeClr val="bg1">
                    <a:lumMod val="50000"/>
                  </a:schemeClr>
                </a:solidFill>
              </a:rPr>
              <a:t>Meaning, lineage, ownership, quality </a:t>
            </a:r>
          </a:p>
        </p:txBody>
      </p:sp>
      <p:cxnSp>
        <p:nvCxnSpPr>
          <p:cNvPr id="39" name="Straight Arrow Connector 38">
            <a:extLst>
              <a:ext uri="{FF2B5EF4-FFF2-40B4-BE49-F238E27FC236}">
                <a16:creationId xmlns:a16="http://schemas.microsoft.com/office/drawing/2014/main" id="{EEBD4964-0B63-E6B8-39C0-1E64EE4AFEDB}"/>
              </a:ext>
            </a:extLst>
          </p:cNvPr>
          <p:cNvCxnSpPr>
            <a:cxnSpLocks/>
          </p:cNvCxnSpPr>
          <p:nvPr/>
        </p:nvCxnSpPr>
        <p:spPr>
          <a:xfrm>
            <a:off x="9514118" y="2779211"/>
            <a:ext cx="666687" cy="0"/>
          </a:xfrm>
          <a:prstGeom prst="straightConnector1">
            <a:avLst/>
          </a:prstGeom>
          <a:ln w="57150">
            <a:solidFill>
              <a:schemeClr val="tx2">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pic>
        <p:nvPicPr>
          <p:cNvPr id="40" name="Picture 39">
            <a:extLst>
              <a:ext uri="{FF2B5EF4-FFF2-40B4-BE49-F238E27FC236}">
                <a16:creationId xmlns:a16="http://schemas.microsoft.com/office/drawing/2014/main" id="{597507C0-DFC2-BE52-D89B-B7490143C865}"/>
              </a:ext>
            </a:extLst>
          </p:cNvPr>
          <p:cNvPicPr>
            <a:picLocks noChangeAspect="1"/>
          </p:cNvPicPr>
          <p:nvPr/>
        </p:nvPicPr>
        <p:blipFill>
          <a:blip r:embed="rId6"/>
          <a:stretch/>
        </p:blipFill>
        <p:spPr>
          <a:xfrm>
            <a:off x="10364042" y="2353939"/>
            <a:ext cx="1075061" cy="1075061"/>
          </a:xfrm>
          <a:prstGeom prst="rect">
            <a:avLst/>
          </a:prstGeom>
        </p:spPr>
      </p:pic>
      <p:sp>
        <p:nvSpPr>
          <p:cNvPr id="41" name="TextBox 40">
            <a:extLst>
              <a:ext uri="{FF2B5EF4-FFF2-40B4-BE49-F238E27FC236}">
                <a16:creationId xmlns:a16="http://schemas.microsoft.com/office/drawing/2014/main" id="{D31C7E43-9BD0-CF80-D596-FE976AE43E4D}"/>
              </a:ext>
            </a:extLst>
          </p:cNvPr>
          <p:cNvSpPr txBox="1"/>
          <p:nvPr/>
        </p:nvSpPr>
        <p:spPr>
          <a:xfrm>
            <a:off x="10180805" y="3248383"/>
            <a:ext cx="1624198" cy="800219"/>
          </a:xfrm>
          <a:prstGeom prst="rect">
            <a:avLst/>
          </a:prstGeom>
          <a:noFill/>
        </p:spPr>
        <p:txBody>
          <a:bodyPr wrap="square" rtlCol="0">
            <a:spAutoFit/>
          </a:bodyPr>
          <a:lstStyle/>
          <a:p>
            <a:r>
              <a:rPr lang="en-US" dirty="0"/>
              <a:t>Humans + AI</a:t>
            </a:r>
          </a:p>
          <a:p>
            <a:r>
              <a:rPr lang="en-US" sz="1400" dirty="0">
                <a:solidFill>
                  <a:schemeClr val="bg1">
                    <a:lumMod val="50000"/>
                  </a:schemeClr>
                </a:solidFill>
              </a:rPr>
              <a:t>Make better faster decisions</a:t>
            </a:r>
          </a:p>
        </p:txBody>
      </p:sp>
      <p:pic>
        <p:nvPicPr>
          <p:cNvPr id="47" name="Picture 46">
            <a:extLst>
              <a:ext uri="{FF2B5EF4-FFF2-40B4-BE49-F238E27FC236}">
                <a16:creationId xmlns:a16="http://schemas.microsoft.com/office/drawing/2014/main" id="{ACDAECFF-F25F-FEFF-5CBE-A04FB7E33D61}"/>
              </a:ext>
            </a:extLst>
          </p:cNvPr>
          <p:cNvPicPr>
            <a:picLocks noChangeAspect="1"/>
          </p:cNvPicPr>
          <p:nvPr/>
        </p:nvPicPr>
        <p:blipFill>
          <a:blip r:embed="rId7"/>
          <a:srcRect b="72826"/>
          <a:stretch>
            <a:fillRect/>
          </a:stretch>
        </p:blipFill>
        <p:spPr>
          <a:xfrm>
            <a:off x="313635" y="1503122"/>
            <a:ext cx="525751" cy="489221"/>
          </a:xfrm>
          <a:prstGeom prst="rect">
            <a:avLst/>
          </a:prstGeom>
        </p:spPr>
      </p:pic>
      <p:pic>
        <p:nvPicPr>
          <p:cNvPr id="48" name="Picture 47">
            <a:extLst>
              <a:ext uri="{FF2B5EF4-FFF2-40B4-BE49-F238E27FC236}">
                <a16:creationId xmlns:a16="http://schemas.microsoft.com/office/drawing/2014/main" id="{4C69B3F8-20CD-32A5-C133-9AF0342EC42A}"/>
              </a:ext>
            </a:extLst>
          </p:cNvPr>
          <p:cNvPicPr>
            <a:picLocks noChangeAspect="1"/>
          </p:cNvPicPr>
          <p:nvPr/>
        </p:nvPicPr>
        <p:blipFill>
          <a:blip r:embed="rId8"/>
          <a:srcRect t="34996" r="5930" b="38734"/>
          <a:stretch>
            <a:fillRect/>
          </a:stretch>
        </p:blipFill>
        <p:spPr>
          <a:xfrm>
            <a:off x="287963" y="2812340"/>
            <a:ext cx="567715" cy="542898"/>
          </a:xfrm>
          <a:prstGeom prst="rect">
            <a:avLst/>
          </a:prstGeom>
        </p:spPr>
      </p:pic>
      <p:pic>
        <p:nvPicPr>
          <p:cNvPr id="49" name="Picture 48">
            <a:extLst>
              <a:ext uri="{FF2B5EF4-FFF2-40B4-BE49-F238E27FC236}">
                <a16:creationId xmlns:a16="http://schemas.microsoft.com/office/drawing/2014/main" id="{F0CEBDCB-A77A-6F7C-9111-B86492A6D5C2}"/>
              </a:ext>
            </a:extLst>
          </p:cNvPr>
          <p:cNvPicPr>
            <a:picLocks noChangeAspect="1"/>
          </p:cNvPicPr>
          <p:nvPr/>
        </p:nvPicPr>
        <p:blipFill>
          <a:blip r:embed="rId8"/>
          <a:srcRect t="72655" b="2465"/>
          <a:stretch>
            <a:fillRect/>
          </a:stretch>
        </p:blipFill>
        <p:spPr>
          <a:xfrm>
            <a:off x="324407" y="4303524"/>
            <a:ext cx="637241" cy="542899"/>
          </a:xfrm>
          <a:prstGeom prst="rect">
            <a:avLst/>
          </a:prstGeom>
        </p:spPr>
      </p:pic>
      <p:sp>
        <p:nvSpPr>
          <p:cNvPr id="50" name="TextBox 49">
            <a:extLst>
              <a:ext uri="{FF2B5EF4-FFF2-40B4-BE49-F238E27FC236}">
                <a16:creationId xmlns:a16="http://schemas.microsoft.com/office/drawing/2014/main" id="{54FD2A44-1F56-D023-D34A-9AC67690E52A}"/>
              </a:ext>
            </a:extLst>
          </p:cNvPr>
          <p:cNvSpPr txBox="1"/>
          <p:nvPr/>
        </p:nvSpPr>
        <p:spPr>
          <a:xfrm>
            <a:off x="839386" y="1510196"/>
            <a:ext cx="1811078" cy="646331"/>
          </a:xfrm>
          <a:prstGeom prst="rect">
            <a:avLst/>
          </a:prstGeom>
          <a:noFill/>
        </p:spPr>
        <p:txBody>
          <a:bodyPr wrap="square" rtlCol="0">
            <a:spAutoFit/>
          </a:bodyPr>
          <a:lstStyle/>
          <a:p>
            <a:r>
              <a:rPr lang="en-US" sz="1200" dirty="0"/>
              <a:t>IBM Knowledge Catalog</a:t>
            </a:r>
          </a:p>
          <a:p>
            <a:r>
              <a:rPr lang="en-US" sz="1200" dirty="0">
                <a:solidFill>
                  <a:schemeClr val="bg1">
                    <a:lumMod val="50000"/>
                  </a:schemeClr>
                </a:solidFill>
              </a:rPr>
              <a:t>Find and understand your data assets</a:t>
            </a:r>
          </a:p>
        </p:txBody>
      </p:sp>
      <p:sp>
        <p:nvSpPr>
          <p:cNvPr id="52" name="TextBox 51">
            <a:extLst>
              <a:ext uri="{FF2B5EF4-FFF2-40B4-BE49-F238E27FC236}">
                <a16:creationId xmlns:a16="http://schemas.microsoft.com/office/drawing/2014/main" id="{D926C6EB-F5E0-BFD5-594B-38BE514D4584}"/>
              </a:ext>
            </a:extLst>
          </p:cNvPr>
          <p:cNvSpPr txBox="1"/>
          <p:nvPr/>
        </p:nvSpPr>
        <p:spPr>
          <a:xfrm>
            <a:off x="853045" y="2814305"/>
            <a:ext cx="1811078" cy="830997"/>
          </a:xfrm>
          <a:prstGeom prst="rect">
            <a:avLst/>
          </a:prstGeom>
          <a:noFill/>
        </p:spPr>
        <p:txBody>
          <a:bodyPr wrap="square" rtlCol="0">
            <a:spAutoFit/>
          </a:bodyPr>
          <a:lstStyle/>
          <a:p>
            <a:r>
              <a:rPr lang="en-US" sz="1200" dirty="0"/>
              <a:t>Manta</a:t>
            </a:r>
          </a:p>
          <a:p>
            <a:r>
              <a:rPr lang="en-US" sz="1200" dirty="0">
                <a:solidFill>
                  <a:schemeClr val="bg1">
                    <a:lumMod val="50000"/>
                  </a:schemeClr>
                </a:solidFill>
              </a:rPr>
              <a:t>Provides data lineage and understand where data originated</a:t>
            </a:r>
          </a:p>
        </p:txBody>
      </p:sp>
      <p:sp>
        <p:nvSpPr>
          <p:cNvPr id="53" name="TextBox 52">
            <a:extLst>
              <a:ext uri="{FF2B5EF4-FFF2-40B4-BE49-F238E27FC236}">
                <a16:creationId xmlns:a16="http://schemas.microsoft.com/office/drawing/2014/main" id="{697419DE-B52A-8126-E084-3B1CDD8EDC1A}"/>
              </a:ext>
            </a:extLst>
          </p:cNvPr>
          <p:cNvSpPr txBox="1"/>
          <p:nvPr/>
        </p:nvSpPr>
        <p:spPr>
          <a:xfrm>
            <a:off x="853045" y="4236496"/>
            <a:ext cx="1811078" cy="646331"/>
          </a:xfrm>
          <a:prstGeom prst="rect">
            <a:avLst/>
          </a:prstGeom>
          <a:noFill/>
        </p:spPr>
        <p:txBody>
          <a:bodyPr wrap="square" rtlCol="0">
            <a:spAutoFit/>
          </a:bodyPr>
          <a:lstStyle/>
          <a:p>
            <a:r>
              <a:rPr lang="en-US" sz="1200" dirty="0"/>
              <a:t>Data Product Hub</a:t>
            </a:r>
          </a:p>
          <a:p>
            <a:r>
              <a:rPr lang="en-US" sz="1200" dirty="0">
                <a:solidFill>
                  <a:schemeClr val="bg1">
                    <a:lumMod val="50000"/>
                  </a:schemeClr>
                </a:solidFill>
              </a:rPr>
              <a:t>Package and share trusted data products </a:t>
            </a:r>
          </a:p>
        </p:txBody>
      </p:sp>
      <p:sp>
        <p:nvSpPr>
          <p:cNvPr id="56" name="Rounded Rectangle 55">
            <a:extLst>
              <a:ext uri="{FF2B5EF4-FFF2-40B4-BE49-F238E27FC236}">
                <a16:creationId xmlns:a16="http://schemas.microsoft.com/office/drawing/2014/main" id="{5E45F1C9-87B9-966B-C9D7-A3B4621EF92E}"/>
              </a:ext>
            </a:extLst>
          </p:cNvPr>
          <p:cNvSpPr/>
          <p:nvPr/>
        </p:nvSpPr>
        <p:spPr>
          <a:xfrm rot="16200000">
            <a:off x="7172019" y="1435292"/>
            <a:ext cx="1056869" cy="820909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5" name="Picture 54" descr="Idea, Black pictogram">
            <a:extLst>
              <a:ext uri="{FF2B5EF4-FFF2-40B4-BE49-F238E27FC236}">
                <a16:creationId xmlns:a16="http://schemas.microsoft.com/office/drawing/2014/main" id="{20D0E519-F49B-DE39-70BA-BBAB3B1B23DA}"/>
              </a:ext>
            </a:extLst>
          </p:cNvPr>
          <p:cNvPicPr>
            <a:picLocks noChangeAspect="1"/>
          </p:cNvPicPr>
          <p:nvPr/>
        </p:nvPicPr>
        <p:blipFill>
          <a:blip r:embed="rId9"/>
          <a:srcRect/>
          <a:stretch/>
        </p:blipFill>
        <p:spPr>
          <a:xfrm>
            <a:off x="3757712" y="5123710"/>
            <a:ext cx="800219" cy="800219"/>
          </a:xfrm>
          <a:prstGeom prst="rect">
            <a:avLst/>
          </a:prstGeom>
        </p:spPr>
      </p:pic>
      <p:sp>
        <p:nvSpPr>
          <p:cNvPr id="54" name="TextBox 53">
            <a:extLst>
              <a:ext uri="{FF2B5EF4-FFF2-40B4-BE49-F238E27FC236}">
                <a16:creationId xmlns:a16="http://schemas.microsoft.com/office/drawing/2014/main" id="{339FE78D-ACC7-C928-AFFA-6D8D0CD521A4}"/>
              </a:ext>
            </a:extLst>
          </p:cNvPr>
          <p:cNvSpPr txBox="1"/>
          <p:nvPr/>
        </p:nvSpPr>
        <p:spPr>
          <a:xfrm>
            <a:off x="4719738" y="5123711"/>
            <a:ext cx="6786475" cy="800219"/>
          </a:xfrm>
          <a:prstGeom prst="rect">
            <a:avLst/>
          </a:prstGeom>
          <a:noFill/>
        </p:spPr>
        <p:txBody>
          <a:bodyPr wrap="square" rtlCol="0">
            <a:spAutoFit/>
          </a:bodyPr>
          <a:lstStyle/>
          <a:p>
            <a:r>
              <a:rPr lang="en-US" dirty="0"/>
              <a:t>Metadata provides context.</a:t>
            </a:r>
          </a:p>
          <a:p>
            <a:r>
              <a:rPr lang="en-US" sz="1400" dirty="0">
                <a:solidFill>
                  <a:schemeClr val="bg1">
                    <a:lumMod val="50000"/>
                  </a:schemeClr>
                </a:solidFill>
              </a:rPr>
              <a:t>Helps us understand what data means, who owns it, where it came from, and whether we can trust it. </a:t>
            </a:r>
          </a:p>
        </p:txBody>
      </p:sp>
    </p:spTree>
    <p:extLst>
      <p:ext uri="{BB962C8B-B14F-4D97-AF65-F5344CB8AC3E}">
        <p14:creationId xmlns:p14="http://schemas.microsoft.com/office/powerpoint/2010/main" val="980564431"/>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descr="Blue 10 half slide background">
            <a:extLst>
              <a:ext uri="{FF2B5EF4-FFF2-40B4-BE49-F238E27FC236}">
                <a16:creationId xmlns:a16="http://schemas.microsoft.com/office/drawing/2014/main" id="{B035D47D-5EA8-F30E-59BE-8B5BEEB10315}"/>
              </a:ext>
            </a:extLst>
          </p:cNvPr>
          <p:cNvSpPr/>
          <p:nvPr/>
        </p:nvSpPr>
        <p:spPr bwMode="auto">
          <a:xfrm>
            <a:off x="0" y="447"/>
            <a:ext cx="12192000" cy="3047603"/>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4" tIns="45714" rIns="45714" bIns="45714" numCol="1" rtlCol="0" anchor="t" anchorCtr="0" compatLnSpc="1">
            <a:prstTxWarp prst="textNoShape">
              <a:avLst/>
            </a:prstTxWarp>
          </a:bodyPr>
          <a:lstStyle/>
          <a:p>
            <a:pPr defTabSz="457109" fontAlgn="base">
              <a:spcBef>
                <a:spcPct val="0"/>
              </a:spcBef>
              <a:spcAft>
                <a:spcPct val="0"/>
              </a:spcAft>
            </a:pPr>
            <a:endParaRPr lang="en-US" sz="700" dirty="0">
              <a:solidFill>
                <a:schemeClr val="bg1"/>
              </a:solidFill>
            </a:endParaRPr>
          </a:p>
        </p:txBody>
      </p:sp>
      <p:sp>
        <p:nvSpPr>
          <p:cNvPr id="2" name="Title 1">
            <a:extLst>
              <a:ext uri="{FF2B5EF4-FFF2-40B4-BE49-F238E27FC236}">
                <a16:creationId xmlns:a16="http://schemas.microsoft.com/office/drawing/2014/main" id="{79B7E72D-2E58-5FA9-35AF-EA3BF67E2249}"/>
              </a:ext>
            </a:extLst>
          </p:cNvPr>
          <p:cNvSpPr>
            <a:spLocks noGrp="1"/>
          </p:cNvSpPr>
          <p:nvPr>
            <p:ph type="title"/>
          </p:nvPr>
        </p:nvSpPr>
        <p:spPr>
          <a:xfrm>
            <a:off x="287963" y="192446"/>
            <a:ext cx="9920908" cy="2104814"/>
          </a:xfrm>
        </p:spPr>
        <p:txBody>
          <a:bodyPr>
            <a:noAutofit/>
          </a:bodyPr>
          <a:lstStyle/>
          <a:p>
            <a:r>
              <a:rPr lang="en-US" sz="5400" dirty="0">
                <a:latin typeface="IBM Plex Sans Light" panose="020B0403050203000203" pitchFamily="34" charset="0"/>
              </a:rPr>
              <a:t>Creating an intelligent metadata foundation</a:t>
            </a:r>
          </a:p>
        </p:txBody>
      </p:sp>
      <p:sp>
        <p:nvSpPr>
          <p:cNvPr id="7" name="Footer Placeholder 6">
            <a:extLst>
              <a:ext uri="{FF2B5EF4-FFF2-40B4-BE49-F238E27FC236}">
                <a16:creationId xmlns:a16="http://schemas.microsoft.com/office/drawing/2014/main" id="{BF5069CF-12C8-5065-5D51-A2D4F896DB63}"/>
              </a:ext>
            </a:extLst>
          </p:cNvPr>
          <p:cNvSpPr>
            <a:spLocks noGrp="1"/>
          </p:cNvSpPr>
          <p:nvPr>
            <p:ph type="ftr" sz="quarter" idx="18"/>
          </p:nvPr>
        </p:nvSpPr>
        <p:spPr>
          <a:xfrm>
            <a:off x="287963" y="6407612"/>
            <a:ext cx="2477765" cy="190475"/>
          </a:xfrm>
        </p:spPr>
        <p:txBody>
          <a:bodyPr/>
          <a:lstStyle/>
          <a:p>
            <a:endParaRPr lang="en-US" dirty="0"/>
          </a:p>
        </p:txBody>
      </p:sp>
      <p:sp>
        <p:nvSpPr>
          <p:cNvPr id="9" name="Slide Number Placeholder 2">
            <a:extLst>
              <a:ext uri="{FF2B5EF4-FFF2-40B4-BE49-F238E27FC236}">
                <a16:creationId xmlns:a16="http://schemas.microsoft.com/office/drawing/2014/main" id="{E2F33609-2C92-880F-C9F2-F22D27E3CF14}"/>
              </a:ext>
            </a:extLst>
          </p:cNvPr>
          <p:cNvSpPr>
            <a:spLocks noGrp="1"/>
          </p:cNvSpPr>
          <p:nvPr>
            <p:ph type="sldNum" sz="quarter" idx="4"/>
          </p:nvPr>
        </p:nvSpPr>
        <p:spPr>
          <a:xfrm>
            <a:off x="11782872" y="6475365"/>
            <a:ext cx="121828" cy="123111"/>
          </a:xfrm>
        </p:spPr>
        <p:txBody>
          <a:bodyPr/>
          <a:lstStyle/>
          <a:p>
            <a:fld id="{86CB4B4D-7CA3-9044-876B-883B54F8677D}" type="slidenum">
              <a:rPr lang="en-US" smtClean="0"/>
              <a:pPr/>
              <a:t>3</a:t>
            </a:fld>
            <a:endParaRPr lang="en-US" dirty="0"/>
          </a:p>
        </p:txBody>
      </p:sp>
      <p:sp>
        <p:nvSpPr>
          <p:cNvPr id="3" name="Text Placeholder 2">
            <a:extLst>
              <a:ext uri="{FF2B5EF4-FFF2-40B4-BE49-F238E27FC236}">
                <a16:creationId xmlns:a16="http://schemas.microsoft.com/office/drawing/2014/main" id="{1F06A4A6-BFA6-4140-B1ED-1F00BB0D2D2F}"/>
              </a:ext>
            </a:extLst>
          </p:cNvPr>
          <p:cNvSpPr>
            <a:spLocks noGrp="1"/>
          </p:cNvSpPr>
          <p:nvPr>
            <p:ph type="body" sz="quarter" idx="11"/>
          </p:nvPr>
        </p:nvSpPr>
        <p:spPr>
          <a:xfrm>
            <a:off x="288095" y="3337731"/>
            <a:ext cx="2474590" cy="2759509"/>
          </a:xfrm>
        </p:spPr>
        <p:txBody>
          <a:bodyPr/>
          <a:lstStyle/>
          <a:p>
            <a:pPr marL="0" indent="0" algn="ctr">
              <a:lnSpc>
                <a:spcPct val="150000"/>
              </a:lnSpc>
              <a:buNone/>
            </a:pPr>
            <a:r>
              <a:rPr lang="en-US" sz="3399" dirty="0">
                <a:solidFill>
                  <a:srgbClr val="0F62FE"/>
                </a:solidFill>
              </a:rPr>
              <a:t>Discover</a:t>
            </a:r>
          </a:p>
          <a:p>
            <a:pPr marL="0" indent="0" algn="ctr">
              <a:buNone/>
            </a:pPr>
            <a:r>
              <a:rPr lang="en-US" dirty="0"/>
              <a:t>Find trusted data quickly</a:t>
            </a:r>
          </a:p>
          <a:p>
            <a:pPr lvl="2"/>
            <a:endParaRPr lang="en-US" dirty="0"/>
          </a:p>
          <a:p>
            <a:pPr lvl="2"/>
            <a:r>
              <a:rPr lang="en-US" dirty="0"/>
              <a:t>Natural language search</a:t>
            </a:r>
          </a:p>
          <a:p>
            <a:pPr marL="127991" lvl="2" indent="0">
              <a:buNone/>
            </a:pPr>
            <a:endParaRPr lang="en-US" dirty="0"/>
          </a:p>
          <a:p>
            <a:pPr lvl="2"/>
            <a:r>
              <a:rPr lang="en-US" dirty="0"/>
              <a:t>Data cataloging</a:t>
            </a:r>
          </a:p>
          <a:p>
            <a:pPr marL="127991" lvl="2" indent="0">
              <a:buNone/>
            </a:pPr>
            <a:endParaRPr lang="en-US" dirty="0"/>
          </a:p>
          <a:p>
            <a:pPr lvl="2"/>
            <a:r>
              <a:rPr lang="en-US" dirty="0"/>
              <a:t>Business glossary</a:t>
            </a:r>
          </a:p>
        </p:txBody>
      </p:sp>
      <p:cxnSp>
        <p:nvCxnSpPr>
          <p:cNvPr id="16" name="Straight Connector 15" descr="Vertical column divider">
            <a:extLst>
              <a:ext uri="{FF2B5EF4-FFF2-40B4-BE49-F238E27FC236}">
                <a16:creationId xmlns:a16="http://schemas.microsoft.com/office/drawing/2014/main" id="{7BD7A910-E9B1-9AA2-F18F-4ACFA43F830D}"/>
              </a:ext>
            </a:extLst>
          </p:cNvPr>
          <p:cNvCxnSpPr>
            <a:cxnSpLocks/>
          </p:cNvCxnSpPr>
          <p:nvPr/>
        </p:nvCxnSpPr>
        <p:spPr bwMode="auto">
          <a:xfrm>
            <a:off x="3047603" y="3248915"/>
            <a:ext cx="0" cy="284832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6" descr="Vertical column divider">
            <a:extLst>
              <a:ext uri="{FF2B5EF4-FFF2-40B4-BE49-F238E27FC236}">
                <a16:creationId xmlns:a16="http://schemas.microsoft.com/office/drawing/2014/main" id="{995CDAE1-6633-BC46-9535-4F81A9B587F8}"/>
              </a:ext>
            </a:extLst>
          </p:cNvPr>
          <p:cNvCxnSpPr>
            <a:cxnSpLocks/>
          </p:cNvCxnSpPr>
          <p:nvPr/>
        </p:nvCxnSpPr>
        <p:spPr bwMode="auto">
          <a:xfrm>
            <a:off x="6095270" y="3250334"/>
            <a:ext cx="0" cy="284690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7C884D65-8EC9-0EA0-AE21-08F894D315AF}"/>
              </a:ext>
            </a:extLst>
          </p:cNvPr>
          <p:cNvCxnSpPr>
            <a:cxnSpLocks/>
          </p:cNvCxnSpPr>
          <p:nvPr/>
        </p:nvCxnSpPr>
        <p:spPr bwMode="auto">
          <a:xfrm>
            <a:off x="9142810" y="3248915"/>
            <a:ext cx="0" cy="284832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Text Placeholder 2">
            <a:extLst>
              <a:ext uri="{FF2B5EF4-FFF2-40B4-BE49-F238E27FC236}">
                <a16:creationId xmlns:a16="http://schemas.microsoft.com/office/drawing/2014/main" id="{437181E7-5E4D-A5AB-136E-D755BE30CF74}"/>
              </a:ext>
            </a:extLst>
          </p:cNvPr>
          <p:cNvSpPr>
            <a:spLocks noGrp="1"/>
          </p:cNvSpPr>
          <p:nvPr>
            <p:ph type="body" sz="quarter" idx="12"/>
          </p:nvPr>
        </p:nvSpPr>
        <p:spPr/>
        <p:txBody>
          <a:bodyPr/>
          <a:lstStyle/>
          <a:p>
            <a:pPr marL="0" indent="0" algn="ctr">
              <a:lnSpc>
                <a:spcPct val="150000"/>
              </a:lnSpc>
              <a:buNone/>
            </a:pPr>
            <a:r>
              <a:rPr lang="en-US" sz="3399" dirty="0">
                <a:solidFill>
                  <a:srgbClr val="0F62FE"/>
                </a:solidFill>
              </a:rPr>
              <a:t>Govern</a:t>
            </a:r>
          </a:p>
          <a:p>
            <a:pPr marL="0" indent="0" algn="ctr">
              <a:buNone/>
            </a:pPr>
            <a:r>
              <a:rPr lang="en-US" dirty="0"/>
              <a:t>Ensure security &amp; compliance</a:t>
            </a:r>
          </a:p>
          <a:p>
            <a:pPr lvl="2"/>
            <a:endParaRPr lang="en-US" dirty="0"/>
          </a:p>
          <a:p>
            <a:pPr lvl="2"/>
            <a:r>
              <a:rPr lang="en-US" dirty="0"/>
              <a:t>Policy management </a:t>
            </a:r>
          </a:p>
          <a:p>
            <a:pPr marL="127991" lvl="2" indent="0">
              <a:buNone/>
            </a:pPr>
            <a:endParaRPr lang="en-US" dirty="0"/>
          </a:p>
          <a:p>
            <a:pPr lvl="2"/>
            <a:r>
              <a:rPr lang="en-US" dirty="0"/>
              <a:t>Data classification</a:t>
            </a:r>
          </a:p>
          <a:p>
            <a:pPr marL="127991" lvl="2" indent="0">
              <a:buNone/>
            </a:pPr>
            <a:endParaRPr lang="en-US" dirty="0"/>
          </a:p>
          <a:p>
            <a:pPr lvl="2"/>
            <a:r>
              <a:rPr lang="en-US" dirty="0"/>
              <a:t>Access controls</a:t>
            </a:r>
          </a:p>
        </p:txBody>
      </p:sp>
      <p:sp>
        <p:nvSpPr>
          <p:cNvPr id="14" name="Text Placeholder 2">
            <a:extLst>
              <a:ext uri="{FF2B5EF4-FFF2-40B4-BE49-F238E27FC236}">
                <a16:creationId xmlns:a16="http://schemas.microsoft.com/office/drawing/2014/main" id="{4F95F5C5-468F-9948-5D44-DB98377F47DF}"/>
              </a:ext>
            </a:extLst>
          </p:cNvPr>
          <p:cNvSpPr>
            <a:spLocks noGrp="1"/>
          </p:cNvSpPr>
          <p:nvPr>
            <p:ph type="body" sz="quarter" idx="13"/>
          </p:nvPr>
        </p:nvSpPr>
        <p:spPr>
          <a:xfrm>
            <a:off x="6389688" y="3336925"/>
            <a:ext cx="2473325" cy="2760663"/>
          </a:xfrm>
        </p:spPr>
        <p:txBody>
          <a:bodyPr/>
          <a:lstStyle/>
          <a:p>
            <a:pPr marL="0" indent="0" algn="ctr">
              <a:lnSpc>
                <a:spcPct val="150000"/>
              </a:lnSpc>
              <a:buNone/>
            </a:pPr>
            <a:r>
              <a:rPr lang="en-US" sz="3399" dirty="0">
                <a:solidFill>
                  <a:srgbClr val="0F62FE"/>
                </a:solidFill>
              </a:rPr>
              <a:t>Understand</a:t>
            </a:r>
          </a:p>
          <a:p>
            <a:pPr marL="0" indent="0" algn="ctr">
              <a:buNone/>
            </a:pPr>
            <a:r>
              <a:rPr lang="en-US" dirty="0"/>
              <a:t>Gain visibility into data lineage</a:t>
            </a:r>
          </a:p>
          <a:p>
            <a:pPr lvl="2"/>
            <a:endParaRPr lang="en-US" dirty="0"/>
          </a:p>
          <a:p>
            <a:pPr lvl="2"/>
            <a:r>
              <a:rPr lang="en-US" dirty="0"/>
              <a:t>Track data flow </a:t>
            </a:r>
          </a:p>
          <a:p>
            <a:pPr marL="127991" lvl="2" indent="0">
              <a:buNone/>
            </a:pPr>
            <a:endParaRPr lang="en-US" dirty="0"/>
          </a:p>
          <a:p>
            <a:pPr lvl="2"/>
            <a:r>
              <a:rPr lang="en-US" dirty="0"/>
              <a:t>Impact analysis</a:t>
            </a:r>
          </a:p>
          <a:p>
            <a:pPr marL="127991" lvl="2" indent="0">
              <a:buNone/>
            </a:pPr>
            <a:endParaRPr lang="en-US" dirty="0"/>
          </a:p>
          <a:p>
            <a:pPr lvl="2"/>
            <a:r>
              <a:rPr lang="en-US" dirty="0"/>
              <a:t>Root cause analysis</a:t>
            </a:r>
          </a:p>
        </p:txBody>
      </p:sp>
      <p:sp>
        <p:nvSpPr>
          <p:cNvPr id="19" name="Text Placeholder 2">
            <a:extLst>
              <a:ext uri="{FF2B5EF4-FFF2-40B4-BE49-F238E27FC236}">
                <a16:creationId xmlns:a16="http://schemas.microsoft.com/office/drawing/2014/main" id="{87F39FF0-742E-EF7E-2D9C-7D979FF48B89}"/>
              </a:ext>
            </a:extLst>
          </p:cNvPr>
          <p:cNvSpPr>
            <a:spLocks noGrp="1"/>
          </p:cNvSpPr>
          <p:nvPr>
            <p:ph type="body" sz="quarter" idx="14"/>
          </p:nvPr>
        </p:nvSpPr>
        <p:spPr>
          <a:xfrm>
            <a:off x="9428163" y="3336925"/>
            <a:ext cx="2474912" cy="2760663"/>
          </a:xfrm>
        </p:spPr>
        <p:txBody>
          <a:bodyPr/>
          <a:lstStyle/>
          <a:p>
            <a:pPr marL="0" indent="0" algn="ctr">
              <a:lnSpc>
                <a:spcPct val="150000"/>
              </a:lnSpc>
              <a:buNone/>
            </a:pPr>
            <a:r>
              <a:rPr lang="en-US" sz="3399" dirty="0">
                <a:solidFill>
                  <a:srgbClr val="0F62FE"/>
                </a:solidFill>
              </a:rPr>
              <a:t>Reuse</a:t>
            </a:r>
          </a:p>
          <a:p>
            <a:pPr marL="0" indent="0" algn="ctr">
              <a:buNone/>
            </a:pPr>
            <a:r>
              <a:rPr lang="en-US" dirty="0"/>
              <a:t>Turn data into reusable products</a:t>
            </a:r>
          </a:p>
          <a:p>
            <a:pPr lvl="2"/>
            <a:endParaRPr lang="en-US" dirty="0"/>
          </a:p>
          <a:p>
            <a:pPr lvl="2"/>
            <a:r>
              <a:rPr lang="en-US" dirty="0"/>
              <a:t>Data Product Hub</a:t>
            </a:r>
          </a:p>
          <a:p>
            <a:pPr marL="127991" lvl="2" indent="0">
              <a:buNone/>
            </a:pPr>
            <a:endParaRPr lang="en-US" dirty="0"/>
          </a:p>
          <a:p>
            <a:pPr lvl="2"/>
            <a:r>
              <a:rPr lang="en-US" dirty="0"/>
              <a:t>Self-service access</a:t>
            </a:r>
          </a:p>
          <a:p>
            <a:pPr marL="127991" lvl="2" indent="0">
              <a:buNone/>
            </a:pPr>
            <a:endParaRPr lang="en-US" dirty="0"/>
          </a:p>
          <a:p>
            <a:pPr lvl="2"/>
            <a:r>
              <a:rPr lang="en-US" dirty="0"/>
              <a:t>Faster delivery of new use cases </a:t>
            </a:r>
          </a:p>
        </p:txBody>
      </p:sp>
    </p:spTree>
    <p:extLst>
      <p:ext uri="{BB962C8B-B14F-4D97-AF65-F5344CB8AC3E}">
        <p14:creationId xmlns:p14="http://schemas.microsoft.com/office/powerpoint/2010/main" val="140468739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BA074D5A-F2B4-3910-4EE4-3A29FB8E6494}"/>
              </a:ext>
            </a:extLst>
          </p:cNvPr>
          <p:cNvSpPr/>
          <p:nvPr/>
        </p:nvSpPr>
        <p:spPr>
          <a:xfrm>
            <a:off x="0" y="6238364"/>
            <a:ext cx="12192000" cy="675612"/>
          </a:xfrm>
          <a:prstGeom prst="rect">
            <a:avLst/>
          </a:prstGeom>
          <a:solidFill>
            <a:srgbClr val="E5F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EF75BE-4913-727F-9CA1-3425A516F416}"/>
              </a:ext>
            </a:extLst>
          </p:cNvPr>
          <p:cNvSpPr>
            <a:spLocks noGrp="1"/>
          </p:cNvSpPr>
          <p:nvPr>
            <p:ph type="title"/>
          </p:nvPr>
        </p:nvSpPr>
        <p:spPr>
          <a:xfrm>
            <a:off x="287962" y="192024"/>
            <a:ext cx="7513375" cy="2105089"/>
          </a:xfrm>
        </p:spPr>
        <p:txBody>
          <a:bodyPr>
            <a:noAutofit/>
          </a:bodyPr>
          <a:lstStyle/>
          <a:p>
            <a:r>
              <a:rPr lang="en-US" sz="4800" dirty="0">
                <a:latin typeface="IBM Plex Sans Light" panose="020B0403050203000203" pitchFamily="34" charset="0"/>
              </a:rPr>
              <a:t>What outcomes does the customer achieve?</a:t>
            </a:r>
          </a:p>
        </p:txBody>
      </p:sp>
      <p:pic>
        <p:nvPicPr>
          <p:cNvPr id="26" name="Picture 25">
            <a:extLst>
              <a:ext uri="{FF2B5EF4-FFF2-40B4-BE49-F238E27FC236}">
                <a16:creationId xmlns:a16="http://schemas.microsoft.com/office/drawing/2014/main" id="{00334737-BEE8-39F0-3040-ED4006CD0CDB}"/>
              </a:ext>
            </a:extLst>
          </p:cNvPr>
          <p:cNvPicPr>
            <a:picLocks noChangeAspect="1"/>
          </p:cNvPicPr>
          <p:nvPr/>
        </p:nvPicPr>
        <p:blipFill>
          <a:blip r:embed="rId3"/>
          <a:stretch>
            <a:fillRect/>
          </a:stretch>
        </p:blipFill>
        <p:spPr>
          <a:xfrm>
            <a:off x="447163" y="2177231"/>
            <a:ext cx="1003300" cy="3771900"/>
          </a:xfrm>
          <a:prstGeom prst="rect">
            <a:avLst/>
          </a:prstGeom>
        </p:spPr>
      </p:pic>
      <p:pic>
        <p:nvPicPr>
          <p:cNvPr id="28" name="Picture 27">
            <a:extLst>
              <a:ext uri="{FF2B5EF4-FFF2-40B4-BE49-F238E27FC236}">
                <a16:creationId xmlns:a16="http://schemas.microsoft.com/office/drawing/2014/main" id="{40BAE17D-D3D4-7F53-DFA4-D5CF8EAC85C2}"/>
              </a:ext>
            </a:extLst>
          </p:cNvPr>
          <p:cNvPicPr>
            <a:picLocks noChangeAspect="1"/>
          </p:cNvPicPr>
          <p:nvPr/>
        </p:nvPicPr>
        <p:blipFill>
          <a:blip r:embed="rId4"/>
          <a:stretch>
            <a:fillRect/>
          </a:stretch>
        </p:blipFill>
        <p:spPr>
          <a:xfrm>
            <a:off x="6258903" y="2297113"/>
            <a:ext cx="952500" cy="3708400"/>
          </a:xfrm>
          <a:prstGeom prst="rect">
            <a:avLst/>
          </a:prstGeom>
        </p:spPr>
      </p:pic>
      <p:sp>
        <p:nvSpPr>
          <p:cNvPr id="29" name="TextBox 28">
            <a:extLst>
              <a:ext uri="{FF2B5EF4-FFF2-40B4-BE49-F238E27FC236}">
                <a16:creationId xmlns:a16="http://schemas.microsoft.com/office/drawing/2014/main" id="{ECB4FA45-3DFC-FFFF-F7E2-F8E2FF549C32}"/>
              </a:ext>
            </a:extLst>
          </p:cNvPr>
          <p:cNvSpPr txBox="1"/>
          <p:nvPr/>
        </p:nvSpPr>
        <p:spPr>
          <a:xfrm>
            <a:off x="1609664" y="2459346"/>
            <a:ext cx="1946788" cy="3447098"/>
          </a:xfrm>
          <a:prstGeom prst="rect">
            <a:avLst/>
          </a:prstGeom>
          <a:noFill/>
        </p:spPr>
        <p:txBody>
          <a:bodyPr wrap="square" rtlCol="0">
            <a:spAutoFit/>
          </a:bodyPr>
          <a:lstStyle/>
          <a:p>
            <a:r>
              <a:rPr lang="en-US" dirty="0"/>
              <a:t>Data Governance </a:t>
            </a:r>
          </a:p>
          <a:p>
            <a:r>
              <a:rPr lang="en-US" sz="1400" dirty="0"/>
              <a:t>Trusted, governed data for AI</a:t>
            </a:r>
          </a:p>
          <a:p>
            <a:endParaRPr lang="en-US" sz="1400" dirty="0"/>
          </a:p>
          <a:p>
            <a:endParaRPr lang="en-US" sz="1400" dirty="0"/>
          </a:p>
          <a:p>
            <a:endParaRPr lang="en-US" sz="600" dirty="0"/>
          </a:p>
          <a:p>
            <a:endParaRPr lang="en-US" sz="600" dirty="0"/>
          </a:p>
          <a:p>
            <a:r>
              <a:rPr lang="en-US" dirty="0"/>
              <a:t>Data Quality </a:t>
            </a:r>
          </a:p>
          <a:p>
            <a:r>
              <a:rPr lang="en-US" sz="1400" dirty="0"/>
              <a:t>Trusted, governed data for AI</a:t>
            </a:r>
          </a:p>
          <a:p>
            <a:endParaRPr lang="en-US" dirty="0">
              <a:solidFill>
                <a:schemeClr val="tx2">
                  <a:lumMod val="25000"/>
                  <a:lumOff val="75000"/>
                </a:schemeClr>
              </a:solidFill>
            </a:endParaRPr>
          </a:p>
          <a:p>
            <a:endParaRPr lang="en-US" dirty="0">
              <a:solidFill>
                <a:schemeClr val="tx2">
                  <a:lumMod val="25000"/>
                  <a:lumOff val="75000"/>
                </a:schemeClr>
              </a:solidFill>
            </a:endParaRPr>
          </a:p>
          <a:p>
            <a:r>
              <a:rPr lang="en-US" dirty="0"/>
              <a:t>AI-Ready</a:t>
            </a:r>
          </a:p>
          <a:p>
            <a:r>
              <a:rPr lang="en-US" sz="1400" dirty="0"/>
              <a:t>AI-ready data at scale</a:t>
            </a:r>
          </a:p>
          <a:p>
            <a:endParaRPr lang="en-US" dirty="0">
              <a:solidFill>
                <a:schemeClr val="tx2">
                  <a:lumMod val="25000"/>
                  <a:lumOff val="75000"/>
                </a:schemeClr>
              </a:solidFill>
            </a:endParaRPr>
          </a:p>
        </p:txBody>
      </p:sp>
      <p:sp>
        <p:nvSpPr>
          <p:cNvPr id="32" name="TextBox 31">
            <a:extLst>
              <a:ext uri="{FF2B5EF4-FFF2-40B4-BE49-F238E27FC236}">
                <a16:creationId xmlns:a16="http://schemas.microsoft.com/office/drawing/2014/main" id="{32A1ECE1-1F2D-3B88-5937-263870327905}"/>
              </a:ext>
            </a:extLst>
          </p:cNvPr>
          <p:cNvSpPr txBox="1"/>
          <p:nvPr/>
        </p:nvSpPr>
        <p:spPr>
          <a:xfrm>
            <a:off x="7391497" y="2297114"/>
            <a:ext cx="2091715" cy="4062651"/>
          </a:xfrm>
          <a:prstGeom prst="rect">
            <a:avLst/>
          </a:prstGeom>
          <a:noFill/>
        </p:spPr>
        <p:txBody>
          <a:bodyPr wrap="square" rtlCol="0">
            <a:spAutoFit/>
          </a:bodyPr>
          <a:lstStyle/>
          <a:p>
            <a:r>
              <a:rPr lang="en-US" dirty="0"/>
              <a:t>Data Lineage </a:t>
            </a:r>
          </a:p>
          <a:p>
            <a:r>
              <a:rPr lang="en-US" sz="1400" dirty="0"/>
              <a:t>Trusted, governed data for AI</a:t>
            </a:r>
          </a:p>
          <a:p>
            <a:endParaRPr lang="en-US" sz="1400" dirty="0"/>
          </a:p>
          <a:p>
            <a:endParaRPr lang="en-US" sz="1400" dirty="0"/>
          </a:p>
          <a:p>
            <a:endParaRPr lang="en-US" sz="1400" dirty="0"/>
          </a:p>
          <a:p>
            <a:endParaRPr lang="en-US" sz="600" dirty="0"/>
          </a:p>
          <a:p>
            <a:r>
              <a:rPr lang="en-US" dirty="0"/>
              <a:t>Data Products </a:t>
            </a:r>
          </a:p>
          <a:p>
            <a:r>
              <a:rPr lang="en-US" sz="1400" dirty="0"/>
              <a:t>Trusted, governed data for AI</a:t>
            </a:r>
          </a:p>
          <a:p>
            <a:endParaRPr lang="en-US" dirty="0">
              <a:solidFill>
                <a:schemeClr val="tx2">
                  <a:lumMod val="25000"/>
                  <a:lumOff val="75000"/>
                </a:schemeClr>
              </a:solidFill>
            </a:endParaRPr>
          </a:p>
          <a:p>
            <a:endParaRPr lang="en-US" dirty="0">
              <a:solidFill>
                <a:schemeClr val="tx2">
                  <a:lumMod val="25000"/>
                  <a:lumOff val="75000"/>
                </a:schemeClr>
              </a:solidFill>
            </a:endParaRPr>
          </a:p>
          <a:p>
            <a:r>
              <a:rPr lang="en-US" dirty="0"/>
              <a:t>Impact &amp; Compliance</a:t>
            </a:r>
          </a:p>
          <a:p>
            <a:r>
              <a:rPr lang="en-US" sz="1400" dirty="0"/>
              <a:t>Lower risk, greater impact</a:t>
            </a:r>
          </a:p>
          <a:p>
            <a:endParaRPr lang="en-US" dirty="0">
              <a:solidFill>
                <a:schemeClr val="tx2">
                  <a:lumMod val="25000"/>
                  <a:lumOff val="75000"/>
                </a:schemeClr>
              </a:solidFill>
            </a:endParaRPr>
          </a:p>
        </p:txBody>
      </p:sp>
      <p:sp>
        <p:nvSpPr>
          <p:cNvPr id="33" name="Footer Placeholder 5">
            <a:extLst>
              <a:ext uri="{FF2B5EF4-FFF2-40B4-BE49-F238E27FC236}">
                <a16:creationId xmlns:a16="http://schemas.microsoft.com/office/drawing/2014/main" id="{8662DEF4-6EE3-4E6D-4A19-DF80EC42958B}"/>
              </a:ext>
            </a:extLst>
          </p:cNvPr>
          <p:cNvSpPr>
            <a:spLocks noGrp="1"/>
          </p:cNvSpPr>
          <p:nvPr>
            <p:ph type="ftr" sz="quarter" idx="18"/>
          </p:nvPr>
        </p:nvSpPr>
        <p:spPr>
          <a:xfrm>
            <a:off x="287963" y="6407612"/>
            <a:ext cx="2802478" cy="199095"/>
          </a:xfrm>
        </p:spPr>
        <p:txBody>
          <a:bodyPr/>
          <a:lstStyle/>
          <a:p>
            <a:r>
              <a:rPr lang="en-US" dirty="0"/>
              <a:t>IBM Seismic watsonx.data intelligence</a:t>
            </a:r>
          </a:p>
        </p:txBody>
      </p:sp>
      <p:cxnSp>
        <p:nvCxnSpPr>
          <p:cNvPr id="35" name="Straight Connector 34">
            <a:extLst>
              <a:ext uri="{FF2B5EF4-FFF2-40B4-BE49-F238E27FC236}">
                <a16:creationId xmlns:a16="http://schemas.microsoft.com/office/drawing/2014/main" id="{9ACD9492-AD06-D30E-4592-B904625C3285}"/>
              </a:ext>
            </a:extLst>
          </p:cNvPr>
          <p:cNvCxnSpPr>
            <a:cxnSpLocks/>
          </p:cNvCxnSpPr>
          <p:nvPr/>
        </p:nvCxnSpPr>
        <p:spPr>
          <a:xfrm>
            <a:off x="3720776" y="2297113"/>
            <a:ext cx="0" cy="352850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D567EF2-7B92-89F0-3030-42CFB08B9FAF}"/>
              </a:ext>
            </a:extLst>
          </p:cNvPr>
          <p:cNvCxnSpPr>
            <a:cxnSpLocks/>
          </p:cNvCxnSpPr>
          <p:nvPr/>
        </p:nvCxnSpPr>
        <p:spPr>
          <a:xfrm>
            <a:off x="9483212" y="2297113"/>
            <a:ext cx="0" cy="352850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pic>
        <p:nvPicPr>
          <p:cNvPr id="41" name="Picture 40">
            <a:extLst>
              <a:ext uri="{FF2B5EF4-FFF2-40B4-BE49-F238E27FC236}">
                <a16:creationId xmlns:a16="http://schemas.microsoft.com/office/drawing/2014/main" id="{804D0A8E-1F1D-287D-F099-8FED7FDB3C22}"/>
              </a:ext>
            </a:extLst>
          </p:cNvPr>
          <p:cNvPicPr>
            <a:picLocks noChangeAspect="1"/>
          </p:cNvPicPr>
          <p:nvPr/>
        </p:nvPicPr>
        <p:blipFill>
          <a:blip r:embed="rId5"/>
          <a:srcRect r="10256"/>
          <a:stretch>
            <a:fillRect/>
          </a:stretch>
        </p:blipFill>
        <p:spPr>
          <a:xfrm>
            <a:off x="3870156" y="2198600"/>
            <a:ext cx="2062940" cy="3822700"/>
          </a:xfrm>
          <a:prstGeom prst="rect">
            <a:avLst/>
          </a:prstGeom>
        </p:spPr>
      </p:pic>
      <p:pic>
        <p:nvPicPr>
          <p:cNvPr id="43" name="Picture 42">
            <a:extLst>
              <a:ext uri="{FF2B5EF4-FFF2-40B4-BE49-F238E27FC236}">
                <a16:creationId xmlns:a16="http://schemas.microsoft.com/office/drawing/2014/main" id="{0A5FC6EC-49D3-91D8-52FF-B3B7E871E296}"/>
              </a:ext>
            </a:extLst>
          </p:cNvPr>
          <p:cNvPicPr>
            <a:picLocks noChangeAspect="1"/>
          </p:cNvPicPr>
          <p:nvPr/>
        </p:nvPicPr>
        <p:blipFill>
          <a:blip r:embed="rId6"/>
          <a:stretch>
            <a:fillRect/>
          </a:stretch>
        </p:blipFill>
        <p:spPr>
          <a:xfrm>
            <a:off x="9733427" y="2177231"/>
            <a:ext cx="1841500" cy="3898900"/>
          </a:xfrm>
          <a:prstGeom prst="rect">
            <a:avLst/>
          </a:prstGeom>
        </p:spPr>
      </p:pic>
      <p:sp>
        <p:nvSpPr>
          <p:cNvPr id="44" name="Slide Number Placeholder 2">
            <a:extLst>
              <a:ext uri="{FF2B5EF4-FFF2-40B4-BE49-F238E27FC236}">
                <a16:creationId xmlns:a16="http://schemas.microsoft.com/office/drawing/2014/main" id="{0917398D-A8F5-39DC-0C9E-C2AE8CC0AE33}"/>
              </a:ext>
            </a:extLst>
          </p:cNvPr>
          <p:cNvSpPr>
            <a:spLocks noGrp="1"/>
          </p:cNvSpPr>
          <p:nvPr>
            <p:ph type="sldNum" sz="quarter" idx="4"/>
          </p:nvPr>
        </p:nvSpPr>
        <p:spPr>
          <a:xfrm>
            <a:off x="11782872" y="6475365"/>
            <a:ext cx="121828" cy="123111"/>
          </a:xfrm>
        </p:spPr>
        <p:txBody>
          <a:bodyPr/>
          <a:lstStyle/>
          <a:p>
            <a:fld id="{86CB4B4D-7CA3-9044-876B-883B54F8677D}" type="slidenum">
              <a:rPr lang="en-US" smtClean="0"/>
              <a:pPr/>
              <a:t>4</a:t>
            </a:fld>
            <a:endParaRPr lang="en-US" dirty="0"/>
          </a:p>
        </p:txBody>
      </p:sp>
    </p:spTree>
    <p:extLst>
      <p:ext uri="{BB962C8B-B14F-4D97-AF65-F5344CB8AC3E}">
        <p14:creationId xmlns:p14="http://schemas.microsoft.com/office/powerpoint/2010/main" val="887005421"/>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68B8B-5198-257C-F8CB-B250CF7AC0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ACEEF3-A394-3D39-98A8-C6252BC09EEC}"/>
              </a:ext>
            </a:extLst>
          </p:cNvPr>
          <p:cNvSpPr>
            <a:spLocks noGrp="1"/>
          </p:cNvSpPr>
          <p:nvPr>
            <p:ph type="title"/>
          </p:nvPr>
        </p:nvSpPr>
        <p:spPr/>
        <p:txBody>
          <a:bodyPr>
            <a:normAutofit/>
          </a:bodyPr>
          <a:lstStyle/>
          <a:p>
            <a:r>
              <a:rPr lang="en-US" sz="5400" dirty="0">
                <a:latin typeface="IBM Plex Sans Light" panose="020B0403050203000203" pitchFamily="34" charset="0"/>
              </a:rPr>
              <a:t>Real-world Impact</a:t>
            </a:r>
          </a:p>
        </p:txBody>
      </p:sp>
      <p:sp>
        <p:nvSpPr>
          <p:cNvPr id="3" name="Text Placeholder 2">
            <a:extLst>
              <a:ext uri="{FF2B5EF4-FFF2-40B4-BE49-F238E27FC236}">
                <a16:creationId xmlns:a16="http://schemas.microsoft.com/office/drawing/2014/main" id="{0EA6D355-EE40-2FD4-0CB6-B9D8BF0737DB}"/>
              </a:ext>
            </a:extLst>
          </p:cNvPr>
          <p:cNvSpPr>
            <a:spLocks noGrp="1"/>
          </p:cNvSpPr>
          <p:nvPr>
            <p:ph type="body" sz="quarter" idx="11"/>
          </p:nvPr>
        </p:nvSpPr>
        <p:spPr>
          <a:xfrm>
            <a:off x="1341299" y="3225238"/>
            <a:ext cx="2280250" cy="2759647"/>
          </a:xfrm>
        </p:spPr>
        <p:txBody>
          <a:bodyPr/>
          <a:lstStyle/>
          <a:p>
            <a:pPr marL="0" indent="0">
              <a:buNone/>
            </a:pPr>
            <a:r>
              <a:rPr lang="en-US" sz="2000" dirty="0"/>
              <a:t>46</a:t>
            </a:r>
          </a:p>
          <a:p>
            <a:pPr marL="0" indent="0">
              <a:buNone/>
            </a:pPr>
            <a:r>
              <a:rPr lang="en-US" dirty="0"/>
              <a:t>different data sets</a:t>
            </a:r>
          </a:p>
          <a:p>
            <a:endParaRPr lang="en-US" dirty="0"/>
          </a:p>
          <a:p>
            <a:endParaRPr lang="en-US" dirty="0"/>
          </a:p>
          <a:p>
            <a:pPr marL="0" indent="0">
              <a:buNone/>
            </a:pPr>
            <a:r>
              <a:rPr lang="en-US" dirty="0"/>
              <a:t>Fragmented AI and analytics environment </a:t>
            </a:r>
          </a:p>
          <a:p>
            <a:pPr marL="0" indent="0">
              <a:buNone/>
            </a:pPr>
            <a:endParaRPr lang="en-US" dirty="0"/>
          </a:p>
          <a:p>
            <a:pPr marL="0" indent="0">
              <a:buNone/>
            </a:pPr>
            <a:endParaRPr lang="en-US" dirty="0"/>
          </a:p>
          <a:p>
            <a:pPr marL="0" indent="0">
              <a:buNone/>
            </a:pPr>
            <a:endParaRPr lang="en-US" sz="800" dirty="0"/>
          </a:p>
          <a:p>
            <a:pPr marL="0" indent="0">
              <a:buNone/>
            </a:pPr>
            <a:r>
              <a:rPr lang="en-US" dirty="0"/>
              <a:t>Data silos</a:t>
            </a:r>
          </a:p>
        </p:txBody>
      </p:sp>
      <p:sp>
        <p:nvSpPr>
          <p:cNvPr id="5" name="Text Placeholder 4">
            <a:extLst>
              <a:ext uri="{FF2B5EF4-FFF2-40B4-BE49-F238E27FC236}">
                <a16:creationId xmlns:a16="http://schemas.microsoft.com/office/drawing/2014/main" id="{2141F4B9-7AA6-F260-7C4B-04FBE2301D18}"/>
              </a:ext>
            </a:extLst>
          </p:cNvPr>
          <p:cNvSpPr>
            <a:spLocks noGrp="1"/>
          </p:cNvSpPr>
          <p:nvPr>
            <p:ph type="body" sz="quarter" idx="13"/>
          </p:nvPr>
        </p:nvSpPr>
        <p:spPr>
          <a:xfrm>
            <a:off x="5057210" y="3225238"/>
            <a:ext cx="2474590" cy="2760662"/>
          </a:xfrm>
        </p:spPr>
        <p:txBody>
          <a:bodyPr/>
          <a:lstStyle/>
          <a:p>
            <a:pPr marL="0" indent="0">
              <a:buNone/>
            </a:pPr>
            <a:endParaRPr lang="en-US" sz="1000" dirty="0"/>
          </a:p>
          <a:p>
            <a:pPr marL="0" indent="0">
              <a:buNone/>
            </a:pPr>
            <a:r>
              <a:rPr lang="en-US" dirty="0"/>
              <a:t>Unified data foundation</a:t>
            </a:r>
          </a:p>
          <a:p>
            <a:pPr marL="0" indent="0">
              <a:buNone/>
            </a:pPr>
            <a:endParaRPr lang="en-US" dirty="0"/>
          </a:p>
          <a:p>
            <a:pPr marL="0" indent="0">
              <a:buNone/>
            </a:pPr>
            <a:endParaRPr lang="en-US" sz="2400" dirty="0"/>
          </a:p>
          <a:p>
            <a:pPr marL="0" indent="0">
              <a:buNone/>
            </a:pPr>
            <a:r>
              <a:rPr lang="en-US" dirty="0"/>
              <a:t>Governance and metadata management </a:t>
            </a:r>
          </a:p>
          <a:p>
            <a:pPr marL="0" indent="0">
              <a:buNone/>
            </a:pPr>
            <a:endParaRPr lang="en-US" dirty="0"/>
          </a:p>
          <a:p>
            <a:pPr marL="0" indent="0">
              <a:buNone/>
            </a:pPr>
            <a:endParaRPr lang="en-US" dirty="0"/>
          </a:p>
          <a:p>
            <a:pPr marL="0" indent="0">
              <a:buNone/>
            </a:pPr>
            <a:endParaRPr lang="en-US" sz="1100" dirty="0"/>
          </a:p>
          <a:p>
            <a:pPr marL="0" indent="0">
              <a:buNone/>
            </a:pPr>
            <a:endParaRPr lang="en-US" sz="100" dirty="0"/>
          </a:p>
          <a:p>
            <a:pPr marL="0" indent="0">
              <a:buNone/>
            </a:pPr>
            <a:r>
              <a:rPr lang="en-US" dirty="0"/>
              <a:t>Trusted AI environment </a:t>
            </a:r>
          </a:p>
        </p:txBody>
      </p:sp>
      <p:sp>
        <p:nvSpPr>
          <p:cNvPr id="7" name="TextBox 6">
            <a:extLst>
              <a:ext uri="{FF2B5EF4-FFF2-40B4-BE49-F238E27FC236}">
                <a16:creationId xmlns:a16="http://schemas.microsoft.com/office/drawing/2014/main" id="{00F15796-9C17-9C47-5A5D-B50296720DA2}"/>
              </a:ext>
            </a:extLst>
          </p:cNvPr>
          <p:cNvSpPr txBox="1"/>
          <p:nvPr/>
        </p:nvSpPr>
        <p:spPr>
          <a:xfrm>
            <a:off x="519187" y="2592066"/>
            <a:ext cx="2999519" cy="584775"/>
          </a:xfrm>
          <a:prstGeom prst="rect">
            <a:avLst/>
          </a:prstGeom>
          <a:noFill/>
        </p:spPr>
        <p:txBody>
          <a:bodyPr wrap="square" rtlCol="0">
            <a:spAutoFit/>
          </a:bodyPr>
          <a:lstStyle/>
          <a:p>
            <a:pPr algn="ctr"/>
            <a:r>
              <a:rPr lang="en-US" sz="3200" dirty="0">
                <a:solidFill>
                  <a:schemeClr val="tx2">
                    <a:lumMod val="25000"/>
                    <a:lumOff val="75000"/>
                  </a:schemeClr>
                </a:solidFill>
              </a:rPr>
              <a:t>BEFORE</a:t>
            </a:r>
            <a:r>
              <a:rPr lang="en-US" dirty="0"/>
              <a:t> </a:t>
            </a:r>
          </a:p>
        </p:txBody>
      </p:sp>
      <p:sp>
        <p:nvSpPr>
          <p:cNvPr id="10" name="TextBox 9">
            <a:extLst>
              <a:ext uri="{FF2B5EF4-FFF2-40B4-BE49-F238E27FC236}">
                <a16:creationId xmlns:a16="http://schemas.microsoft.com/office/drawing/2014/main" id="{75CB6B27-1ADE-6B32-0D5B-9074FD95DAED}"/>
              </a:ext>
            </a:extLst>
          </p:cNvPr>
          <p:cNvSpPr txBox="1"/>
          <p:nvPr/>
        </p:nvSpPr>
        <p:spPr>
          <a:xfrm>
            <a:off x="4578031" y="2592066"/>
            <a:ext cx="2957090" cy="584775"/>
          </a:xfrm>
          <a:prstGeom prst="rect">
            <a:avLst/>
          </a:prstGeom>
          <a:noFill/>
        </p:spPr>
        <p:txBody>
          <a:bodyPr wrap="square" rtlCol="0">
            <a:spAutoFit/>
          </a:bodyPr>
          <a:lstStyle/>
          <a:p>
            <a:pPr algn="ctr"/>
            <a:r>
              <a:rPr lang="en-US" sz="3200" dirty="0">
                <a:solidFill>
                  <a:schemeClr val="tx2">
                    <a:lumMod val="25000"/>
                    <a:lumOff val="75000"/>
                  </a:schemeClr>
                </a:solidFill>
              </a:rPr>
              <a:t>IBM Solution</a:t>
            </a:r>
          </a:p>
        </p:txBody>
      </p:sp>
      <p:pic>
        <p:nvPicPr>
          <p:cNvPr id="8" name="Picture 7">
            <a:extLst>
              <a:ext uri="{FF2B5EF4-FFF2-40B4-BE49-F238E27FC236}">
                <a16:creationId xmlns:a16="http://schemas.microsoft.com/office/drawing/2014/main" id="{6EDC8E46-843B-171E-DF77-AD47BD9940EE}"/>
              </a:ext>
            </a:extLst>
          </p:cNvPr>
          <p:cNvPicPr>
            <a:picLocks noChangeAspect="1"/>
          </p:cNvPicPr>
          <p:nvPr/>
        </p:nvPicPr>
        <p:blipFill>
          <a:blip r:embed="rId3"/>
          <a:stretch>
            <a:fillRect/>
          </a:stretch>
        </p:blipFill>
        <p:spPr>
          <a:xfrm>
            <a:off x="7978852" y="192023"/>
            <a:ext cx="3554052" cy="855193"/>
          </a:xfrm>
          <a:prstGeom prst="rect">
            <a:avLst/>
          </a:prstGeom>
        </p:spPr>
      </p:pic>
      <p:sp>
        <p:nvSpPr>
          <p:cNvPr id="12" name="Rectangle 11">
            <a:extLst>
              <a:ext uri="{FF2B5EF4-FFF2-40B4-BE49-F238E27FC236}">
                <a16:creationId xmlns:a16="http://schemas.microsoft.com/office/drawing/2014/main" id="{854C1CD7-C12C-4220-81D9-410BA7F40C5D}"/>
              </a:ext>
            </a:extLst>
          </p:cNvPr>
          <p:cNvSpPr/>
          <p:nvPr/>
        </p:nvSpPr>
        <p:spPr>
          <a:xfrm>
            <a:off x="311114" y="2470017"/>
            <a:ext cx="3460831" cy="3472405"/>
          </a:xfrm>
          <a:prstGeom prst="rect">
            <a:avLst/>
          </a:prstGeom>
          <a:no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lumMod val="25000"/>
                  <a:lumOff val="75000"/>
                </a:schemeClr>
              </a:solidFill>
            </a:endParaRPr>
          </a:p>
        </p:txBody>
      </p:sp>
      <p:sp>
        <p:nvSpPr>
          <p:cNvPr id="15" name="Rectangle 14">
            <a:extLst>
              <a:ext uri="{FF2B5EF4-FFF2-40B4-BE49-F238E27FC236}">
                <a16:creationId xmlns:a16="http://schemas.microsoft.com/office/drawing/2014/main" id="{EF0E2BFD-CDF2-C9A7-A177-88323DDBAE5F}"/>
              </a:ext>
            </a:extLst>
          </p:cNvPr>
          <p:cNvSpPr/>
          <p:nvPr/>
        </p:nvSpPr>
        <p:spPr>
          <a:xfrm>
            <a:off x="4318373" y="2470017"/>
            <a:ext cx="3460831" cy="3472405"/>
          </a:xfrm>
          <a:prstGeom prst="rect">
            <a:avLst/>
          </a:prstGeom>
          <a:no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lumMod val="25000"/>
                  <a:lumOff val="75000"/>
                </a:schemeClr>
              </a:solidFill>
            </a:endParaRPr>
          </a:p>
        </p:txBody>
      </p:sp>
      <p:sp>
        <p:nvSpPr>
          <p:cNvPr id="17" name="Text Placeholder 4">
            <a:extLst>
              <a:ext uri="{FF2B5EF4-FFF2-40B4-BE49-F238E27FC236}">
                <a16:creationId xmlns:a16="http://schemas.microsoft.com/office/drawing/2014/main" id="{8A71A7E1-C0BE-7714-11DD-2803AEFB15FE}"/>
              </a:ext>
            </a:extLst>
          </p:cNvPr>
          <p:cNvSpPr txBox="1">
            <a:spLocks/>
          </p:cNvSpPr>
          <p:nvPr/>
        </p:nvSpPr>
        <p:spPr>
          <a:xfrm>
            <a:off x="9210096" y="3225238"/>
            <a:ext cx="2474590" cy="27606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0"/>
              </a:spcBef>
              <a:buFont typeface="Arial" panose="020B0604020202020204" pitchFamily="34" charset="0"/>
              <a:buChar char="•"/>
              <a:defRPr sz="1400" kern="1200">
                <a:solidFill>
                  <a:schemeClr val="tx1"/>
                </a:solidFill>
                <a:latin typeface="+mn-lt"/>
                <a:ea typeface="+mn-ea"/>
                <a:cs typeface="+mn-cs"/>
              </a:defRPr>
            </a:lvl1pPr>
            <a:lvl2pPr marL="127990" indent="-127990" algn="l" defTabSz="914400" rtl="0" eaLnBrk="1" latinLnBrk="0" hangingPunct="1">
              <a:lnSpc>
                <a:spcPct val="90000"/>
              </a:lnSpc>
              <a:spcBef>
                <a:spcPts val="0"/>
              </a:spcBef>
              <a:buFont typeface="Arial" panose="020B0604020202020204" pitchFamily="34" charset="0"/>
              <a:buChar char="•"/>
              <a:defRPr sz="1400" kern="1200">
                <a:solidFill>
                  <a:schemeClr val="tx1"/>
                </a:solidFill>
                <a:latin typeface="+mn-lt"/>
                <a:ea typeface="+mn-ea"/>
                <a:cs typeface="+mn-cs"/>
              </a:defRPr>
            </a:lvl2pPr>
            <a:lvl3pPr marL="255981" indent="-127990" algn="l" defTabSz="914400" rtl="0" eaLnBrk="1" latinLnBrk="0" hangingPunct="1">
              <a:lnSpc>
                <a:spcPct val="90000"/>
              </a:lnSpc>
              <a:spcBef>
                <a:spcPts val="0"/>
              </a:spcBef>
              <a:buFont typeface="Arial" panose="020B0604020202020204" pitchFamily="34" charset="0"/>
              <a:buChar char="•"/>
              <a:defRPr sz="1400" kern="1200">
                <a:solidFill>
                  <a:schemeClr val="tx1"/>
                </a:solidFill>
                <a:latin typeface="+mn-lt"/>
                <a:ea typeface="+mn-ea"/>
                <a:cs typeface="+mn-cs"/>
              </a:defRPr>
            </a:lvl3pPr>
            <a:lvl4pPr marL="383971" indent="-127990" algn="l" defTabSz="914400" rtl="0" eaLnBrk="1" latinLnBrk="0" hangingPunct="1">
              <a:lnSpc>
                <a:spcPct val="90000"/>
              </a:lnSpc>
              <a:spcBef>
                <a:spcPts val="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20% </a:t>
            </a:r>
          </a:p>
          <a:p>
            <a:pPr marL="0" indent="0">
              <a:buNone/>
            </a:pPr>
            <a:r>
              <a:rPr lang="en-US" dirty="0"/>
              <a:t>improvement in AI response accuracy </a:t>
            </a:r>
            <a:endParaRPr lang="en-US" sz="700" dirty="0"/>
          </a:p>
          <a:p>
            <a:pPr marL="0" indent="0">
              <a:buNone/>
            </a:pPr>
            <a:endParaRPr lang="en-US" sz="1200" dirty="0"/>
          </a:p>
          <a:p>
            <a:pPr marL="0" indent="0">
              <a:buNone/>
            </a:pPr>
            <a:r>
              <a:rPr lang="en-US" sz="2000" dirty="0"/>
              <a:t>46</a:t>
            </a:r>
            <a:r>
              <a:rPr lang="en-US" dirty="0"/>
              <a:t> </a:t>
            </a:r>
          </a:p>
          <a:p>
            <a:pPr marL="0" indent="0">
              <a:buNone/>
            </a:pPr>
            <a:r>
              <a:rPr lang="en-US" dirty="0"/>
              <a:t>systems consolidated </a:t>
            </a:r>
          </a:p>
          <a:p>
            <a:pPr marL="0" indent="0">
              <a:buNone/>
            </a:pPr>
            <a:endParaRPr lang="en-US" sz="2800" dirty="0"/>
          </a:p>
          <a:p>
            <a:pPr marL="0" indent="0">
              <a:buNone/>
            </a:pPr>
            <a:r>
              <a:rPr lang="en-US" sz="2000" dirty="0"/>
              <a:t>50%</a:t>
            </a:r>
          </a:p>
          <a:p>
            <a:pPr marL="0" indent="0">
              <a:buNone/>
            </a:pPr>
            <a:r>
              <a:rPr lang="en-US" dirty="0"/>
              <a:t>reduction in data and AI tools</a:t>
            </a:r>
          </a:p>
        </p:txBody>
      </p:sp>
      <p:sp>
        <p:nvSpPr>
          <p:cNvPr id="18" name="TextBox 17">
            <a:extLst>
              <a:ext uri="{FF2B5EF4-FFF2-40B4-BE49-F238E27FC236}">
                <a16:creationId xmlns:a16="http://schemas.microsoft.com/office/drawing/2014/main" id="{B04823BF-3DA8-18DF-B46C-7CB8A4726D41}"/>
              </a:ext>
            </a:extLst>
          </p:cNvPr>
          <p:cNvSpPr txBox="1"/>
          <p:nvPr/>
        </p:nvSpPr>
        <p:spPr>
          <a:xfrm>
            <a:off x="8575814" y="2592066"/>
            <a:ext cx="2957090" cy="584775"/>
          </a:xfrm>
          <a:prstGeom prst="rect">
            <a:avLst/>
          </a:prstGeom>
          <a:noFill/>
        </p:spPr>
        <p:txBody>
          <a:bodyPr wrap="square" rtlCol="0">
            <a:spAutoFit/>
          </a:bodyPr>
          <a:lstStyle/>
          <a:p>
            <a:pPr algn="ctr"/>
            <a:r>
              <a:rPr lang="en-US" sz="3200" dirty="0">
                <a:solidFill>
                  <a:schemeClr val="tx2">
                    <a:lumMod val="25000"/>
                    <a:lumOff val="75000"/>
                  </a:schemeClr>
                </a:solidFill>
              </a:rPr>
              <a:t>Results</a:t>
            </a:r>
          </a:p>
        </p:txBody>
      </p:sp>
      <p:sp>
        <p:nvSpPr>
          <p:cNvPr id="19" name="Rectangle 18">
            <a:extLst>
              <a:ext uri="{FF2B5EF4-FFF2-40B4-BE49-F238E27FC236}">
                <a16:creationId xmlns:a16="http://schemas.microsoft.com/office/drawing/2014/main" id="{DA08A491-88D0-E62A-EF6E-500D7F403AA9}"/>
              </a:ext>
            </a:extLst>
          </p:cNvPr>
          <p:cNvSpPr/>
          <p:nvPr/>
        </p:nvSpPr>
        <p:spPr>
          <a:xfrm>
            <a:off x="8316156" y="2470017"/>
            <a:ext cx="3460831" cy="3472405"/>
          </a:xfrm>
          <a:prstGeom prst="rect">
            <a:avLst/>
          </a:prstGeom>
          <a:no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lumMod val="25000"/>
                  <a:lumOff val="75000"/>
                </a:schemeClr>
              </a:solidFill>
            </a:endParaRPr>
          </a:p>
        </p:txBody>
      </p:sp>
      <p:cxnSp>
        <p:nvCxnSpPr>
          <p:cNvPr id="24" name="Straight Connector 23">
            <a:extLst>
              <a:ext uri="{FF2B5EF4-FFF2-40B4-BE49-F238E27FC236}">
                <a16:creationId xmlns:a16="http://schemas.microsoft.com/office/drawing/2014/main" id="{8F23624E-A50B-CBE0-ADA9-D3DBD628AA57}"/>
              </a:ext>
            </a:extLst>
          </p:cNvPr>
          <p:cNvCxnSpPr>
            <a:cxnSpLocks/>
          </p:cNvCxnSpPr>
          <p:nvPr/>
        </p:nvCxnSpPr>
        <p:spPr>
          <a:xfrm>
            <a:off x="7334129" y="192023"/>
            <a:ext cx="0" cy="1752524"/>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B6DF8EEC-454E-B96A-358A-552D4DF35000}"/>
              </a:ext>
            </a:extLst>
          </p:cNvPr>
          <p:cNvSpPr txBox="1"/>
          <p:nvPr/>
        </p:nvSpPr>
        <p:spPr>
          <a:xfrm>
            <a:off x="7535121" y="1012491"/>
            <a:ext cx="4386803" cy="707566"/>
          </a:xfrm>
          <a:prstGeom prst="rect">
            <a:avLst/>
          </a:prstGeom>
          <a:noFill/>
        </p:spPr>
        <p:txBody>
          <a:bodyPr wrap="square" rtlCol="0">
            <a:spAutoFit/>
          </a:bodyPr>
          <a:lstStyle/>
          <a:p>
            <a:pPr>
              <a:lnSpc>
                <a:spcPct val="150000"/>
              </a:lnSpc>
            </a:pPr>
            <a:r>
              <a:rPr lang="en-US" sz="1400" dirty="0"/>
              <a:t>A global aerospace, defense, security, and advanced leader focused on</a:t>
            </a:r>
            <a:r>
              <a:rPr lang="en-US" sz="1400" dirty="0">
                <a:solidFill>
                  <a:schemeClr val="tx2">
                    <a:lumMod val="75000"/>
                    <a:lumOff val="25000"/>
                  </a:schemeClr>
                </a:solidFill>
              </a:rPr>
              <a:t> innovation that matters </a:t>
            </a:r>
          </a:p>
        </p:txBody>
      </p:sp>
      <p:sp>
        <p:nvSpPr>
          <p:cNvPr id="26" name="Rectangle 25">
            <a:extLst>
              <a:ext uri="{FF2B5EF4-FFF2-40B4-BE49-F238E27FC236}">
                <a16:creationId xmlns:a16="http://schemas.microsoft.com/office/drawing/2014/main" id="{205B10F2-0A06-DDE2-B442-05236607019E}"/>
              </a:ext>
            </a:extLst>
          </p:cNvPr>
          <p:cNvSpPr/>
          <p:nvPr/>
        </p:nvSpPr>
        <p:spPr>
          <a:xfrm>
            <a:off x="0" y="6216260"/>
            <a:ext cx="12192000" cy="675612"/>
          </a:xfrm>
          <a:prstGeom prst="rect">
            <a:avLst/>
          </a:prstGeom>
          <a:solidFill>
            <a:srgbClr val="E5F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ooter Placeholder 5">
            <a:extLst>
              <a:ext uri="{FF2B5EF4-FFF2-40B4-BE49-F238E27FC236}">
                <a16:creationId xmlns:a16="http://schemas.microsoft.com/office/drawing/2014/main" id="{AB7AAA1B-32EC-1E3B-A0B1-6ED444EEAEEF}"/>
              </a:ext>
            </a:extLst>
          </p:cNvPr>
          <p:cNvSpPr>
            <a:spLocks noGrp="1"/>
          </p:cNvSpPr>
          <p:nvPr>
            <p:ph type="ftr" sz="quarter" idx="18"/>
          </p:nvPr>
        </p:nvSpPr>
        <p:spPr>
          <a:xfrm>
            <a:off x="287963" y="6407612"/>
            <a:ext cx="2802478" cy="199095"/>
          </a:xfrm>
        </p:spPr>
        <p:txBody>
          <a:bodyPr/>
          <a:lstStyle/>
          <a:p>
            <a:r>
              <a:rPr lang="en-US" dirty="0"/>
              <a:t>IBM Seismic watsonx.data intelligence</a:t>
            </a:r>
          </a:p>
        </p:txBody>
      </p:sp>
      <p:pic>
        <p:nvPicPr>
          <p:cNvPr id="31" name="Picture 30">
            <a:extLst>
              <a:ext uri="{FF2B5EF4-FFF2-40B4-BE49-F238E27FC236}">
                <a16:creationId xmlns:a16="http://schemas.microsoft.com/office/drawing/2014/main" id="{CFF972C5-445C-F02F-21FE-0422E326B744}"/>
              </a:ext>
            </a:extLst>
          </p:cNvPr>
          <p:cNvPicPr>
            <a:picLocks noChangeAspect="1"/>
          </p:cNvPicPr>
          <p:nvPr/>
        </p:nvPicPr>
        <p:blipFill>
          <a:blip r:embed="rId4"/>
          <a:stretch>
            <a:fillRect/>
          </a:stretch>
        </p:blipFill>
        <p:spPr>
          <a:xfrm>
            <a:off x="668321" y="3225238"/>
            <a:ext cx="524117" cy="524117"/>
          </a:xfrm>
          <a:prstGeom prst="rect">
            <a:avLst/>
          </a:prstGeom>
        </p:spPr>
      </p:pic>
      <p:pic>
        <p:nvPicPr>
          <p:cNvPr id="32" name="Picture 31">
            <a:extLst>
              <a:ext uri="{FF2B5EF4-FFF2-40B4-BE49-F238E27FC236}">
                <a16:creationId xmlns:a16="http://schemas.microsoft.com/office/drawing/2014/main" id="{4ACFCA96-84B9-864E-9276-0086BFF4D9B9}"/>
              </a:ext>
            </a:extLst>
          </p:cNvPr>
          <p:cNvPicPr>
            <a:picLocks noChangeAspect="1"/>
          </p:cNvPicPr>
          <p:nvPr/>
        </p:nvPicPr>
        <p:blipFill>
          <a:blip r:embed="rId5"/>
          <a:srcRect l="17080" t="13958" r="11188" b="18943"/>
          <a:stretch>
            <a:fillRect/>
          </a:stretch>
        </p:blipFill>
        <p:spPr>
          <a:xfrm>
            <a:off x="630470" y="3939980"/>
            <a:ext cx="672978" cy="629525"/>
          </a:xfrm>
          <a:prstGeom prst="rect">
            <a:avLst/>
          </a:prstGeom>
        </p:spPr>
      </p:pic>
      <p:pic>
        <p:nvPicPr>
          <p:cNvPr id="33" name="Picture 32">
            <a:extLst>
              <a:ext uri="{FF2B5EF4-FFF2-40B4-BE49-F238E27FC236}">
                <a16:creationId xmlns:a16="http://schemas.microsoft.com/office/drawing/2014/main" id="{98181E3C-1049-C43D-3062-766C3CE3D7E8}"/>
              </a:ext>
            </a:extLst>
          </p:cNvPr>
          <p:cNvPicPr>
            <a:picLocks noChangeAspect="1"/>
          </p:cNvPicPr>
          <p:nvPr/>
        </p:nvPicPr>
        <p:blipFill>
          <a:blip r:embed="rId6"/>
          <a:stretch>
            <a:fillRect/>
          </a:stretch>
        </p:blipFill>
        <p:spPr>
          <a:xfrm>
            <a:off x="630470" y="4794406"/>
            <a:ext cx="672978" cy="672978"/>
          </a:xfrm>
          <a:prstGeom prst="rect">
            <a:avLst/>
          </a:prstGeom>
        </p:spPr>
      </p:pic>
      <p:pic>
        <p:nvPicPr>
          <p:cNvPr id="34" name="Picture 33">
            <a:extLst>
              <a:ext uri="{FF2B5EF4-FFF2-40B4-BE49-F238E27FC236}">
                <a16:creationId xmlns:a16="http://schemas.microsoft.com/office/drawing/2014/main" id="{AFCF74DA-EFCB-4347-B1BC-829E7E169047}"/>
              </a:ext>
            </a:extLst>
          </p:cNvPr>
          <p:cNvPicPr>
            <a:picLocks noChangeAspect="1"/>
          </p:cNvPicPr>
          <p:nvPr/>
        </p:nvPicPr>
        <p:blipFill>
          <a:blip r:embed="rId7"/>
          <a:stretch>
            <a:fillRect/>
          </a:stretch>
        </p:blipFill>
        <p:spPr>
          <a:xfrm>
            <a:off x="4510782" y="3298890"/>
            <a:ext cx="485331" cy="485331"/>
          </a:xfrm>
          <a:prstGeom prst="rect">
            <a:avLst/>
          </a:prstGeom>
        </p:spPr>
      </p:pic>
      <p:pic>
        <p:nvPicPr>
          <p:cNvPr id="35" name="Picture 34">
            <a:extLst>
              <a:ext uri="{FF2B5EF4-FFF2-40B4-BE49-F238E27FC236}">
                <a16:creationId xmlns:a16="http://schemas.microsoft.com/office/drawing/2014/main" id="{AFD98842-D088-C1F0-8791-F26A5CEEE709}"/>
              </a:ext>
            </a:extLst>
          </p:cNvPr>
          <p:cNvPicPr>
            <a:picLocks noChangeAspect="1"/>
          </p:cNvPicPr>
          <p:nvPr/>
        </p:nvPicPr>
        <p:blipFill>
          <a:blip r:embed="rId8"/>
          <a:stretch>
            <a:fillRect/>
          </a:stretch>
        </p:blipFill>
        <p:spPr>
          <a:xfrm>
            <a:off x="4553617" y="4092501"/>
            <a:ext cx="441680" cy="441680"/>
          </a:xfrm>
          <a:prstGeom prst="rect">
            <a:avLst/>
          </a:prstGeom>
        </p:spPr>
      </p:pic>
      <p:pic>
        <p:nvPicPr>
          <p:cNvPr id="36" name="Picture 35">
            <a:extLst>
              <a:ext uri="{FF2B5EF4-FFF2-40B4-BE49-F238E27FC236}">
                <a16:creationId xmlns:a16="http://schemas.microsoft.com/office/drawing/2014/main" id="{0DF915A3-F555-3238-660D-C6506F4FCA27}"/>
              </a:ext>
            </a:extLst>
          </p:cNvPr>
          <p:cNvPicPr>
            <a:picLocks noChangeAspect="1"/>
          </p:cNvPicPr>
          <p:nvPr/>
        </p:nvPicPr>
        <p:blipFill rotWithShape="1">
          <a:blip r:embed="rId9"/>
          <a:srcRect l="15778" t="11426" r="16255" b="12832"/>
          <a:stretch>
            <a:fillRect/>
          </a:stretch>
        </p:blipFill>
        <p:spPr>
          <a:xfrm>
            <a:off x="4556025" y="4885688"/>
            <a:ext cx="440088" cy="490414"/>
          </a:xfrm>
          <a:prstGeom prst="rect">
            <a:avLst/>
          </a:prstGeom>
        </p:spPr>
      </p:pic>
      <p:pic>
        <p:nvPicPr>
          <p:cNvPr id="37" name="Picture 36">
            <a:extLst>
              <a:ext uri="{FF2B5EF4-FFF2-40B4-BE49-F238E27FC236}">
                <a16:creationId xmlns:a16="http://schemas.microsoft.com/office/drawing/2014/main" id="{02BA3607-782C-BCC0-1C31-9BF6B0E56FAC}"/>
              </a:ext>
            </a:extLst>
          </p:cNvPr>
          <p:cNvPicPr>
            <a:picLocks noChangeAspect="1"/>
          </p:cNvPicPr>
          <p:nvPr/>
        </p:nvPicPr>
        <p:blipFill>
          <a:blip r:embed="rId10"/>
          <a:stretch>
            <a:fillRect/>
          </a:stretch>
        </p:blipFill>
        <p:spPr>
          <a:xfrm>
            <a:off x="8557628" y="3230482"/>
            <a:ext cx="518873" cy="518873"/>
          </a:xfrm>
          <a:prstGeom prst="rect">
            <a:avLst/>
          </a:prstGeom>
        </p:spPr>
      </p:pic>
      <p:pic>
        <p:nvPicPr>
          <p:cNvPr id="38" name="Picture 37">
            <a:extLst>
              <a:ext uri="{FF2B5EF4-FFF2-40B4-BE49-F238E27FC236}">
                <a16:creationId xmlns:a16="http://schemas.microsoft.com/office/drawing/2014/main" id="{BD3D9D7E-35CD-E4BF-1F75-9F15A205D888}"/>
              </a:ext>
            </a:extLst>
          </p:cNvPr>
          <p:cNvPicPr>
            <a:picLocks noChangeAspect="1"/>
          </p:cNvPicPr>
          <p:nvPr/>
        </p:nvPicPr>
        <p:blipFill>
          <a:blip r:embed="rId11"/>
          <a:stretch>
            <a:fillRect/>
          </a:stretch>
        </p:blipFill>
        <p:spPr>
          <a:xfrm>
            <a:off x="8637187" y="4125998"/>
            <a:ext cx="439314" cy="443507"/>
          </a:xfrm>
          <a:prstGeom prst="rect">
            <a:avLst/>
          </a:prstGeom>
        </p:spPr>
      </p:pic>
      <p:pic>
        <p:nvPicPr>
          <p:cNvPr id="39" name="Picture 38">
            <a:extLst>
              <a:ext uri="{FF2B5EF4-FFF2-40B4-BE49-F238E27FC236}">
                <a16:creationId xmlns:a16="http://schemas.microsoft.com/office/drawing/2014/main" id="{3CEBDB54-31B3-9610-A337-8B4DDED110E0}"/>
              </a:ext>
            </a:extLst>
          </p:cNvPr>
          <p:cNvPicPr>
            <a:picLocks noChangeAspect="1"/>
          </p:cNvPicPr>
          <p:nvPr/>
        </p:nvPicPr>
        <p:blipFill>
          <a:blip r:embed="rId12"/>
          <a:stretch>
            <a:fillRect/>
          </a:stretch>
        </p:blipFill>
        <p:spPr>
          <a:xfrm>
            <a:off x="8562346" y="4885688"/>
            <a:ext cx="532032" cy="532032"/>
          </a:xfrm>
          <a:prstGeom prst="rect">
            <a:avLst/>
          </a:prstGeom>
        </p:spPr>
      </p:pic>
      <p:sp>
        <p:nvSpPr>
          <p:cNvPr id="40" name="Slide Number Placeholder 2">
            <a:extLst>
              <a:ext uri="{FF2B5EF4-FFF2-40B4-BE49-F238E27FC236}">
                <a16:creationId xmlns:a16="http://schemas.microsoft.com/office/drawing/2014/main" id="{A5507B22-0FE1-5E95-A20A-CEC7D5B74573}"/>
              </a:ext>
            </a:extLst>
          </p:cNvPr>
          <p:cNvSpPr>
            <a:spLocks noGrp="1"/>
          </p:cNvSpPr>
          <p:nvPr>
            <p:ph type="sldNum" sz="quarter" idx="4"/>
          </p:nvPr>
        </p:nvSpPr>
        <p:spPr>
          <a:xfrm>
            <a:off x="11782872" y="6475365"/>
            <a:ext cx="121828" cy="123111"/>
          </a:xfrm>
        </p:spPr>
        <p:txBody>
          <a:bodyPr/>
          <a:lstStyle/>
          <a:p>
            <a:fld id="{86CB4B4D-7CA3-9044-876B-883B54F8677D}" type="slidenum">
              <a:rPr lang="en-US" smtClean="0"/>
              <a:pPr/>
              <a:t>5</a:t>
            </a:fld>
            <a:endParaRPr lang="en-US" dirty="0"/>
          </a:p>
        </p:txBody>
      </p:sp>
    </p:spTree>
    <p:extLst>
      <p:ext uri="{BB962C8B-B14F-4D97-AF65-F5344CB8AC3E}">
        <p14:creationId xmlns:p14="http://schemas.microsoft.com/office/powerpoint/2010/main" val="2859304724"/>
      </p:ext>
    </p:extLst>
  </p:cSld>
  <p:clrMapOvr>
    <a:masterClrMapping/>
  </p:clrMapOvr>
  <p:transition spd="me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3415</TotalTime>
  <Words>1983</Words>
  <Application>Microsoft Macintosh PowerPoint</Application>
  <PresentationFormat>Widescreen</PresentationFormat>
  <Paragraphs>262</Paragraphs>
  <Slides>5</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vt:i4>
      </vt:variant>
    </vt:vector>
  </HeadingPairs>
  <TitlesOfParts>
    <vt:vector size="13" baseType="lpstr">
      <vt:lpstr>Aptos</vt:lpstr>
      <vt:lpstr>Aptos Display</vt:lpstr>
      <vt:lpstr>Arial</vt:lpstr>
      <vt:lpstr>Calibri</vt:lpstr>
      <vt:lpstr>IBM Plex Sans</vt:lpstr>
      <vt:lpstr>IBM Plex Sans Light</vt:lpstr>
      <vt:lpstr>IBM Plex Sans Regular</vt:lpstr>
      <vt:lpstr>Office Theme</vt:lpstr>
      <vt:lpstr>AI is only as smart as the data behind it Most organizations have access to AI. Few have data that AI can actually understand and trust.</vt:lpstr>
      <vt:lpstr> Watsonx.data intelligence Turning enterprise data into trusted intelligence </vt:lpstr>
      <vt:lpstr>Creating an intelligent metadata foundation</vt:lpstr>
      <vt:lpstr>What outcomes does the customer achieve?</vt:lpstr>
      <vt:lpstr>Real-world Impact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Nichole Zheng</dc:creator>
  <cp:lastModifiedBy>Nichole Zheng</cp:lastModifiedBy>
  <cp:revision>1</cp:revision>
  <cp:lastPrinted>2026-06-05T01:01:45Z</cp:lastPrinted>
  <dcterms:created xsi:type="dcterms:W3CDTF">2026-06-02T16:06:25Z</dcterms:created>
  <dcterms:modified xsi:type="dcterms:W3CDTF">2026-06-05T01:02:06Z</dcterms:modified>
</cp:coreProperties>
</file>