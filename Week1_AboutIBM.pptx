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962" r:id="rId4"/>
  </p:sldMasterIdLst>
  <p:notesMasterIdLst>
    <p:notesMasterId r:id="rId15"/>
  </p:notesMasterIdLst>
  <p:handoutMasterIdLst>
    <p:handoutMasterId r:id="rId16"/>
  </p:handoutMasterIdLst>
  <p:sldIdLst>
    <p:sldId id="474" r:id="rId5"/>
    <p:sldId id="466" r:id="rId6"/>
    <p:sldId id="542" r:id="rId7"/>
    <p:sldId id="402" r:id="rId8"/>
    <p:sldId id="403" r:id="rId9"/>
    <p:sldId id="405" r:id="rId10"/>
    <p:sldId id="543" r:id="rId11"/>
    <p:sldId id="544" r:id="rId12"/>
    <p:sldId id="545" r:id="rId13"/>
    <p:sldId id="508" r:id="rId14"/>
  </p:sldIdLst>
  <p:sldSz cx="24387175" cy="13716000"/>
  <p:notesSz cx="6858000" cy="9144000"/>
  <p:embeddedFontLst>
    <p:embeddedFont>
      <p:font typeface="IBM Plex Sans" panose="020B0503050203000203" pitchFamily="34" charset="0"/>
      <p:regular r:id="rId17"/>
      <p:bold r:id="rId18"/>
      <p:italic r:id="rId19"/>
      <p:boldItalic r:id="rId20"/>
    </p:embeddedFont>
    <p:embeddedFont>
      <p:font typeface="IBM Plex Sans ExtLt" panose="020B0303050203000203" pitchFamily="34" charset="0"/>
      <p:regular r:id="rId21"/>
      <p:italic r:id="rId22"/>
    </p:embeddedFont>
    <p:embeddedFont>
      <p:font typeface="IBM Plex Sans Light" panose="020B0403050203000203" pitchFamily="34" charset="0"/>
      <p:regular r:id="rId23"/>
      <p:italic r:id="rId24"/>
    </p:embeddedFont>
  </p:embeddedFontLst>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 slides" id="{4700659D-582D-3B47-8AF6-59C9324AA29A}">
          <p14:sldIdLst>
            <p14:sldId id="474"/>
            <p14:sldId id="466"/>
            <p14:sldId id="542"/>
            <p14:sldId id="402"/>
            <p14:sldId id="403"/>
            <p14:sldId id="405"/>
            <p14:sldId id="543"/>
            <p14:sldId id="544"/>
            <p14:sldId id="545"/>
            <p14:sldId id="508"/>
          </p14:sldIdLst>
        </p14:section>
        <p14:section name="Microgrid" id="{B04D37AE-4F8F-3744-867F-51C1B17FCD3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240C83-B322-10D6-062F-819233246F17}" name="Diana Stanciulescu" initials="DS" userId="S::diana.stanciulescu@ro.ibm.com::8457c4d8-b183-4fb8-9506-2337bdfae6b8" providerId="AD"/>
  <p188:author id="{471F5894-9527-7E5F-AE6F-3881B44FA2B8}" name="Gabriel Barbu" initials="" userId="S::gabriel.barbu@ibm.com::3d0c1c4c-23d9-4258-9226-f99453c129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3627DB-DB6A-904A-BBBB-6F30AB09D971}" v="600" dt="2026-05-29T15:25:01.8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96"/>
    <p:restoredTop sz="83154"/>
  </p:normalViewPr>
  <p:slideViewPr>
    <p:cSldViewPr snapToGrid="0" snapToObjects="1">
      <p:cViewPr varScale="1">
        <p:scale>
          <a:sx n="50" d="100"/>
          <a:sy n="50" d="100"/>
        </p:scale>
        <p:origin x="200" y="624"/>
      </p:cViewPr>
      <p:guideLst/>
    </p:cSldViewPr>
  </p:slideViewPr>
  <p:outlineViewPr>
    <p:cViewPr>
      <p:scale>
        <a:sx n="33" d="100"/>
        <a:sy n="33" d="100"/>
      </p:scale>
      <p:origin x="-56"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5.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1.fntdata"/><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8.fntdata"/><Relationship Id="rId5" Type="http://schemas.openxmlformats.org/officeDocument/2006/relationships/slide" Target="slides/slide1.xml"/><Relationship Id="rId15" Type="http://schemas.openxmlformats.org/officeDocument/2006/relationships/notesMaster" Target="notesMasters/notesMaster1.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3.fntdata"/><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6.fntdata"/><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a:p>
        </p:txBody>
      </p:sp>
      <p:sp>
        <p:nvSpPr>
          <p:cNvPr id="6" name="Footer Placeholder 5"/>
          <p:cNvSpPr>
            <a:spLocks noGrp="1"/>
          </p:cNvSpPr>
          <p:nvPr>
            <p:ph type="ftr" sz="quarter" idx="4"/>
          </p:nvPr>
        </p:nvSpPr>
        <p:spPr>
          <a:xfrm>
            <a:off x="21945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lnSpc>
        <a:spcPct val="110000"/>
      </a:lnSpc>
      <a:spcBef>
        <a:spcPts val="0"/>
      </a:spcBef>
      <a:defRPr sz="1200"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lnSpc>
        <a:spcPct val="110000"/>
      </a:lnSpc>
      <a:spcBef>
        <a:spcPts val="0"/>
      </a:spcBef>
      <a:buFont typeface="IBM Plex Sans"/>
      <a:buChar char="–"/>
      <a:tabLst/>
      <a:defRPr sz="1200"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200"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lnSpc>
        <a:spcPct val="110000"/>
      </a:lnSpc>
      <a:spcBef>
        <a:spcPts val="0"/>
      </a:spcBef>
      <a:buFont typeface="IBM Plex Sans Light"/>
      <a:buChar char="–"/>
      <a:tabLst/>
      <a:defRPr sz="1200"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200" dirty="0">
                <a:solidFill>
                  <a:schemeClr val="bg1"/>
                </a:solidFill>
                <a:effectLst/>
                <a:latin typeface="IBM Plex Sans Light" panose="020B0503050203000203" pitchFamily="34" charset="0"/>
                <a:ea typeface="+mn-ea"/>
                <a:cs typeface="+mn-cs"/>
              </a:rPr>
              <a:t>Hi everyone, my name is Nichole and throughout this week I researched about IBM and really got to understand IBM - not just what we do today but how IBM changed throughout these years but still stayed relevant. </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sz="1200" b="0"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So instead of focusing only on current products, I looked at how IBM has evolved over time. In this presentation, I’ll walk through that evolution, and then connect it to where IBM is today, especially in areas like AI and hybrid cloud.</a:t>
            </a:r>
          </a:p>
          <a:p>
            <a:endParaRPr lang="en-US" sz="1200" b="0"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But what I found most interesting is that IBM isn’t just adapting—it’s consistently repositioning itself around major technology shifts.</a:t>
            </a:r>
          </a:p>
          <a:p>
            <a:endParaRPr lang="en-BR"/>
          </a:p>
        </p:txBody>
      </p:sp>
      <p:sp>
        <p:nvSpPr>
          <p:cNvPr id="4" name="Slide Number Placeholder 3"/>
          <p:cNvSpPr>
            <a:spLocks noGrp="1"/>
          </p:cNvSpPr>
          <p:nvPr>
            <p:ph type="sldNum" sz="quarter" idx="5"/>
          </p:nvPr>
        </p:nvSpPr>
        <p:spPr/>
        <p:txBody>
          <a:bodyPr/>
          <a:lstStyle/>
          <a:p>
            <a:fld id="{6E2E38B8-B0B4-AD41-AC6E-B781F46A9FD3}" type="slidenum">
              <a:rPr lang="en-US" smtClean="0"/>
              <a:pPr/>
              <a:t>1</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1213232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sz="1200" b="0" i="0" kern="1200" dirty="0">
                <a:solidFill>
                  <a:schemeClr val="bg1"/>
                </a:solidFill>
                <a:effectLst/>
                <a:latin typeface="IBM Plex Sans Light" panose="020B0503050203000203" pitchFamily="34" charset="0"/>
                <a:ea typeface="+mn-ea"/>
                <a:cs typeface="+mn-cs"/>
              </a:rPr>
              <a:t>To start with the timeline—IBM was founded in 1911, originally focused on tabulating machines and punch cards.</a:t>
            </a:r>
          </a:p>
          <a:p>
            <a:endParaRPr lang="en-US" sz="1200" b="0"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At that time, this was already about processing large amounts of business data, which is actually still very relevant to what IBM does today.</a:t>
            </a:r>
          </a:p>
          <a:p>
            <a:r>
              <a:rPr lang="en-US" sz="1200" b="0" i="0" kern="1200" dirty="0">
                <a:solidFill>
                  <a:schemeClr val="bg1"/>
                </a:solidFill>
                <a:effectLst/>
                <a:latin typeface="IBM Plex Sans Light" panose="020B0503050203000203" pitchFamily="34" charset="0"/>
                <a:ea typeface="+mn-ea"/>
                <a:cs typeface="+mn-cs"/>
              </a:rPr>
              <a:t>Moving into the 1950s and 60s, IBM became a leader in enterprise computing.</a:t>
            </a:r>
          </a:p>
          <a:p>
            <a:endParaRPr lang="en-US" sz="1200" b="0"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For example, the introduction of the System/360 mainframe was a huge milestone because it standardized computing across businesses.</a:t>
            </a:r>
          </a:p>
          <a:p>
            <a:r>
              <a:rPr lang="en-US" sz="1200" b="0" i="0" kern="1200" dirty="0">
                <a:solidFill>
                  <a:schemeClr val="bg1"/>
                </a:solidFill>
                <a:effectLst/>
                <a:latin typeface="IBM Plex Sans Light" panose="020B0503050203000203" pitchFamily="34" charset="0"/>
                <a:ea typeface="+mn-ea"/>
                <a:cs typeface="+mn-cs"/>
              </a:rPr>
              <a:t>This essentially made IBM the backbone of many enterprise systems.</a:t>
            </a:r>
          </a:p>
          <a:p>
            <a:r>
              <a:rPr lang="en-US" sz="1200" b="0" i="0" kern="1200" dirty="0">
                <a:solidFill>
                  <a:schemeClr val="bg1"/>
                </a:solidFill>
                <a:effectLst/>
                <a:latin typeface="IBM Plex Sans Light" panose="020B0503050203000203" pitchFamily="34" charset="0"/>
                <a:ea typeface="+mn-ea"/>
                <a:cs typeface="+mn-cs"/>
              </a:rPr>
              <a:t>Then in the 1980s, with the rise of personal computers, IBM shifted again—this time toward PCs and enterprise hardware.</a:t>
            </a:r>
          </a:p>
          <a:p>
            <a:r>
              <a:rPr lang="en-US" sz="1200" b="0" i="0" kern="1200" dirty="0">
                <a:solidFill>
                  <a:schemeClr val="bg1"/>
                </a:solidFill>
                <a:effectLst/>
                <a:latin typeface="IBM Plex Sans Light" panose="020B0503050203000203" pitchFamily="34" charset="0"/>
                <a:ea typeface="+mn-ea"/>
                <a:cs typeface="+mn-cs"/>
              </a:rPr>
              <a:t>But what stood out to me even more was the move into </a:t>
            </a:r>
            <a:r>
              <a:rPr lang="en-US" sz="1200" b="1" i="0" kern="1200" dirty="0">
                <a:solidFill>
                  <a:schemeClr val="bg1"/>
                </a:solidFill>
                <a:effectLst/>
                <a:latin typeface="IBM Plex Sans Light" panose="020B0503050203000203" pitchFamily="34" charset="0"/>
                <a:ea typeface="+mn-ea"/>
                <a:cs typeface="+mn-cs"/>
              </a:rPr>
              <a:t>services and consulting</a:t>
            </a:r>
            <a:r>
              <a:rPr lang="en-US" sz="1200" b="0" i="0" kern="1200" dirty="0">
                <a:solidFill>
                  <a:schemeClr val="bg1"/>
                </a:solidFill>
                <a:effectLst/>
                <a:latin typeface="IBM Plex Sans Light" panose="020B0503050203000203" pitchFamily="34" charset="0"/>
                <a:ea typeface="+mn-ea"/>
                <a:cs typeface="+mn-cs"/>
              </a:rPr>
              <a:t>.</a:t>
            </a:r>
          </a:p>
          <a:p>
            <a:r>
              <a:rPr lang="en-US" sz="1200" b="0" i="0" kern="1200" dirty="0">
                <a:solidFill>
                  <a:schemeClr val="bg1"/>
                </a:solidFill>
                <a:effectLst/>
                <a:latin typeface="IBM Plex Sans Light" panose="020B0503050203000203" pitchFamily="34" charset="0"/>
                <a:ea typeface="+mn-ea"/>
                <a:cs typeface="+mn-cs"/>
              </a:rPr>
              <a:t>Instead of just selling products, IBM started helping companies solve business problems directly.</a:t>
            </a:r>
          </a:p>
          <a:p>
            <a:r>
              <a:rPr lang="en-US" sz="1200" b="0" i="0" kern="1200" dirty="0">
                <a:solidFill>
                  <a:schemeClr val="bg1"/>
                </a:solidFill>
                <a:effectLst/>
                <a:latin typeface="IBM Plex Sans Light" panose="020B0503050203000203" pitchFamily="34" charset="0"/>
                <a:ea typeface="+mn-ea"/>
                <a:cs typeface="+mn-cs"/>
              </a:rPr>
              <a:t>I think this shift—from products to solutions—was one of the most important turning points in IBM’s history.</a:t>
            </a: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2</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3285303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sz="1200" b="0" i="0" kern="1200" dirty="0">
                <a:solidFill>
                  <a:schemeClr val="bg1"/>
                </a:solidFill>
                <a:effectLst/>
                <a:latin typeface="IBM Plex Sans Light" panose="020B0503050203000203" pitchFamily="34" charset="0"/>
                <a:ea typeface="+mn-ea"/>
                <a:cs typeface="+mn-cs"/>
              </a:rPr>
              <a:t>In more recent years, IBM has shifted toward AI, cloud, and emerging technologies.</a:t>
            </a:r>
          </a:p>
          <a:p>
            <a:r>
              <a:rPr lang="en-US" sz="1200" b="0" i="0" kern="1200" dirty="0">
                <a:solidFill>
                  <a:schemeClr val="bg1"/>
                </a:solidFill>
                <a:effectLst/>
                <a:latin typeface="IBM Plex Sans Light" panose="020B0503050203000203" pitchFamily="34" charset="0"/>
                <a:ea typeface="+mn-ea"/>
                <a:cs typeface="+mn-cs"/>
              </a:rPr>
              <a:t>One well-known milestone was in 2011, when Watson won Jeopardy, demonstrating IBM’s capabilities in artificial intelligence.</a:t>
            </a:r>
          </a:p>
          <a:p>
            <a:endParaRPr lang="en-US" sz="1200" b="0"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At the same time, the industry was changing quickly, especially with the rise of cloud platforms like AWS and Azure.</a:t>
            </a:r>
          </a:p>
          <a:p>
            <a:r>
              <a:rPr lang="en-US" sz="1200" b="0" i="0" kern="1200" dirty="0">
                <a:solidFill>
                  <a:schemeClr val="bg1"/>
                </a:solidFill>
                <a:effectLst/>
                <a:latin typeface="IBM Plex Sans Light" panose="020B0503050203000203" pitchFamily="34" charset="0"/>
                <a:ea typeface="+mn-ea"/>
                <a:cs typeface="+mn-cs"/>
              </a:rPr>
              <a:t>What I found interesting is that IBM didn’t try to compete in exactly the same way—instead, it repositioned itself again.</a:t>
            </a:r>
          </a:p>
          <a:p>
            <a:endParaRPr lang="en-US" sz="1200" b="0"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The acquisition of Red Hat in 2019 was a major strategic move, because it strengthened IBM’s position in hybrid cloud.</a:t>
            </a:r>
          </a:p>
          <a:p>
            <a:r>
              <a:rPr lang="en-US" sz="1200" b="0" i="0" kern="1200" dirty="0">
                <a:solidFill>
                  <a:schemeClr val="bg1"/>
                </a:solidFill>
                <a:effectLst/>
                <a:latin typeface="IBM Plex Sans Light" panose="020B0503050203000203" pitchFamily="34" charset="0"/>
                <a:ea typeface="+mn-ea"/>
                <a:cs typeface="+mn-cs"/>
              </a:rPr>
              <a:t>And today, IBM is focused on enterprise AI, hybrid cloud, and even quantum computing research.</a:t>
            </a:r>
          </a:p>
          <a:p>
            <a:r>
              <a:rPr lang="en-US" sz="1200" b="0" i="0" kern="1200" dirty="0">
                <a:solidFill>
                  <a:schemeClr val="bg1"/>
                </a:solidFill>
                <a:effectLst/>
                <a:latin typeface="IBM Plex Sans Light" panose="020B0503050203000203" pitchFamily="34" charset="0"/>
                <a:ea typeface="+mn-ea"/>
                <a:cs typeface="+mn-cs"/>
              </a:rPr>
              <a:t>So the main takeaway here is that IBM’s longevity really comes from continuously evolving at key moments in technology.</a:t>
            </a: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3</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2320545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2088" y="228600"/>
            <a:ext cx="6473825" cy="3641725"/>
          </a:xfrm>
        </p:spPr>
      </p:sp>
      <p:sp>
        <p:nvSpPr>
          <p:cNvPr id="3" name="Notes Placeholder 2"/>
          <p:cNvSpPr>
            <a:spLocks noGrp="1"/>
          </p:cNvSpPr>
          <p:nvPr>
            <p:ph type="body" idx="1"/>
          </p:nvPr>
        </p:nvSpPr>
        <p:spPr/>
        <p:txBody>
          <a:bodyPr/>
          <a:lstStyle/>
          <a:p>
            <a:r>
              <a:rPr lang="en-US" sz="1200" b="0" i="0" kern="1200" dirty="0">
                <a:solidFill>
                  <a:schemeClr val="bg1"/>
                </a:solidFill>
                <a:effectLst/>
                <a:latin typeface="IBM Plex Sans Light" panose="020B0503050203000203" pitchFamily="34" charset="0"/>
                <a:ea typeface="+mn-ea"/>
                <a:cs typeface="+mn-cs"/>
              </a:rPr>
              <a:t>Today, IBM operates across several major business areas, including software, consulting, infrastructure, hybrid cloud, and quantum computing.</a:t>
            </a:r>
          </a:p>
          <a:p>
            <a:r>
              <a:rPr lang="en-US" sz="1200" b="0" i="0" kern="1200" dirty="0">
                <a:solidFill>
                  <a:schemeClr val="bg1"/>
                </a:solidFill>
                <a:effectLst/>
                <a:latin typeface="IBM Plex Sans Light" panose="020B0503050203000203" pitchFamily="34" charset="0"/>
                <a:ea typeface="+mn-ea"/>
                <a:cs typeface="+mn-cs"/>
              </a:rPr>
              <a:t>But what stood out to me is that these aren’t isolated—they’re actually very interconnected.</a:t>
            </a:r>
          </a:p>
          <a:p>
            <a:r>
              <a:rPr lang="en-US" sz="1200" b="0" i="0" kern="1200" dirty="0">
                <a:solidFill>
                  <a:schemeClr val="bg1"/>
                </a:solidFill>
                <a:effectLst/>
                <a:latin typeface="IBM Plex Sans Light" panose="020B0503050203000203" pitchFamily="34" charset="0"/>
                <a:ea typeface="+mn-ea"/>
                <a:cs typeface="+mn-cs"/>
              </a:rPr>
              <a:t>For example, consulting helps clients adopt IBM’s software and cloud solutions, and infrastructure supports those systems.</a:t>
            </a:r>
          </a:p>
          <a:p>
            <a:r>
              <a:rPr lang="en-US" sz="1200" b="0" i="0" kern="1200" dirty="0">
                <a:solidFill>
                  <a:schemeClr val="bg1"/>
                </a:solidFill>
                <a:effectLst/>
                <a:latin typeface="IBM Plex Sans Light" panose="020B0503050203000203" pitchFamily="34" charset="0"/>
                <a:ea typeface="+mn-ea"/>
                <a:cs typeface="+mn-cs"/>
              </a:rPr>
              <a:t>So instead of being just a product company, IBM acts more like an end-to-end partner for enterprises.</a:t>
            </a:r>
          </a:p>
          <a:p>
            <a:r>
              <a:rPr lang="en-US" sz="1200" b="0" i="0" kern="1200" dirty="0">
                <a:solidFill>
                  <a:schemeClr val="bg1"/>
                </a:solidFill>
                <a:effectLst/>
                <a:latin typeface="IBM Plex Sans Light" panose="020B0503050203000203" pitchFamily="34" charset="0"/>
                <a:ea typeface="+mn-ea"/>
                <a:cs typeface="+mn-cs"/>
              </a:rPr>
              <a:t>It’s really about helping businesses transform—not just providing tools.</a:t>
            </a: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4</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775914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sz="1200" b="0" i="0" kern="1200" dirty="0">
                <a:solidFill>
                  <a:schemeClr val="bg1"/>
                </a:solidFill>
                <a:effectLst/>
                <a:latin typeface="IBM Plex Sans Light" panose="020B0503050203000203" pitchFamily="34" charset="0"/>
                <a:ea typeface="+mn-ea"/>
                <a:cs typeface="+mn-cs"/>
              </a:rPr>
              <a:t>One area I wanted to highlight is </a:t>
            </a:r>
            <a:r>
              <a:rPr lang="en-US" sz="1200" b="0" i="0" kern="1200" dirty="0" err="1">
                <a:solidFill>
                  <a:schemeClr val="bg1"/>
                </a:solidFill>
                <a:effectLst/>
                <a:latin typeface="IBM Plex Sans Light" panose="020B0503050203000203" pitchFamily="34" charset="0"/>
                <a:ea typeface="+mn-ea"/>
                <a:cs typeface="+mn-cs"/>
              </a:rPr>
              <a:t>Watsonx</a:t>
            </a:r>
            <a:r>
              <a:rPr lang="en-US" sz="1200" b="0" i="0" kern="1200" dirty="0">
                <a:solidFill>
                  <a:schemeClr val="bg1"/>
                </a:solidFill>
                <a:effectLst/>
                <a:latin typeface="IBM Plex Sans Light" panose="020B0503050203000203" pitchFamily="34" charset="0"/>
                <a:ea typeface="+mn-ea"/>
                <a:cs typeface="+mn-cs"/>
              </a:rPr>
              <a:t>, which is IBM’s enterprise AI platform.</a:t>
            </a:r>
          </a:p>
          <a:p>
            <a:r>
              <a:rPr lang="en-US" sz="1200" b="0" i="0" kern="1200" dirty="0">
                <a:solidFill>
                  <a:schemeClr val="bg1"/>
                </a:solidFill>
                <a:effectLst/>
                <a:latin typeface="IBM Plex Sans Light" panose="020B0503050203000203" pitchFamily="34" charset="0"/>
                <a:ea typeface="+mn-ea"/>
                <a:cs typeface="+mn-cs"/>
              </a:rPr>
              <a:t>It includes three main components:</a:t>
            </a:r>
          </a:p>
          <a:p>
            <a:r>
              <a:rPr lang="en-US" sz="1200" b="1" i="0" kern="1200" dirty="0">
                <a:solidFill>
                  <a:schemeClr val="bg1"/>
                </a:solidFill>
                <a:effectLst/>
                <a:latin typeface="IBM Plex Sans Light" panose="020B0503050203000203" pitchFamily="34" charset="0"/>
                <a:ea typeface="+mn-ea"/>
                <a:cs typeface="+mn-cs"/>
              </a:rPr>
              <a:t>• </a:t>
            </a:r>
            <a:r>
              <a:rPr lang="en-US" sz="1200" b="0" i="0" kern="1200" dirty="0" err="1">
                <a:solidFill>
                  <a:schemeClr val="bg1"/>
                </a:solidFill>
                <a:effectLst/>
                <a:latin typeface="IBM Plex Sans Light" panose="020B0503050203000203" pitchFamily="34" charset="0"/>
                <a:ea typeface="+mn-ea"/>
                <a:cs typeface="+mn-cs"/>
              </a:rPr>
              <a:t>Watsonx.data</a:t>
            </a:r>
            <a:r>
              <a:rPr lang="en-US" sz="1200" b="0" i="0" kern="1200" dirty="0">
                <a:solidFill>
                  <a:schemeClr val="bg1"/>
                </a:solidFill>
                <a:effectLst/>
                <a:latin typeface="IBM Plex Sans Light" panose="020B0503050203000203" pitchFamily="34" charset="0"/>
                <a:ea typeface="+mn-ea"/>
                <a:cs typeface="+mn-cs"/>
              </a:rPr>
              <a:t> for organizing enterprise data</a:t>
            </a:r>
          </a:p>
          <a:p>
            <a:r>
              <a:rPr lang="en-US" sz="1200" b="1" i="0" kern="1200" dirty="0">
                <a:solidFill>
                  <a:schemeClr val="bg1"/>
                </a:solidFill>
                <a:effectLst/>
                <a:latin typeface="IBM Plex Sans Light" panose="020B0503050203000203" pitchFamily="34" charset="0"/>
                <a:ea typeface="+mn-ea"/>
                <a:cs typeface="+mn-cs"/>
              </a:rPr>
              <a:t>• </a:t>
            </a:r>
            <a:r>
              <a:rPr lang="en-US" sz="1200" b="0" i="0" kern="1200" dirty="0" err="1">
                <a:solidFill>
                  <a:schemeClr val="bg1"/>
                </a:solidFill>
                <a:effectLst/>
                <a:latin typeface="IBM Plex Sans Light" panose="020B0503050203000203" pitchFamily="34" charset="0"/>
                <a:ea typeface="+mn-ea"/>
                <a:cs typeface="+mn-cs"/>
              </a:rPr>
              <a:t>Watsonx.ai</a:t>
            </a:r>
            <a:r>
              <a:rPr lang="en-US" sz="1200" b="0" i="0" kern="1200" dirty="0">
                <a:solidFill>
                  <a:schemeClr val="bg1"/>
                </a:solidFill>
                <a:effectLst/>
                <a:latin typeface="IBM Plex Sans Light" panose="020B0503050203000203" pitchFamily="34" charset="0"/>
                <a:ea typeface="+mn-ea"/>
                <a:cs typeface="+mn-cs"/>
              </a:rPr>
              <a:t> as the core AI engine</a:t>
            </a:r>
          </a:p>
          <a:p>
            <a:r>
              <a:rPr lang="en-US" sz="1200" b="1" i="0" kern="1200" dirty="0">
                <a:solidFill>
                  <a:schemeClr val="bg1"/>
                </a:solidFill>
                <a:effectLst/>
                <a:latin typeface="IBM Plex Sans Light" panose="020B0503050203000203" pitchFamily="34" charset="0"/>
                <a:ea typeface="+mn-ea"/>
                <a:cs typeface="+mn-cs"/>
              </a:rPr>
              <a:t>• </a:t>
            </a:r>
            <a:r>
              <a:rPr lang="en-US" sz="1200" b="0" i="0" kern="1200" dirty="0" err="1">
                <a:solidFill>
                  <a:schemeClr val="bg1"/>
                </a:solidFill>
                <a:effectLst/>
                <a:latin typeface="IBM Plex Sans Light" panose="020B0503050203000203" pitchFamily="34" charset="0"/>
                <a:ea typeface="+mn-ea"/>
                <a:cs typeface="+mn-cs"/>
              </a:rPr>
              <a:t>Watsonx.governance</a:t>
            </a:r>
            <a:r>
              <a:rPr lang="en-US" sz="1200" b="0" i="0" kern="1200" dirty="0">
                <a:solidFill>
                  <a:schemeClr val="bg1"/>
                </a:solidFill>
                <a:effectLst/>
                <a:latin typeface="IBM Plex Sans Light" panose="020B0503050203000203" pitchFamily="34" charset="0"/>
                <a:ea typeface="+mn-ea"/>
                <a:cs typeface="+mn-cs"/>
              </a:rPr>
              <a:t> to ensure compliance and security</a:t>
            </a:r>
          </a:p>
          <a:p>
            <a:r>
              <a:rPr lang="en-US" sz="1200" b="0" i="0" kern="1200" dirty="0">
                <a:solidFill>
                  <a:schemeClr val="bg1"/>
                </a:solidFill>
                <a:effectLst/>
                <a:latin typeface="IBM Plex Sans Light" panose="020B0503050203000203" pitchFamily="34" charset="0"/>
                <a:ea typeface="+mn-ea"/>
                <a:cs typeface="+mn-cs"/>
              </a:rPr>
              <a:t>What’s important here is that IBM isn’t just focusing on AI performance—it’s also focusing on </a:t>
            </a:r>
            <a:r>
              <a:rPr lang="en-US" sz="1200" b="1" i="0" kern="1200" dirty="0">
                <a:solidFill>
                  <a:schemeClr val="bg1"/>
                </a:solidFill>
                <a:effectLst/>
                <a:latin typeface="IBM Plex Sans Light" panose="020B0503050203000203" pitchFamily="34" charset="0"/>
                <a:ea typeface="+mn-ea"/>
                <a:cs typeface="+mn-cs"/>
              </a:rPr>
              <a:t>trust and governance</a:t>
            </a:r>
            <a:r>
              <a:rPr lang="en-US" sz="1200" b="0" i="0" kern="1200" dirty="0">
                <a:solidFill>
                  <a:schemeClr val="bg1"/>
                </a:solidFill>
                <a:effectLst/>
                <a:latin typeface="IBM Plex Sans Light" panose="020B0503050203000203" pitchFamily="34" charset="0"/>
                <a:ea typeface="+mn-ea"/>
                <a:cs typeface="+mn-cs"/>
              </a:rPr>
              <a:t>.</a:t>
            </a:r>
          </a:p>
          <a:p>
            <a:r>
              <a:rPr lang="en-US" sz="1200" b="0" i="0" kern="1200" dirty="0">
                <a:solidFill>
                  <a:schemeClr val="bg1"/>
                </a:solidFill>
                <a:effectLst/>
                <a:latin typeface="IBM Plex Sans Light" panose="020B0503050203000203" pitchFamily="34" charset="0"/>
                <a:ea typeface="+mn-ea"/>
                <a:cs typeface="+mn-cs"/>
              </a:rPr>
              <a:t>For large companies, that’s critical, because they need AI systems that are secure, transparent, and compliant with regulations.</a:t>
            </a:r>
          </a:p>
          <a:p>
            <a:r>
              <a:rPr lang="en-US" sz="1200" b="0" i="0" kern="1200" dirty="0">
                <a:solidFill>
                  <a:schemeClr val="bg1"/>
                </a:solidFill>
                <a:effectLst/>
                <a:latin typeface="IBM Plex Sans Light" panose="020B0503050203000203" pitchFamily="34" charset="0"/>
                <a:ea typeface="+mn-ea"/>
                <a:cs typeface="+mn-cs"/>
              </a:rPr>
              <a:t>So I see </a:t>
            </a:r>
            <a:r>
              <a:rPr lang="en-US" sz="1200" b="0" i="0" kern="1200" dirty="0" err="1">
                <a:solidFill>
                  <a:schemeClr val="bg1"/>
                </a:solidFill>
                <a:effectLst/>
                <a:latin typeface="IBM Plex Sans Light" panose="020B0503050203000203" pitchFamily="34" charset="0"/>
                <a:ea typeface="+mn-ea"/>
                <a:cs typeface="+mn-cs"/>
              </a:rPr>
              <a:t>Watsonx</a:t>
            </a:r>
            <a:r>
              <a:rPr lang="en-US" sz="1200" b="0" i="0" kern="1200" dirty="0">
                <a:solidFill>
                  <a:schemeClr val="bg1"/>
                </a:solidFill>
                <a:effectLst/>
                <a:latin typeface="IBM Plex Sans Light" panose="020B0503050203000203" pitchFamily="34" charset="0"/>
                <a:ea typeface="+mn-ea"/>
                <a:cs typeface="+mn-cs"/>
              </a:rPr>
              <a:t> as a continuation of IBM’s long-standing focus on enterprise trust.</a:t>
            </a:r>
          </a:p>
          <a:p>
            <a:endParaRPr lang="en-BR"/>
          </a:p>
        </p:txBody>
      </p:sp>
      <p:sp>
        <p:nvSpPr>
          <p:cNvPr id="4" name="Slide Number Placeholder 3"/>
          <p:cNvSpPr>
            <a:spLocks noGrp="1"/>
          </p:cNvSpPr>
          <p:nvPr>
            <p:ph type="sldNum" sz="quarter" idx="5"/>
          </p:nvPr>
        </p:nvSpPr>
        <p:spPr/>
        <p:txBody>
          <a:bodyPr/>
          <a:lstStyle/>
          <a:p>
            <a:fld id="{6E2E38B8-B0B4-AD41-AC6E-B781F46A9FD3}" type="slidenum">
              <a:rPr lang="en-US" smtClean="0"/>
              <a:pPr/>
              <a:t>5</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2902404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sz="1200" b="0" i="0" kern="1200" dirty="0">
                <a:solidFill>
                  <a:schemeClr val="bg1"/>
                </a:solidFill>
                <a:effectLst/>
                <a:latin typeface="IBM Plex Sans Light" panose="020B0503050203000203" pitchFamily="34" charset="0"/>
                <a:ea typeface="+mn-ea"/>
                <a:cs typeface="+mn-cs"/>
              </a:rPr>
              <a:t>Another key area is IBM’s hybrid cloud strategy, which is driven by Red Hat and OpenShift.</a:t>
            </a:r>
          </a:p>
          <a:p>
            <a:r>
              <a:rPr lang="en-US" sz="1200" b="0" i="0" kern="1200" dirty="0">
                <a:solidFill>
                  <a:schemeClr val="bg1"/>
                </a:solidFill>
                <a:effectLst/>
                <a:latin typeface="IBM Plex Sans Light" panose="020B0503050203000203" pitchFamily="34" charset="0"/>
                <a:ea typeface="+mn-ea"/>
                <a:cs typeface="+mn-cs"/>
              </a:rPr>
              <a:t>Hybrid cloud basically means that companies can run applications across different environments—like public cloud, private cloud, and on-prem systems.</a:t>
            </a:r>
          </a:p>
          <a:p>
            <a:r>
              <a:rPr lang="en-US" sz="1200" b="0" i="0" kern="1200" dirty="0">
                <a:solidFill>
                  <a:schemeClr val="bg1"/>
                </a:solidFill>
                <a:effectLst/>
                <a:latin typeface="IBM Plex Sans Light" panose="020B0503050203000203" pitchFamily="34" charset="0"/>
                <a:ea typeface="+mn-ea"/>
                <a:cs typeface="+mn-cs"/>
              </a:rPr>
              <a:t>This flexibility is really important for large enterprises, because most of them don’t operate in just one environment.</a:t>
            </a:r>
          </a:p>
          <a:p>
            <a:r>
              <a:rPr lang="en-US" dirty="0"/>
              <a:t>s</a:t>
            </a:r>
          </a:p>
          <a:p>
            <a:pPr marL="0" marR="0" lvl="0" indent="0" algn="l" defTabSz="2438522" rtl="0" eaLnBrk="1" fontAlgn="auto" latinLnBrk="0" hangingPunct="1">
              <a:lnSpc>
                <a:spcPct val="110000"/>
              </a:lnSpc>
              <a:spcBef>
                <a:spcPts val="0"/>
              </a:spcBef>
              <a:spcAft>
                <a:spcPts val="0"/>
              </a:spcAft>
              <a:buClrTx/>
              <a:buSzTx/>
              <a:buFontTx/>
              <a:buNone/>
              <a:tabLst/>
              <a:defRPr/>
            </a:pPr>
            <a:r>
              <a:rPr lang="en-US" dirty="0"/>
              <a:t>Red Hat helps enterprises manage applications across complex cloud environments, while OpenShift is Red Hat's platform that helps businesses run applications and AI across different cloud environments, </a:t>
            </a:r>
            <a:r>
              <a:rPr lang="en-US" sz="1200" b="0" i="0" kern="1200" dirty="0">
                <a:solidFill>
                  <a:schemeClr val="bg1"/>
                </a:solidFill>
                <a:effectLst/>
                <a:latin typeface="IBM Plex Sans Light" panose="020B0503050203000203" pitchFamily="34" charset="0"/>
                <a:ea typeface="+mn-ea"/>
                <a:cs typeface="+mn-cs"/>
              </a:rPr>
              <a:t>which simplifies things for clients.</a:t>
            </a:r>
          </a:p>
          <a:p>
            <a:endParaRPr lang="en-US" dirty="0"/>
          </a:p>
          <a:p>
            <a:r>
              <a:rPr lang="en-US" dirty="0"/>
              <a:t>This strategy is becoming a major growth driver for IBM. In the company’s 1Q 2026 investor report, Red Hat growth accelerated to 10% year-over-year, and OpenShift annual recurring revenue reached $2 billion.</a:t>
            </a:r>
          </a:p>
          <a:p>
            <a:endParaRPr lang="en-US" dirty="0"/>
          </a:p>
          <a:p>
            <a:r>
              <a:rPr lang="en-US" dirty="0"/>
              <a:t>These metrics show how IBM is generating stable subscription-based enterprise software revenue through hybrid cloud infrastructure.</a:t>
            </a:r>
          </a:p>
          <a:p>
            <a:endParaRPr lang="en-US" dirty="0"/>
          </a:p>
          <a:p>
            <a:pPr marL="171450" indent="-171450">
              <a:buFontTx/>
              <a:buChar char="-"/>
            </a:pPr>
            <a:r>
              <a:rPr lang="en-US" dirty="0"/>
              <a:t>Q1 Earnings beats expectations</a:t>
            </a:r>
          </a:p>
          <a:p>
            <a:pPr marL="637140" lvl="1" indent="-171450">
              <a:buFontTx/>
              <a:buChar char="-"/>
            </a:pPr>
            <a:r>
              <a:rPr lang="en-US" dirty="0"/>
              <a:t>- </a:t>
            </a:r>
            <a:r>
              <a:rPr lang="en-US" dirty="0" err="1"/>
              <a:t>Revnue</a:t>
            </a:r>
            <a:r>
              <a:rPr lang="en-US" dirty="0"/>
              <a:t>: $15.92B (+9% YoY)</a:t>
            </a:r>
          </a:p>
          <a:p>
            <a:pPr marL="637140" lvl="1" indent="-171450">
              <a:buFontTx/>
              <a:buChar char="-"/>
            </a:pPr>
            <a:r>
              <a:rPr lang="en-US" dirty="0"/>
              <a:t>- growth driven by software (11%), </a:t>
            </a:r>
            <a:r>
              <a:rPr lang="en-US" dirty="0" err="1"/>
              <a:t>infrasture</a:t>
            </a:r>
            <a:r>
              <a:rPr lang="en-US" dirty="0"/>
              <a:t> (15%), Consulting (+4%)</a:t>
            </a:r>
          </a:p>
          <a:p>
            <a:pPr marL="637140" marR="0" lvl="1" indent="-171450" algn="l" defTabSz="2438522" rtl="0" eaLnBrk="1" fontAlgn="auto" latinLnBrk="0" hangingPunct="1">
              <a:lnSpc>
                <a:spcPct val="110000"/>
              </a:lnSpc>
              <a:spcBef>
                <a:spcPts val="0"/>
              </a:spcBef>
              <a:spcAft>
                <a:spcPts val="0"/>
              </a:spcAft>
              <a:buClrTx/>
              <a:buSzTx/>
              <a:buFontTx/>
              <a:buChar char="-"/>
              <a:tabLst/>
              <a:defRPr/>
            </a:pPr>
            <a:r>
              <a:rPr lang="en-US" sz="1200" b="0" i="0" kern="1200" dirty="0">
                <a:solidFill>
                  <a:schemeClr val="bg1"/>
                </a:solidFill>
                <a:effectLst/>
                <a:latin typeface="IBM Plex Sans Light" panose="020B0503050203000203" pitchFamily="34" charset="0"/>
                <a:ea typeface="+mn-ea"/>
                <a:cs typeface="+mn-cs"/>
              </a:rPr>
              <a:t>IBM’s stock story today is about steady growth driven by AI and hybrid cloud—but investors are watching carefully to see if that growth accelerates</a:t>
            </a:r>
          </a:p>
          <a:p>
            <a:pPr marL="637140" lvl="1" indent="-171450">
              <a:buFontTx/>
              <a:buChar char="-"/>
            </a:pPr>
            <a:endParaRPr lang="en-US" dirty="0"/>
          </a:p>
          <a:p>
            <a:endParaRPr lang="en-BR"/>
          </a:p>
        </p:txBody>
      </p:sp>
      <p:sp>
        <p:nvSpPr>
          <p:cNvPr id="4" name="Slide Number Placeholder 3"/>
          <p:cNvSpPr>
            <a:spLocks noGrp="1"/>
          </p:cNvSpPr>
          <p:nvPr>
            <p:ph type="sldNum" sz="quarter" idx="5"/>
          </p:nvPr>
        </p:nvSpPr>
        <p:spPr/>
        <p:txBody>
          <a:bodyPr/>
          <a:lstStyle/>
          <a:p>
            <a:fld id="{6E2E38B8-B0B4-AD41-AC6E-B781F46A9FD3}" type="slidenum">
              <a:rPr lang="en-US" smtClean="0"/>
              <a:pPr/>
              <a:t>6</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1717028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2470A-E674-767E-F6AC-4BF9C3208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B1DF9C-2B89-CC88-8077-E0E10D020AE3}"/>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2A43B460-5ED5-4933-7591-23BFA4F6CAC9}"/>
              </a:ext>
            </a:extLst>
          </p:cNvPr>
          <p:cNvSpPr>
            <a:spLocks noGrp="1"/>
          </p:cNvSpPr>
          <p:nvPr>
            <p:ph type="body" idx="1"/>
          </p:nvPr>
        </p:nvSpPr>
        <p:spPr/>
        <p:txBody>
          <a:bodyPr/>
          <a:lstStyle/>
          <a:p>
            <a:r>
              <a:rPr lang="en-US" dirty="0"/>
              <a:t>Most people probably do not interact with IBM products directly every day in the same way they interact with companies like Apple or Google.</a:t>
            </a:r>
          </a:p>
          <a:p>
            <a:r>
              <a:rPr lang="en-US" dirty="0"/>
              <a:t>But IBM still plays a major role behind the scenes of the global economy.</a:t>
            </a:r>
          </a:p>
          <a:p>
            <a:r>
              <a:rPr lang="en-US" dirty="0"/>
              <a:t>IBM technologies power many mission-critical systems across industries like banking, healthcare, airlines, government, and Fortune 500 enterprises.</a:t>
            </a:r>
          </a:p>
          <a:p>
            <a:r>
              <a:rPr lang="en-US" dirty="0"/>
              <a:t>For example, banks rely on IBM systems to process transactions securely and reliably. Airlines use large-scale infrastructure for reservations and operations. Governments and healthcare organizations depend on secure enterprise systems and data infrastructure.</a:t>
            </a:r>
          </a:p>
          <a:p>
            <a:r>
              <a:rPr lang="en-US" dirty="0"/>
              <a:t>What makes IBM different is its focus on enterprise trust, reliability, and long-term stability. These organizations care less about flashy consumer products and more about systems that are secure, scalable, and always running.</a:t>
            </a:r>
          </a:p>
          <a:p>
            <a:endParaRPr lang="en-BR"/>
          </a:p>
        </p:txBody>
      </p:sp>
      <p:sp>
        <p:nvSpPr>
          <p:cNvPr id="4" name="Slide Number Placeholder 3">
            <a:extLst>
              <a:ext uri="{FF2B5EF4-FFF2-40B4-BE49-F238E27FC236}">
                <a16:creationId xmlns:a16="http://schemas.microsoft.com/office/drawing/2014/main" id="{8F4741BF-0D34-FEE9-F90D-22559B7C4479}"/>
              </a:ext>
            </a:extLst>
          </p:cNvPr>
          <p:cNvSpPr>
            <a:spLocks noGrp="1"/>
          </p:cNvSpPr>
          <p:nvPr>
            <p:ph type="sldNum" sz="quarter" idx="5"/>
          </p:nvPr>
        </p:nvSpPr>
        <p:spPr/>
        <p:txBody>
          <a:bodyPr/>
          <a:lstStyle/>
          <a:p>
            <a:fld id="{6E2E38B8-B0B4-AD41-AC6E-B781F46A9FD3}" type="slidenum">
              <a:rPr lang="en-US" smtClean="0"/>
              <a:pPr/>
              <a:t>7</a:t>
            </a:fld>
            <a:endParaRPr lang="en-US" dirty="0"/>
          </a:p>
        </p:txBody>
      </p:sp>
      <p:sp>
        <p:nvSpPr>
          <p:cNvPr id="5" name="Footer Placeholder 4">
            <a:extLst>
              <a:ext uri="{FF2B5EF4-FFF2-40B4-BE49-F238E27FC236}">
                <a16:creationId xmlns:a16="http://schemas.microsoft.com/office/drawing/2014/main" id="{7CFF084C-9B68-43DA-1F8E-4470C646B705}"/>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35097525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EFCF0-59D1-203F-6593-7550EDA6EF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593EEA-A4B6-715C-30C6-A26BF83EAD20}"/>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F626AC19-6976-DCCF-AA3B-DFD9A0FA9946}"/>
              </a:ext>
            </a:extLst>
          </p:cNvPr>
          <p:cNvSpPr>
            <a:spLocks noGrp="1"/>
          </p:cNvSpPr>
          <p:nvPr>
            <p:ph type="body" idx="1"/>
          </p:nvPr>
        </p:nvSpPr>
        <p:spPr/>
        <p:txBody>
          <a:bodyPr/>
          <a:lstStyle/>
          <a:p>
            <a:r>
              <a:rPr lang="en-US" sz="1200" b="0" i="0" kern="1200" dirty="0">
                <a:solidFill>
                  <a:schemeClr val="bg1"/>
                </a:solidFill>
                <a:effectLst/>
                <a:latin typeface="IBM Plex Sans Light" panose="020B0503050203000203" pitchFamily="34" charset="0"/>
                <a:ea typeface="+mn-ea"/>
                <a:cs typeface="+mn-cs"/>
              </a:rPr>
              <a:t>When comparing IBM to other tech companies, the positioning is actually very different.</a:t>
            </a:r>
          </a:p>
          <a:p>
            <a:r>
              <a:rPr lang="en-US" sz="1200" b="0" i="0" kern="1200" dirty="0">
                <a:solidFill>
                  <a:schemeClr val="bg1"/>
                </a:solidFill>
                <a:effectLst/>
                <a:latin typeface="IBM Plex Sans Light" panose="020B0503050203000203" pitchFamily="34" charset="0"/>
                <a:ea typeface="+mn-ea"/>
                <a:cs typeface="+mn-cs"/>
              </a:rPr>
              <a:t>Companies like OpenAI or Google are more focused on consumer-facing AI, while AWS focuses heavily on cloud infrastructure.</a:t>
            </a:r>
          </a:p>
          <a:p>
            <a:r>
              <a:rPr lang="en-US" sz="1200" b="0" i="0" kern="1200" dirty="0">
                <a:solidFill>
                  <a:schemeClr val="bg1"/>
                </a:solidFill>
                <a:effectLst/>
                <a:latin typeface="IBM Plex Sans Light" panose="020B0503050203000203" pitchFamily="34" charset="0"/>
                <a:ea typeface="+mn-ea"/>
                <a:cs typeface="+mn-cs"/>
              </a:rPr>
              <a:t>IBM, on the other hand, focuses on enterprise AI and trust.</a:t>
            </a:r>
          </a:p>
          <a:p>
            <a:r>
              <a:rPr lang="en-US" sz="1200" b="0" i="0" kern="1200" dirty="0">
                <a:solidFill>
                  <a:schemeClr val="bg1"/>
                </a:solidFill>
                <a:effectLst/>
                <a:latin typeface="IBM Plex Sans Light" panose="020B0503050203000203" pitchFamily="34" charset="0"/>
                <a:ea typeface="+mn-ea"/>
                <a:cs typeface="+mn-cs"/>
              </a:rPr>
              <a:t>Its strengths are in areas like security, governance, and deep integration into existing business systems.</a:t>
            </a:r>
          </a:p>
          <a:p>
            <a:r>
              <a:rPr lang="en-US" sz="1200" b="0" i="0" kern="1200" dirty="0">
                <a:solidFill>
                  <a:schemeClr val="bg1"/>
                </a:solidFill>
                <a:effectLst/>
                <a:latin typeface="IBM Plex Sans Light" panose="020B0503050203000203" pitchFamily="34" charset="0"/>
                <a:ea typeface="+mn-ea"/>
                <a:cs typeface="+mn-cs"/>
              </a:rPr>
              <a:t>So instead of competing directly in consumer markets, IBM focuses on enterprise value.</a:t>
            </a:r>
          </a:p>
          <a:p>
            <a:endParaRPr lang="en-BR"/>
          </a:p>
        </p:txBody>
      </p:sp>
      <p:sp>
        <p:nvSpPr>
          <p:cNvPr id="4" name="Slide Number Placeholder 3">
            <a:extLst>
              <a:ext uri="{FF2B5EF4-FFF2-40B4-BE49-F238E27FC236}">
                <a16:creationId xmlns:a16="http://schemas.microsoft.com/office/drawing/2014/main" id="{B95B5463-E98C-EADB-F062-7D98139E11D2}"/>
              </a:ext>
            </a:extLst>
          </p:cNvPr>
          <p:cNvSpPr>
            <a:spLocks noGrp="1"/>
          </p:cNvSpPr>
          <p:nvPr>
            <p:ph type="sldNum" sz="quarter" idx="5"/>
          </p:nvPr>
        </p:nvSpPr>
        <p:spPr/>
        <p:txBody>
          <a:bodyPr/>
          <a:lstStyle/>
          <a:p>
            <a:fld id="{6E2E38B8-B0B4-AD41-AC6E-B781F46A9FD3}" type="slidenum">
              <a:rPr lang="en-US" smtClean="0"/>
              <a:pPr/>
              <a:t>8</a:t>
            </a:fld>
            <a:endParaRPr lang="en-US" dirty="0"/>
          </a:p>
        </p:txBody>
      </p:sp>
      <p:sp>
        <p:nvSpPr>
          <p:cNvPr id="5" name="Footer Placeholder 4">
            <a:extLst>
              <a:ext uri="{FF2B5EF4-FFF2-40B4-BE49-F238E27FC236}">
                <a16:creationId xmlns:a16="http://schemas.microsoft.com/office/drawing/2014/main" id="{00FAE34A-7A64-A6AB-0348-A6D6EAC4AD6B}"/>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7651452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97179-9491-234D-3818-FE9B7C5A4E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B1811A-F2F3-8DD6-CA20-50C0981DC4ED}"/>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3096AA09-E36F-E94C-B63E-33642FF02ABF}"/>
              </a:ext>
            </a:extLst>
          </p:cNvPr>
          <p:cNvSpPr>
            <a:spLocks noGrp="1"/>
          </p:cNvSpPr>
          <p:nvPr>
            <p:ph type="body" idx="1"/>
          </p:nvPr>
        </p:nvSpPr>
        <p:spPr/>
        <p:txBody>
          <a:bodyPr/>
          <a:lstStyle/>
          <a:p>
            <a:r>
              <a:rPr lang="en-US" dirty="0" err="1"/>
              <a:t>Ibm’s</a:t>
            </a:r>
            <a:r>
              <a:rPr lang="en-US" dirty="0"/>
              <a:t> culture and identity diff from other modern consumer tech companies.</a:t>
            </a:r>
          </a:p>
          <a:p>
            <a:endParaRPr lang="en-US" dirty="0"/>
          </a:p>
          <a:p>
            <a:r>
              <a:rPr lang="en-US" dirty="0"/>
              <a:t>IBM historically focused on enterprise clients, long term relationships and solving large scale business problems. The company is deeply research-driven and has </a:t>
            </a:r>
            <a:r>
              <a:rPr lang="en-US" dirty="0" err="1"/>
              <a:t>reviented</a:t>
            </a:r>
            <a:r>
              <a:rPr lang="en-US" dirty="0"/>
              <a:t> itself across multiple eras of computing from mainframes to AI and quantum computing. </a:t>
            </a:r>
          </a:p>
          <a:p>
            <a:endParaRPr lang="en-US" dirty="0"/>
          </a:p>
          <a:p>
            <a:r>
              <a:rPr lang="en-US" dirty="0"/>
              <a:t>IBM also has a strong consulting mindset where the company works closely with organizations to modernize systems, deploy AI, and improve operations. </a:t>
            </a:r>
          </a:p>
          <a:p>
            <a:endParaRPr lang="en-US" dirty="0"/>
          </a:p>
          <a:p>
            <a:r>
              <a:rPr lang="en-US" dirty="0"/>
              <a:t>A major part of IBM’s identity is trust. IBM positions itself as a trusted technology partner for businesses, governments, and institutions running mission-critical systems.</a:t>
            </a:r>
          </a:p>
          <a:p>
            <a:endParaRPr lang="en-US" dirty="0"/>
          </a:p>
          <a:p>
            <a:r>
              <a:rPr lang="en-US" dirty="0"/>
              <a:t>Internally, IBM is also known for global collaboration, innovation, and a client-first approach.</a:t>
            </a:r>
          </a:p>
          <a:p>
            <a:endParaRPr lang="en-US" dirty="0"/>
          </a:p>
          <a:p>
            <a:r>
              <a:rPr lang="en-US" dirty="0"/>
              <a:t>Fun fact: IBM earned the nickname ‘Big Blue,’ reflecting both its iconic branding and its long-standing dominance in enterprise technology.</a:t>
            </a:r>
          </a:p>
          <a:p>
            <a:r>
              <a:rPr lang="en-US" dirty="0"/>
              <a:t>---</a:t>
            </a:r>
          </a:p>
          <a:p>
            <a:endParaRPr lang="en-US" dirty="0"/>
          </a:p>
          <a:p>
            <a:r>
              <a:rPr lang="en-US" sz="1200" b="0" i="0" kern="1200" dirty="0">
                <a:solidFill>
                  <a:schemeClr val="bg1"/>
                </a:solidFill>
                <a:effectLst/>
                <a:latin typeface="IBM Plex Sans Light" panose="020B0503050203000203" pitchFamily="34" charset="0"/>
                <a:ea typeface="+mn-ea"/>
                <a:cs typeface="+mn-cs"/>
              </a:rPr>
              <a:t>Another important aspect is IBM’s culture and identity.</a:t>
            </a:r>
          </a:p>
          <a:p>
            <a:r>
              <a:rPr lang="en-US" sz="1200" b="0" i="0" kern="1200" dirty="0">
                <a:solidFill>
                  <a:schemeClr val="bg1"/>
                </a:solidFill>
                <a:effectLst/>
                <a:latin typeface="IBM Plex Sans Light" panose="020B0503050203000203" pitchFamily="34" charset="0"/>
                <a:ea typeface="+mn-ea"/>
                <a:cs typeface="+mn-cs"/>
              </a:rPr>
              <a:t>The company is very research-driven and focused on long-term client relationships.</a:t>
            </a:r>
          </a:p>
          <a:p>
            <a:r>
              <a:rPr lang="en-US" sz="1200" b="0" i="0" kern="1200" dirty="0">
                <a:solidFill>
                  <a:schemeClr val="bg1"/>
                </a:solidFill>
                <a:effectLst/>
                <a:latin typeface="IBM Plex Sans Light" panose="020B0503050203000203" pitchFamily="34" charset="0"/>
                <a:ea typeface="+mn-ea"/>
                <a:cs typeface="+mn-cs"/>
              </a:rPr>
              <a:t>It’s also known for global collaboration and innovation.</a:t>
            </a:r>
          </a:p>
          <a:p>
            <a:r>
              <a:rPr lang="en-US" sz="1200" b="0" i="0" kern="1200" dirty="0">
                <a:solidFill>
                  <a:schemeClr val="bg1"/>
                </a:solidFill>
                <a:effectLst/>
                <a:latin typeface="IBM Plex Sans Light" panose="020B0503050203000203" pitchFamily="34" charset="0"/>
                <a:ea typeface="+mn-ea"/>
                <a:cs typeface="+mn-cs"/>
              </a:rPr>
              <a:t>The nickname ‘Big Blue’ reflects both its history and its consistent presence in enterprise technology.</a:t>
            </a:r>
          </a:p>
          <a:p>
            <a:r>
              <a:rPr lang="en-US" sz="1200" b="0" i="0" kern="1200" dirty="0">
                <a:solidFill>
                  <a:schemeClr val="bg1"/>
                </a:solidFill>
                <a:effectLst/>
                <a:latin typeface="IBM Plex Sans Light" panose="020B0503050203000203" pitchFamily="34" charset="0"/>
                <a:ea typeface="+mn-ea"/>
                <a:cs typeface="+mn-cs"/>
              </a:rPr>
              <a:t>From my perspective as an intern, it feels like IBM emphasizes long-term impact and trust over short-term trends.</a:t>
            </a:r>
          </a:p>
          <a:p>
            <a:endParaRPr lang="en-US" dirty="0"/>
          </a:p>
          <a:p>
            <a:endParaRPr lang="en-BR"/>
          </a:p>
        </p:txBody>
      </p:sp>
      <p:sp>
        <p:nvSpPr>
          <p:cNvPr id="4" name="Slide Number Placeholder 3">
            <a:extLst>
              <a:ext uri="{FF2B5EF4-FFF2-40B4-BE49-F238E27FC236}">
                <a16:creationId xmlns:a16="http://schemas.microsoft.com/office/drawing/2014/main" id="{20375A01-585F-3C7B-66F9-26CFF9933533}"/>
              </a:ext>
            </a:extLst>
          </p:cNvPr>
          <p:cNvSpPr>
            <a:spLocks noGrp="1"/>
          </p:cNvSpPr>
          <p:nvPr>
            <p:ph type="sldNum" sz="quarter" idx="5"/>
          </p:nvPr>
        </p:nvSpPr>
        <p:spPr/>
        <p:txBody>
          <a:bodyPr/>
          <a:lstStyle/>
          <a:p>
            <a:fld id="{6E2E38B8-B0B4-AD41-AC6E-B781F46A9FD3}" type="slidenum">
              <a:rPr lang="en-US" smtClean="0"/>
              <a:pPr/>
              <a:t>9</a:t>
            </a:fld>
            <a:endParaRPr lang="en-US" dirty="0"/>
          </a:p>
        </p:txBody>
      </p:sp>
      <p:sp>
        <p:nvSpPr>
          <p:cNvPr id="5" name="Footer Placeholder 4">
            <a:extLst>
              <a:ext uri="{FF2B5EF4-FFF2-40B4-BE49-F238E27FC236}">
                <a16:creationId xmlns:a16="http://schemas.microsoft.com/office/drawing/2014/main" id="{5C661F02-0F1A-033B-5E74-2A54362100DF}"/>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9551671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sz="1200" b="0" i="0" kern="1200" dirty="0">
                <a:solidFill>
                  <a:schemeClr val="bg1"/>
                </a:solidFill>
                <a:effectLst/>
                <a:latin typeface="IBM Plex Sans Light" panose="020B0503050203000203" pitchFamily="34" charset="0"/>
                <a:ea typeface="+mn-ea"/>
                <a:cs typeface="+mn-cs"/>
              </a:rPr>
              <a:t>To wrap everything up—</a:t>
            </a:r>
          </a:p>
          <a:p>
            <a:r>
              <a:rPr lang="en-US" sz="1200" b="0" i="0" kern="1200" dirty="0">
                <a:solidFill>
                  <a:schemeClr val="bg1"/>
                </a:solidFill>
                <a:effectLst/>
                <a:latin typeface="IBM Plex Sans Light" panose="020B0503050203000203" pitchFamily="34" charset="0"/>
                <a:ea typeface="+mn-ea"/>
                <a:cs typeface="+mn-cs"/>
              </a:rPr>
              <a:t>My main takeaway is that IBM’s strength comes from its ability to continuously reinvent itself across different technology eras.</a:t>
            </a:r>
          </a:p>
          <a:p>
            <a:r>
              <a:rPr lang="en-US" sz="1200" b="0" i="0" kern="1200" dirty="0">
                <a:solidFill>
                  <a:schemeClr val="bg1"/>
                </a:solidFill>
                <a:effectLst/>
                <a:latin typeface="IBM Plex Sans Light" panose="020B0503050203000203" pitchFamily="34" charset="0"/>
                <a:ea typeface="+mn-ea"/>
                <a:cs typeface="+mn-cs"/>
              </a:rPr>
              <a:t>From early tabulating machines, to mainframes, to services, and now AI and hybrid cloud—IBM has consistently adapted to major shifts.</a:t>
            </a:r>
          </a:p>
          <a:p>
            <a:endParaRPr lang="en-US" dirty="0"/>
          </a:p>
          <a:p>
            <a:r>
              <a:rPr lang="en-US" sz="1200" b="0" i="0" kern="1200" dirty="0">
                <a:solidFill>
                  <a:schemeClr val="bg1"/>
                </a:solidFill>
                <a:effectLst/>
                <a:latin typeface="IBM Plex Sans Light" panose="020B0503050203000203" pitchFamily="34" charset="0"/>
                <a:ea typeface="+mn-ea"/>
                <a:cs typeface="+mn-cs"/>
              </a:rPr>
              <a:t>But what I found just as important is that even though the technology keeps changing, some core things about IBM have stayed very consistent—</a:t>
            </a:r>
          </a:p>
          <a:p>
            <a:r>
              <a:rPr lang="en-US" sz="1200" b="0" i="0" kern="1200" dirty="0">
                <a:solidFill>
                  <a:schemeClr val="bg1"/>
                </a:solidFill>
                <a:effectLst/>
                <a:latin typeface="IBM Plex Sans Light" panose="020B0503050203000203" pitchFamily="34" charset="0"/>
                <a:ea typeface="+mn-ea"/>
                <a:cs typeface="+mn-cs"/>
              </a:rPr>
              <a:t>especially its focus on </a:t>
            </a:r>
            <a:r>
              <a:rPr lang="en-US" sz="1200" b="1" i="0" kern="1200" dirty="0">
                <a:solidFill>
                  <a:schemeClr val="bg1"/>
                </a:solidFill>
                <a:effectLst/>
                <a:latin typeface="IBM Plex Sans Light" panose="020B0503050203000203" pitchFamily="34" charset="0"/>
                <a:ea typeface="+mn-ea"/>
                <a:cs typeface="+mn-cs"/>
              </a:rPr>
              <a:t>enterprise clients, long-term relationships, and trust.</a:t>
            </a:r>
            <a:endParaRPr lang="en-US" sz="1200" b="0" i="0" kern="1200" dirty="0">
              <a:solidFill>
                <a:schemeClr val="bg1"/>
              </a:solidFill>
              <a:effectLst/>
              <a:latin typeface="IBM Plex Sans Light" panose="020B0503050203000203" pitchFamily="34" charset="0"/>
              <a:ea typeface="+mn-ea"/>
              <a:cs typeface="+mn-cs"/>
            </a:endParaRPr>
          </a:p>
          <a:p>
            <a:endParaRPr lang="en-US" sz="1200" b="0" i="0" kern="1200" dirty="0">
              <a:solidFill>
                <a:schemeClr val="bg1"/>
              </a:solidFill>
              <a:effectLst/>
              <a:latin typeface="IBM Plex Sans Light" panose="020B0503050203000203" pitchFamily="34" charset="0"/>
              <a:ea typeface="+mn-ea"/>
              <a:cs typeface="+mn-cs"/>
            </a:endParaRPr>
          </a:p>
          <a:p>
            <a:r>
              <a:rPr lang="en-US" sz="1200" b="0" i="0" kern="1200" dirty="0" err="1">
                <a:solidFill>
                  <a:schemeClr val="bg1"/>
                </a:solidFill>
                <a:effectLst/>
                <a:latin typeface="IBM Plex Sans Light" panose="020B0503050203000203" pitchFamily="34" charset="0"/>
                <a:ea typeface="+mn-ea"/>
                <a:cs typeface="+mn-cs"/>
              </a:rPr>
              <a:t>Watsonx</a:t>
            </a:r>
            <a:r>
              <a:rPr lang="en-US" sz="1200" b="0" i="0" kern="1200" dirty="0">
                <a:solidFill>
                  <a:schemeClr val="bg1"/>
                </a:solidFill>
                <a:effectLst/>
                <a:latin typeface="IBM Plex Sans Light" panose="020B0503050203000203" pitchFamily="34" charset="0"/>
                <a:ea typeface="+mn-ea"/>
                <a:cs typeface="+mn-cs"/>
              </a:rPr>
              <a:t> and hybrid cloud, where the focus isn’t just on innovation, but on making sure solutions are reliable, secure, and actually usable at scale.</a:t>
            </a:r>
          </a:p>
          <a:p>
            <a:r>
              <a:rPr lang="en-US" sz="1200" b="0" i="0" kern="1200" dirty="0">
                <a:solidFill>
                  <a:schemeClr val="bg1"/>
                </a:solidFill>
                <a:effectLst/>
                <a:latin typeface="IBM Plex Sans Light" panose="020B0503050203000203" pitchFamily="34" charset="0"/>
                <a:ea typeface="+mn-ea"/>
                <a:cs typeface="+mn-cs"/>
              </a:rPr>
              <a:t>And I think that’s what really differentiates IBM—</a:t>
            </a:r>
          </a:p>
          <a:p>
            <a:r>
              <a:rPr lang="en-US" sz="1200" b="0" i="0" kern="1200" dirty="0">
                <a:solidFill>
                  <a:schemeClr val="bg1"/>
                </a:solidFill>
                <a:effectLst/>
                <a:latin typeface="IBM Plex Sans Light" panose="020B0503050203000203" pitchFamily="34" charset="0"/>
                <a:ea typeface="+mn-ea"/>
                <a:cs typeface="+mn-cs"/>
              </a:rPr>
              <a:t>it’s not necessarily trying to be the most visible tech company, but instead the most trusted one behind critical systems.</a:t>
            </a:r>
          </a:p>
          <a:p>
            <a:r>
              <a:rPr lang="en-US" sz="1200" b="0" i="0" kern="1200" dirty="0">
                <a:solidFill>
                  <a:schemeClr val="bg1"/>
                </a:solidFill>
                <a:effectLst/>
                <a:latin typeface="IBM Plex Sans Light" panose="020B0503050203000203" pitchFamily="34" charset="0"/>
                <a:ea typeface="+mn-ea"/>
                <a:cs typeface="+mn-cs"/>
              </a:rPr>
              <a:t>So overall, it seems like IBM’s strategy is less about chasing short-term trends, and more about playing the long game—</a:t>
            </a:r>
          </a:p>
          <a:p>
            <a:r>
              <a:rPr lang="en-US" sz="1200" b="0" i="0" kern="1200" dirty="0">
                <a:solidFill>
                  <a:schemeClr val="bg1"/>
                </a:solidFill>
                <a:effectLst/>
                <a:latin typeface="IBM Plex Sans Light" panose="020B0503050203000203" pitchFamily="34" charset="0"/>
                <a:ea typeface="+mn-ea"/>
                <a:cs typeface="+mn-cs"/>
              </a:rPr>
              <a:t>which is probably why it’s been able to stay relevant for over a century.</a:t>
            </a: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10</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23095196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1"/>
            <a:ext cx="24387175" cy="12195175"/>
          </a:xfrm>
          <a:solidFill>
            <a:srgbClr val="E0E0E0"/>
          </a:solidFill>
        </p:spPr>
        <p:txBody>
          <a:bodyPr anchor="ctr"/>
          <a:lstStyle>
            <a:lvl1pPr algn="ctr">
              <a:defRPr>
                <a:solidFill>
                  <a:schemeClr val="accent5"/>
                </a:solidFill>
              </a:defRPr>
            </a:lvl1pPr>
          </a:lstStyle>
          <a:p>
            <a:r>
              <a:rPr lang="en-US"/>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US"/>
              <a:t>Click to edit Master title style</a:t>
            </a:r>
          </a:p>
        </p:txBody>
      </p:sp>
    </p:spTree>
    <p:extLst>
      <p:ext uri="{BB962C8B-B14F-4D97-AF65-F5344CB8AC3E}">
        <p14:creationId xmlns:p14="http://schemas.microsoft.com/office/powerpoint/2010/main" val="4196795180"/>
      </p:ext>
    </p:extLst>
  </p:cSld>
  <p:clrMapOvr>
    <a:masterClrMapping/>
  </p:clrMapOvr>
  <p:transition spd="med"/>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1"/>
            <a:ext cx="24387175" cy="1219517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69867043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222487865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00" y="12479147"/>
            <a:ext cx="11038445"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81717495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499" y="571499"/>
            <a:ext cx="11043132" cy="12578663"/>
          </a:xfrm>
          <a:solidFill>
            <a:srgbClr val="E0E0E0"/>
          </a:solidFill>
        </p:spPr>
        <p:txBody>
          <a:bodyPr anchor="ctr"/>
          <a:lstStyle>
            <a:lvl1pPr algn="ctr">
              <a:defRPr>
                <a:solidFill>
                  <a:schemeClr val="accent5"/>
                </a:solidFill>
              </a:defRPr>
            </a:lvl1pPr>
          </a:lstStyle>
          <a:p>
            <a:r>
              <a:rPr lang="en-US" dirty="0"/>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415261400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00"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00" y="1512000"/>
            <a:ext cx="10099675" cy="9147175"/>
          </a:xfrm>
        </p:spPr>
        <p:txBody>
          <a:bodyPr/>
          <a:lstStyle>
            <a:lvl1pPr>
              <a:lnSpc>
                <a:spcPct val="100000"/>
              </a:lnSpc>
              <a:defRPr sz="8400">
                <a:solidFill>
                  <a:schemeClr val="tx2"/>
                </a:solidFill>
              </a:defRPr>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12763499" y="569913"/>
            <a:ext cx="11043132" cy="1258025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34020936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4942078" cy="4210050"/>
          </a:xfrm>
        </p:spPr>
        <p:txBody>
          <a:bodyPr/>
          <a:lstStyle>
            <a:lvl1pPr>
              <a:lnSpc>
                <a:spcPct val="100000"/>
              </a:lnSpc>
              <a:defRPr sz="6800">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6675" y="574675"/>
            <a:ext cx="4953000" cy="11617318"/>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74675"/>
            <a:ext cx="4941888" cy="11620500"/>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76000" y="12816000"/>
            <a:ext cx="4956176" cy="381000"/>
          </a:xfrm>
        </p:spPr>
        <p:txBody>
          <a:bodyPr/>
          <a:lstStyle/>
          <a:p>
            <a:endParaRPr lang="en-US"/>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314303940"/>
      </p:ext>
    </p:extLst>
  </p:cSld>
  <p:clrMapOvr>
    <a:masterClrMapping/>
  </p:clrMapOvr>
  <p:transition spd="med"/>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11036491" cy="2663825"/>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7283910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6000" y="309600"/>
            <a:ext cx="17141825" cy="8832850"/>
          </a:xfrm>
        </p:spPr>
        <p:txBody>
          <a:bodyPr/>
          <a:lstStyle>
            <a:lvl1pPr>
              <a:defRPr sz="16800"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20180837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9909175" cy="4209670"/>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80000" y="384048"/>
            <a:ext cx="11042073" cy="8778494"/>
          </a:xfrm>
        </p:spPr>
        <p:txBody>
          <a:bodyPr/>
          <a:lstStyle>
            <a:lvl1pPr>
              <a:lnSpc>
                <a:spcPct val="100000"/>
              </a:lnSpc>
              <a:spcBef>
                <a:spcPts val="0"/>
              </a:spcBef>
              <a:defRPr sz="6800">
                <a:solidFill>
                  <a:schemeClr val="tx2"/>
                </a:solidFill>
              </a:defRPr>
            </a:lvl1pPr>
            <a:lvl2pPr marL="585216" indent="-585216">
              <a:lnSpc>
                <a:spcPct val="100000"/>
              </a:lnSpc>
              <a:spcBef>
                <a:spcPts val="0"/>
              </a:spcBef>
              <a:defRPr sz="6800">
                <a:solidFill>
                  <a:schemeClr val="tx2"/>
                </a:solidFill>
              </a:defRPr>
            </a:lvl2pPr>
            <a:lvl3pPr marL="1097280" indent="-585216">
              <a:lnSpc>
                <a:spcPct val="100000"/>
              </a:lnSpc>
              <a:spcBef>
                <a:spcPts val="0"/>
              </a:spcBef>
              <a:defRPr sz="6800">
                <a:solidFill>
                  <a:schemeClr val="tx2"/>
                </a:solidFill>
              </a:defRPr>
            </a:lvl3pPr>
            <a:lvl4pPr marL="1755648">
              <a:lnSpc>
                <a:spcPct val="100000"/>
              </a:lnSpc>
              <a:spcBef>
                <a:spcPts val="0"/>
              </a:spcBef>
              <a:defRPr sz="6800">
                <a:solidFill>
                  <a:schemeClr val="tx2"/>
                </a:solidFill>
              </a:defRPr>
            </a:lvl4pPr>
            <a:lvl5pPr>
              <a:lnSpc>
                <a:spcPct val="100000"/>
              </a:lnSpc>
              <a:spcBef>
                <a:spcPts val="0"/>
              </a:spcBef>
              <a:defRPr sz="6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4220607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576000" y="12816000"/>
            <a:ext cx="4943476" cy="381000"/>
          </a:xfrm>
        </p:spPr>
        <p:txBody>
          <a:bodyPr/>
          <a:lstStyle/>
          <a:p>
            <a:endParaRPr lang="en-US" dirty="0"/>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576000" y="309600"/>
            <a:ext cx="14649450" cy="10356265"/>
          </a:xfrm>
        </p:spPr>
        <p:txBody>
          <a:bodyPr/>
          <a:lstStyle>
            <a:lvl1pPr>
              <a:lnSpc>
                <a:spcPct val="100000"/>
              </a:lnSpc>
              <a:defRPr sz="8400"/>
            </a:lvl1pPr>
          </a:lstStyle>
          <a:p>
            <a:pPr lvl="0"/>
            <a:r>
              <a:rPr lang="en-US"/>
              <a:t>Click to edit Master text styles</a:t>
            </a:r>
          </a:p>
        </p:txBody>
      </p:sp>
    </p:spTree>
    <p:extLst>
      <p:ext uri="{BB962C8B-B14F-4D97-AF65-F5344CB8AC3E}">
        <p14:creationId xmlns:p14="http://schemas.microsoft.com/office/powerpoint/2010/main" val="147160319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00" y="576072"/>
            <a:ext cx="7623175"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628222"/>
            <a:ext cx="11050588" cy="3353065"/>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12193587"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80000" y="576072"/>
            <a:ext cx="7620000"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80000" y="9628222"/>
            <a:ext cx="11049000" cy="3354293"/>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dirty="0"/>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576000" y="12816000"/>
            <a:ext cx="4956176" cy="381000"/>
          </a:xfrm>
        </p:spPr>
        <p:txBody>
          <a:bodyPr/>
          <a:lstStyle/>
          <a:p>
            <a:endParaRPr lang="en-US" dirty="0"/>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44747819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1907912"/>
          </a:xfrm>
        </p:spPr>
        <p:txBody>
          <a:bodyPr/>
          <a:lstStyle>
            <a:lvl1pPr>
              <a:lnSpc>
                <a:spcPct val="90000"/>
              </a:lnSpc>
              <a:defRPr sz="13200">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7"/>
            <a:ext cx="4951413"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80000" y="385200"/>
            <a:ext cx="4949825" cy="1906588"/>
          </a:xfrm>
        </p:spPr>
        <p:txBody>
          <a:bodyPr/>
          <a:lstStyle>
            <a:lvl1pPr>
              <a:lnSpc>
                <a:spcPct val="90000"/>
              </a:lnSpc>
              <a:defRPr sz="13200">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80000" y="2334654"/>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385200"/>
            <a:ext cx="4949825" cy="1903413"/>
          </a:xfrm>
        </p:spPr>
        <p:txBody>
          <a:bodyPr/>
          <a:lstStyle>
            <a:lvl1pPr>
              <a:lnSpc>
                <a:spcPct val="90000"/>
              </a:lnSpc>
              <a:defRPr sz="13200">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70675"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8336805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594475"/>
            <a:ext cx="11045952" cy="5340096"/>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6000" y="309600"/>
            <a:ext cx="4949825" cy="5335586"/>
          </a:xfrm>
        </p:spPr>
        <p:txBody>
          <a:bodyPr/>
          <a:lstStyle>
            <a:lvl1pPr>
              <a:lnSpc>
                <a:spcPct val="100000"/>
              </a:lnSpc>
              <a:defRPr sz="84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309600"/>
            <a:ext cx="11049000" cy="5335587"/>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577850" y="6097732"/>
            <a:ext cx="232346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6000" y="6594475"/>
            <a:ext cx="4946904" cy="5340096"/>
          </a:xfrm>
        </p:spPr>
        <p:txBody>
          <a:bodyPr/>
          <a:lstStyle>
            <a:lvl1pPr>
              <a:lnSpc>
                <a:spcPct val="100000"/>
              </a:lnSpc>
              <a:defRPr sz="84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7476443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4048"/>
            <a:ext cx="4951413" cy="2859087"/>
          </a:xfrm>
        </p:spPr>
        <p:txBody>
          <a:bodyPr/>
          <a:lstStyle>
            <a:lvl1pPr>
              <a:lnSpc>
                <a:spcPct val="90000"/>
              </a:lnSpc>
              <a:defRPr sz="13200">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2897"/>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57517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957821"/>
            <a:ext cx="4951413" cy="2857506"/>
          </a:xfrm>
        </p:spPr>
        <p:txBody>
          <a:bodyPr/>
          <a:lstStyle>
            <a:lvl1pPr>
              <a:lnSpc>
                <a:spcPct val="90000"/>
              </a:lnSpc>
              <a:defRPr sz="13200">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5125969"/>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914082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9526645"/>
            <a:ext cx="4951411" cy="2668530"/>
          </a:xfrm>
        </p:spPr>
        <p:txBody>
          <a:bodyPr/>
          <a:lstStyle>
            <a:lvl1pPr>
              <a:lnSpc>
                <a:spcPct val="90000"/>
              </a:lnSpc>
              <a:defRPr sz="13200">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9670409"/>
            <a:ext cx="7620000" cy="252476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65611160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2078"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00"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6131349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70675"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044825"/>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2"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0"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582422"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5231023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047999"/>
            <a:ext cx="4951413" cy="9156701"/>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2"/>
            <a:ext cx="495300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0"/>
            <a:ext cx="495300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1218895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18859500" y="576072"/>
            <a:ext cx="495935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18859500" y="3048000"/>
            <a:ext cx="495935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9970703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00" y="3048000"/>
            <a:ext cx="4942078" cy="4578350"/>
          </a:xfrm>
        </p:spPr>
        <p:txBody>
          <a:bodyPr/>
          <a:lstStyle>
            <a:lvl1pPr>
              <a:lnSpc>
                <a:spcPct val="100000"/>
              </a:lnSpc>
              <a:spcBef>
                <a:spcPts val="0"/>
              </a:spcBef>
              <a:defRPr sz="3600">
                <a:solidFill>
                  <a:schemeClr val="tx1"/>
                </a:solidFill>
              </a:defRPr>
            </a:lvl1pPr>
          </a:lstStyle>
          <a:p>
            <a:pPr lvl="0"/>
            <a:r>
              <a:rPr lang="en-US"/>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70675" y="3047999"/>
            <a:ext cx="4951413"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80000" y="576072"/>
            <a:ext cx="1216152" cy="1216152"/>
          </a:xfrm>
        </p:spPr>
        <p:txBody>
          <a:bodyPr anchor="ctr"/>
          <a:lstStyle>
            <a:lvl1pPr algn="ctr">
              <a:defRPr sz="16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80000" y="3047999"/>
            <a:ext cx="4942120" cy="9153524"/>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62677" y="3047999"/>
            <a:ext cx="4941886"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9589940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2078" cy="3117978"/>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2" y="384048"/>
            <a:ext cx="4951414" cy="2201269"/>
          </a:xfrm>
        </p:spPr>
        <p:txBody>
          <a:bodyPr/>
          <a:lstStyle>
            <a:lvl1pPr>
              <a:lnSpc>
                <a:spcPct val="100000"/>
              </a:lnSpc>
              <a:spcBef>
                <a:spcPts val="0"/>
              </a:spcBef>
              <a:defRPr sz="68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9153" y="3047999"/>
            <a:ext cx="4951413"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5153" y="3047999"/>
            <a:ext cx="10096500"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0" y="3047999"/>
            <a:ext cx="10099675" cy="915352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0" y="3047999"/>
            <a:ext cx="10096500" cy="915352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74945124"/>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384048"/>
            <a:ext cx="11036491" cy="4210177"/>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6675" y="576071"/>
            <a:ext cx="4949825"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71"/>
            <a:ext cx="4941888"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59821703"/>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576072"/>
            <a:ext cx="4942078" cy="3995927"/>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80000" y="576000"/>
            <a:ext cx="4953000"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00"/>
            <a:ext cx="4941888"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0495605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384048"/>
            <a:ext cx="11039476" cy="4210176"/>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4"/>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7170831"/>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72"/>
            <a:ext cx="4949826" cy="3995927"/>
          </a:xfrm>
        </p:spPr>
        <p:txBody>
          <a:bodyPr rIns="0"/>
          <a:lstStyle>
            <a:lvl1pPr>
              <a:lnSpc>
                <a:spcPct val="110000"/>
              </a:lnSpc>
              <a:defRPr sz="2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62675" y="576072"/>
            <a:ext cx="4942078"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2924075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9825" cy="4210177"/>
          </a:xfrm>
        </p:spPr>
        <p:txBody>
          <a:bodyPr/>
          <a:lstStyle>
            <a:lvl1pPr>
              <a:lnSpc>
                <a:spcPct val="100000"/>
              </a:lnSpc>
              <a:defRPr sz="6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3110583"/>
          </a:xfrm>
        </p:spPr>
        <p:txBody>
          <a:bodyPr/>
          <a:lstStyle>
            <a:lvl1pPr>
              <a:lnSpc>
                <a:spcPct val="100000"/>
              </a:lnSpc>
              <a:spcBef>
                <a:spcPts val="0"/>
              </a:spcBef>
              <a:defRPr sz="68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16790"/>
            <a:ext cx="4951413" cy="9188588"/>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80000" y="576072"/>
            <a:ext cx="1216152" cy="1214462"/>
          </a:xfrm>
        </p:spPr>
        <p:txBody>
          <a:bodyPr anchor="ctr"/>
          <a:lstStyle>
            <a:lvl1pPr algn="ctr">
              <a:defRPr sz="16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581024" y="12823285"/>
            <a:ext cx="4956176" cy="381000"/>
          </a:xfrm>
        </p:spPr>
        <p:txBody>
          <a:bodyPr/>
          <a:lstStyle/>
          <a:p>
            <a:endParaRPr lang="en-US" dirty="0"/>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3341252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80000" y="576072"/>
            <a:ext cx="1216152" cy="1216152"/>
          </a:xfrm>
        </p:spPr>
        <p:txBody>
          <a:bodyPr anchor="ctr"/>
          <a:lstStyle>
            <a:lvl1pPr algn="ctr">
              <a:defRPr sz="1600"/>
            </a:lvl1pPr>
          </a:lstStyle>
          <a:p>
            <a:r>
              <a:rPr lang="en-US" dirty="0"/>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80000" y="24765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576072" y="6096000"/>
            <a:ext cx="2323642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dirty="0"/>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80000" y="6477000"/>
            <a:ext cx="1216152" cy="1216152"/>
          </a:xfrm>
        </p:spPr>
        <p:txBody>
          <a:bodyPr anchor="ctr"/>
          <a:lstStyle>
            <a:lvl1pPr algn="ctr">
              <a:defRPr sz="1600"/>
            </a:lvl1pPr>
          </a:lstStyle>
          <a:p>
            <a:r>
              <a:rPr lang="en-US" dirty="0"/>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80000" y="83820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8049638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1524000"/>
            <a:ext cx="4948428" cy="3048000"/>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0433241"/>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576000" y="1523872"/>
            <a:ext cx="11044239" cy="4572128"/>
          </a:xfrm>
        </p:spPr>
        <p:txBody>
          <a:bodyPr rIns="457200"/>
          <a:lstStyle>
            <a:lvl1pPr>
              <a:lnSpc>
                <a:spcPct val="110000"/>
              </a:lnSpc>
              <a:defRPr sz="68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3092975277"/>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0" y="576072"/>
            <a:ext cx="4942078" cy="3995928"/>
          </a:xfrm>
        </p:spPr>
        <p:txBody>
          <a:bodyPr/>
          <a:lstStyle>
            <a:lvl1pPr>
              <a:defRPr sz="28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384048"/>
            <a:ext cx="11036994" cy="4210177"/>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581024" y="12823285"/>
            <a:ext cx="4956176" cy="381000"/>
          </a:xfrm>
        </p:spPr>
        <p:txBody>
          <a:bodyPr/>
          <a:lstStyle/>
          <a:p>
            <a:endParaRPr lang="en-US" dirty="0"/>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57828484"/>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6415"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1"/>
            <a:ext cx="4946904"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581024" y="12823285"/>
            <a:ext cx="4956176" cy="381000"/>
          </a:xfrm>
        </p:spPr>
        <p:txBody>
          <a:bodyPr/>
          <a:lstStyle/>
          <a:p>
            <a:endParaRPr lang="en-US" dirty="0"/>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6666415"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12763500"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18859499" y="6673850"/>
            <a:ext cx="4946904"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56056091"/>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499" y="1524000"/>
            <a:ext cx="4956048"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80000" y="576072"/>
            <a:ext cx="402336" cy="403225"/>
          </a:xfrm>
        </p:spPr>
        <p:txBody>
          <a:bodyPr/>
          <a:lstStyle>
            <a:lvl1pPr>
              <a:defRPr sz="1400">
                <a:solidFill>
                  <a:schemeClr val="tx1"/>
                </a:solidFill>
              </a:defRPr>
            </a:lvl1pPr>
          </a:lstStyle>
          <a:p>
            <a:r>
              <a:rPr lang="en-US" dirty="0"/>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80000" y="1524000"/>
            <a:ext cx="4953000"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dirty="0"/>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523999"/>
            <a:ext cx="4946904" cy="3999099"/>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dirty="0"/>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499" y="7623594"/>
            <a:ext cx="4956048" cy="399829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80000" y="6694631"/>
            <a:ext cx="402336" cy="403225"/>
          </a:xfrm>
        </p:spPr>
        <p:txBody>
          <a:bodyPr/>
          <a:lstStyle>
            <a:lvl1pPr>
              <a:defRPr sz="1400">
                <a:solidFill>
                  <a:schemeClr val="tx1"/>
                </a:solidFill>
              </a:defRPr>
            </a:lvl1pPr>
          </a:lstStyle>
          <a:p>
            <a:r>
              <a:rPr lang="en-US" dirty="0"/>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80000" y="7623594"/>
            <a:ext cx="4956048" cy="3998291"/>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dirty="0"/>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623594"/>
            <a:ext cx="4946904" cy="3998287"/>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576000" y="12816000"/>
            <a:ext cx="4956176" cy="381000"/>
          </a:xfrm>
        </p:spPr>
        <p:txBody>
          <a:bodyPr/>
          <a:lstStyle/>
          <a:p>
            <a:endParaRPr lang="en-US" dirty="0"/>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54205542"/>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384048"/>
            <a:ext cx="11039475" cy="3413126"/>
          </a:xfrm>
        </p:spPr>
        <p:txBody>
          <a:bodyPr rIns="457200"/>
          <a:lstStyle>
            <a:lvl1pPr>
              <a:lnSpc>
                <a:spcPct val="100000"/>
              </a:lnSpc>
              <a:defRPr sz="6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6099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8451217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576072"/>
            <a:ext cx="4949825" cy="3413126"/>
          </a:xfrm>
        </p:spPr>
        <p:txBody>
          <a:bodyPr rIns="0"/>
          <a:lstStyle>
            <a:lvl1pPr>
              <a:lnSpc>
                <a:spcPct val="110000"/>
              </a:lnSpc>
              <a:defRPr sz="36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6096000" y="6083300"/>
            <a:ext cx="0" cy="61118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71212167"/>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46904"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70675" y="3041649"/>
            <a:ext cx="4951413"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3"/>
            <a:ext cx="11041253" cy="12571602"/>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24836230"/>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dirty="0"/>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30154425"/>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71500"/>
            <a:ext cx="17137063" cy="12579350"/>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2327768506"/>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66270910"/>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77850" y="571500"/>
            <a:ext cx="23226713" cy="1257934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7694905"/>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576000" y="3044825"/>
            <a:ext cx="2462402" cy="2476500"/>
          </a:xfrm>
          <a:solidFill>
            <a:srgbClr val="E0E0E0"/>
          </a:solidFill>
        </p:spPr>
        <p:txBody>
          <a:bodyPr anchor="ctr"/>
          <a:lstStyle>
            <a:lvl1pPr algn="ctr">
              <a:defRPr>
                <a:solidFill>
                  <a:schemeClr val="accent5"/>
                </a:solidFill>
              </a:defRPr>
            </a:lvl1pPr>
          </a:lstStyle>
          <a:p>
            <a:r>
              <a:rPr lang="en-US" dirty="0"/>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576000" y="6096000"/>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576000" y="9140825"/>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12780000" y="3044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12780000" y="6096000"/>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12780000" y="9140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3"/>
            <a:ext cx="4949825" cy="399592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76000"/>
            <a:ext cx="17145000" cy="11623675"/>
          </a:xfrm>
        </p:spPr>
        <p:txBody>
          <a:bodyPr anchor="ctr"/>
          <a:lstStyle>
            <a:lvl1pPr algn="ctr">
              <a:defRPr>
                <a:solidFill>
                  <a:schemeClr val="tx1"/>
                </a:solidFill>
              </a:defRPr>
            </a:lvl1pPr>
          </a:lstStyle>
          <a:p>
            <a:r>
              <a:rPr lang="en-US"/>
              <a:t>Click icon to add table</a:t>
            </a:r>
            <a:endParaRPr lang="en-US" dirty="0"/>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822902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1527049"/>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6667500" y="12782487"/>
            <a:ext cx="5524500" cy="425450"/>
          </a:xfrm>
        </p:spPr>
        <p:txBody>
          <a:bodyPr anchor="b" anchorCtr="0"/>
          <a:lstStyle>
            <a:lvl1pPr>
              <a:defRPr sz="1600">
                <a:latin typeface="IBM Plex Sans" panose="020B0503050203000203" pitchFamily="34" charset="0"/>
              </a:defRPr>
            </a:lvl1pPr>
            <a:lvl2pPr>
              <a:defRPr sz="1600"/>
            </a:lvl2pPr>
            <a:lvl3pPr>
              <a:defRPr sz="1600"/>
            </a:lvl3pPr>
            <a:lvl4pPr>
              <a:defRPr sz="1600"/>
            </a:lvl4pPr>
            <a:lvl5pPr>
              <a:defRPr sz="1600"/>
            </a:lvl5pPr>
          </a:lstStyle>
          <a:p>
            <a:pPr lvl="0"/>
            <a:r>
              <a:rPr lang="en-US" dirty="0"/>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576000" y="3044825"/>
            <a:ext cx="4943475" cy="9150350"/>
          </a:xfrm>
        </p:spPr>
        <p:txBody>
          <a:bodyPr/>
          <a:lstStyle>
            <a:lvl1pPr>
              <a:defRPr sz="2800">
                <a:latin typeface="+mj-lt"/>
              </a:defRPr>
            </a:lvl1pPr>
            <a:lvl2pPr>
              <a:defRPr sz="2800">
                <a:latin typeface="+mj-lt"/>
              </a:defRPr>
            </a:lvl2pPr>
            <a:lvl3pPr>
              <a:defRPr sz="2800">
                <a:latin typeface="+mj-lt"/>
              </a:defRPr>
            </a:lvl3pPr>
            <a:lvl4pPr>
              <a:defRPr sz="2800">
                <a:latin typeface="+mj-lt"/>
              </a:defRPr>
            </a:lvl4pPr>
            <a:lvl5pPr>
              <a:defRPr sz="2800">
                <a:latin typeface="+mj-lt"/>
              </a:defRPr>
            </a:lvl5pPr>
          </a:lstStyle>
          <a:p>
            <a:pPr>
              <a:lnSpc>
                <a:spcPct val="110000"/>
              </a:lnSpc>
            </a:pPr>
            <a:r>
              <a:rPr lang="en-US" sz="2800" dirty="0">
                <a:latin typeface="IBM Plex Sans Light" panose="020B0403050203000203" pitchFamily="34" charset="0"/>
              </a:rPr>
              <a:t>Lorem ipsum dolor sit </a:t>
            </a:r>
            <a:r>
              <a:rPr lang="en-US" sz="2800" dirty="0" err="1">
                <a:latin typeface="IBM Plex Sans Light" panose="020B0403050203000203" pitchFamily="34" charset="0"/>
              </a:rPr>
              <a:t>amet</a:t>
            </a:r>
            <a:r>
              <a:rPr lang="en-US" sz="2800" dirty="0">
                <a:latin typeface="IBM Plex Sans Light" panose="020B0403050203000203" pitchFamily="34" charset="0"/>
              </a:rPr>
              <a:t> </a:t>
            </a:r>
            <a:r>
              <a:rPr lang="en-US" sz="2800" dirty="0" err="1">
                <a:latin typeface="IBM Plex Sans Light" panose="020B0403050203000203" pitchFamily="34" charset="0"/>
              </a:rPr>
              <a:t>donec</a:t>
            </a:r>
            <a:r>
              <a:rPr lang="en-US" sz="2800" dirty="0">
                <a:latin typeface="IBM Plex Sans Light" panose="020B0403050203000203" pitchFamily="34" charset="0"/>
              </a:rPr>
              <a:t> </a:t>
            </a:r>
            <a:r>
              <a:rPr lang="en-US" sz="2800" dirty="0" err="1">
                <a:latin typeface="IBM Plex Sans Light" panose="020B0403050203000203" pitchFamily="34" charset="0"/>
              </a:rPr>
              <a:t>quam</a:t>
            </a:r>
            <a:r>
              <a:rPr lang="en-US" sz="2800" dirty="0">
                <a:latin typeface="IBM Plex Sans Light" panose="020B0403050203000203" pitchFamily="34" charset="0"/>
              </a:rPr>
              <a:t> </a:t>
            </a:r>
            <a:r>
              <a:rPr lang="en-US" sz="2800" dirty="0" err="1">
                <a:latin typeface="IBM Plex Sans Light" panose="020B0403050203000203" pitchFamily="34" charset="0"/>
              </a:rPr>
              <a:t>felis</a:t>
            </a:r>
            <a:r>
              <a:rPr lang="en-US" sz="2800" dirty="0">
                <a:latin typeface="IBM Plex Sans Light" panose="020B0403050203000203" pitchFamily="34" charset="0"/>
              </a:rPr>
              <a:t> </a:t>
            </a:r>
            <a:r>
              <a:rPr lang="en-US" sz="2800" dirty="0" err="1">
                <a:latin typeface="IBM Plex Sans Light" panose="020B0403050203000203" pitchFamily="34" charset="0"/>
              </a:rPr>
              <a:t>ultricies</a:t>
            </a:r>
            <a:r>
              <a:rPr lang="en-US" sz="2800" dirty="0">
                <a:latin typeface="IBM Plex Sans Light" panose="020B0403050203000203" pitchFamily="34" charset="0"/>
              </a:rPr>
              <a:t> </a:t>
            </a:r>
            <a:r>
              <a:rPr lang="en-US" sz="2800" dirty="0" err="1">
                <a:latin typeface="IBM Plex Sans Light" panose="020B0403050203000203" pitchFamily="34" charset="0"/>
              </a:rPr>
              <a:t>nec</a:t>
            </a:r>
            <a:r>
              <a:rPr lang="en-US" sz="2800" dirty="0">
                <a:latin typeface="IBM Plex Sans Light" panose="020B0403050203000203" pitchFamily="34" charset="0"/>
              </a:rPr>
              <a:t> </a:t>
            </a:r>
            <a:r>
              <a:rPr lang="en-US" sz="2800" dirty="0" err="1">
                <a:latin typeface="IBM Plex Sans Light" panose="020B0403050203000203" pitchFamily="34" charset="0"/>
              </a:rPr>
              <a:t>pellentesque</a:t>
            </a:r>
            <a:r>
              <a:rPr lang="en-US" sz="2800" dirty="0">
                <a:latin typeface="IBM Plex Sans Light" panose="020B0403050203000203" pitchFamily="34" charset="0"/>
              </a:rPr>
              <a:t> </a:t>
            </a:r>
            <a:r>
              <a:rPr lang="en-US" sz="2800" dirty="0" err="1">
                <a:latin typeface="IBM Plex Sans Light" panose="020B0403050203000203" pitchFamily="34" charset="0"/>
              </a:rPr>
              <a:t>eu</a:t>
            </a:r>
            <a:r>
              <a:rPr lang="en-US" sz="2800" dirty="0">
                <a:latin typeface="IBM Plex Sans Light" panose="020B0403050203000203" pitchFamily="34" charset="0"/>
              </a:rPr>
              <a:t> </a:t>
            </a:r>
            <a:r>
              <a:rPr lang="en-US" sz="2800" dirty="0" err="1">
                <a:latin typeface="IBM Plex Sans Light" panose="020B0403050203000203" pitchFamily="34" charset="0"/>
              </a:rPr>
              <a:t>pretium</a:t>
            </a:r>
            <a:r>
              <a:rPr lang="en-US" sz="2800" dirty="0">
                <a:latin typeface="IBM Plex Sans Light" panose="020B0403050203000203" pitchFamily="34" charset="0"/>
              </a:rPr>
              <a:t> </a:t>
            </a:r>
            <a:r>
              <a:rPr lang="en-US" sz="2800" dirty="0" err="1">
                <a:latin typeface="IBM Plex Sans Light" panose="020B0403050203000203" pitchFamily="34" charset="0"/>
              </a:rPr>
              <a:t>quis</a:t>
            </a:r>
            <a:r>
              <a:rPr lang="en-US" sz="2800" dirty="0">
                <a:latin typeface="IBM Plex Sans Light" panose="020B0403050203000203" pitchFamily="34" charset="0"/>
              </a:rPr>
              <a:t> sem. </a:t>
            </a:r>
            <a:r>
              <a:rPr lang="en-US" sz="2800" dirty="0" err="1">
                <a:latin typeface="IBM Plex Sans Light" panose="020B0403050203000203" pitchFamily="34" charset="0"/>
              </a:rPr>
              <a:t>Nulla</a:t>
            </a:r>
            <a:r>
              <a:rPr lang="en-US" sz="2800" dirty="0">
                <a:latin typeface="IBM Plex Sans Light" panose="020B0403050203000203" pitchFamily="34" charset="0"/>
              </a:rPr>
              <a:t> </a:t>
            </a:r>
            <a:r>
              <a:rPr lang="en-US" sz="2800" dirty="0" err="1">
                <a:latin typeface="IBM Plex Sans Light" panose="020B0403050203000203" pitchFamily="34" charset="0"/>
              </a:rPr>
              <a:t>conset</a:t>
            </a:r>
            <a:r>
              <a:rPr lang="en-US" sz="2800" dirty="0">
                <a:latin typeface="IBM Plex Sans Light" panose="020B0403050203000203" pitchFamily="34" charset="0"/>
              </a:rPr>
              <a:t> </a:t>
            </a:r>
            <a:r>
              <a:rPr lang="en-US" sz="2800" dirty="0" err="1">
                <a:latin typeface="IBM Plex Sans Light" panose="020B0403050203000203" pitchFamily="34" charset="0"/>
              </a:rPr>
              <a:t>massa</a:t>
            </a:r>
            <a:r>
              <a:rPr lang="en-US" sz="2800" dirty="0">
                <a:latin typeface="IBM Plex Sans Light" panose="020B0403050203000203" pitchFamily="34" charset="0"/>
              </a:rPr>
              <a:t> </a:t>
            </a:r>
            <a:r>
              <a:rPr lang="en-US" sz="2800" dirty="0" err="1">
                <a:latin typeface="IBM Plex Sans Light" panose="020B0403050203000203" pitchFamily="34" charset="0"/>
              </a:rPr>
              <a:t>quis</a:t>
            </a:r>
            <a:r>
              <a:rPr lang="en-US" sz="2800" dirty="0">
                <a:latin typeface="IBM Plex Sans Light" panose="020B0403050203000203" pitchFamily="34" charset="0"/>
              </a:rPr>
              <a:t> </a:t>
            </a:r>
            <a:r>
              <a:rPr lang="en-US" sz="2800" dirty="0" err="1">
                <a:latin typeface="IBM Plex Sans Light" panose="020B0403050203000203" pitchFamily="34" charset="0"/>
              </a:rPr>
              <a:t>enim</a:t>
            </a:r>
            <a:r>
              <a:rPr lang="en-US" sz="2800" dirty="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64910353"/>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62675"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800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196161"/>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9605039"/>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81719226"/>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4195384914"/>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517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576072" y="576072"/>
            <a:ext cx="22590125" cy="246875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p>
            <a:r>
              <a:t>Title Text</a:t>
            </a:r>
          </a:p>
        </p:txBody>
      </p:sp>
      <p:sp>
        <p:nvSpPr>
          <p:cNvPr id="49" name="Body Level One…"/>
          <p:cNvSpPr txBox="1">
            <a:spLocks noGrp="1"/>
          </p:cNvSpPr>
          <p:nvPr>
            <p:ph type="body" idx="1"/>
          </p:nvPr>
        </p:nvSpPr>
        <p:spPr>
          <a:xfrm>
            <a:off x="574675" y="3327399"/>
            <a:ext cx="22590125" cy="886777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76000" y="1282328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Footer text (optional)</a:t>
            </a:r>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04" r:id="rId3"/>
    <p:sldLayoutId id="2147483905" r:id="rId4"/>
    <p:sldLayoutId id="2147483901" r:id="rId5"/>
    <p:sldLayoutId id="2147483692" r:id="rId6"/>
    <p:sldLayoutId id="2147483906" r:id="rId7"/>
    <p:sldLayoutId id="2147483907" r:id="rId8"/>
    <p:sldLayoutId id="2147483910" r:id="rId9"/>
    <p:sldLayoutId id="2147483908" r:id="rId10"/>
    <p:sldLayoutId id="2147483909" r:id="rId11"/>
    <p:sldLayoutId id="2147483912" r:id="rId12"/>
    <p:sldLayoutId id="2147483914" r:id="rId13"/>
    <p:sldLayoutId id="2147483915" r:id="rId14"/>
    <p:sldLayoutId id="2147483913" r:id="rId15"/>
    <p:sldLayoutId id="2147483917" r:id="rId16"/>
    <p:sldLayoutId id="2147483942" r:id="rId17"/>
    <p:sldLayoutId id="2147483919" r:id="rId18"/>
    <p:sldLayoutId id="2147483929" r:id="rId19"/>
    <p:sldLayoutId id="2147483920" r:id="rId20"/>
    <p:sldLayoutId id="2147483930" r:id="rId21"/>
    <p:sldLayoutId id="2147483928" r:id="rId22"/>
    <p:sldLayoutId id="2147483948" r:id="rId23"/>
    <p:sldLayoutId id="2147483927" r:id="rId24"/>
    <p:sldLayoutId id="2147483950" r:id="rId25"/>
    <p:sldLayoutId id="2147483921" r:id="rId26"/>
    <p:sldLayoutId id="2147483916" r:id="rId27"/>
    <p:sldLayoutId id="2147483922" r:id="rId28"/>
    <p:sldLayoutId id="2147483965" r:id="rId29"/>
    <p:sldLayoutId id="2147483956" r:id="rId30"/>
    <p:sldLayoutId id="2147483923" r:id="rId31"/>
    <p:sldLayoutId id="2147483924" r:id="rId32"/>
    <p:sldLayoutId id="2147483926" r:id="rId33"/>
    <p:sldLayoutId id="2147483925" r:id="rId34"/>
    <p:sldLayoutId id="2147483959" r:id="rId35"/>
    <p:sldLayoutId id="2147483937" r:id="rId36"/>
    <p:sldLayoutId id="2147483932" r:id="rId37"/>
    <p:sldLayoutId id="2147483934" r:id="rId38"/>
    <p:sldLayoutId id="2147483935" r:id="rId39"/>
    <p:sldLayoutId id="2147483936" r:id="rId40"/>
    <p:sldLayoutId id="2147483938" r:id="rId41"/>
    <p:sldLayoutId id="2147483939" r:id="rId42"/>
    <p:sldLayoutId id="2147483964" r:id="rId43"/>
    <p:sldLayoutId id="2147483940" r:id="rId44"/>
    <p:sldLayoutId id="2147483960" r:id="rId45"/>
    <p:sldLayoutId id="2147483943" r:id="rId46"/>
    <p:sldLayoutId id="2147483963" r:id="rId47"/>
    <p:sldLayoutId id="2147483941" r:id="rId48"/>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userDrawn="1">
          <p15:clr>
            <a:srgbClr val="EE5396"/>
          </p15:clr>
        </p15:guide>
        <p15:guide id="20" orient="horz" pos="958" userDrawn="1">
          <p15:clr>
            <a:srgbClr val="EE5396"/>
          </p15:clr>
        </p15:guide>
        <p15:guide id="25" orient="horz" pos="7682" userDrawn="1">
          <p15:clr>
            <a:srgbClr val="EE5396"/>
          </p15:clr>
        </p15:guide>
        <p15:guide id="26" pos="7680">
          <p15:clr>
            <a:srgbClr val="0F62FE"/>
          </p15:clr>
        </p15:guide>
        <p15:guide id="27" pos="11520">
          <p15:clr>
            <a:srgbClr val="0F62FE"/>
          </p15:clr>
        </p15:guide>
        <p15:guide id="30" orient="horz" pos="1918" userDrawn="1">
          <p15:clr>
            <a:srgbClr val="EE5396"/>
          </p15:clr>
        </p15:guide>
        <p15:guide id="32" orient="horz" pos="6720" userDrawn="1">
          <p15:clr>
            <a:srgbClr val="EE5396"/>
          </p15:clr>
        </p15:guide>
        <p15:guide id="33" orient="horz" pos="2880" userDrawn="1">
          <p15:clr>
            <a:srgbClr val="EE5396"/>
          </p15:clr>
        </p15:guide>
        <p15:guide id="34" orient="horz" pos="4800" userDrawn="1">
          <p15:clr>
            <a:srgbClr val="EE5396"/>
          </p15:clr>
        </p15:guide>
        <p15:guide id="35" orient="horz" pos="5758" userDrawn="1">
          <p15:clr>
            <a:srgbClr val="EE5396"/>
          </p15:clr>
        </p15:guide>
        <p15:guide id="36" orient="horz" pos="8284" userDrawn="1">
          <p15:clr>
            <a:srgbClr val="9FCC3B"/>
          </p15:clr>
        </p15:guide>
        <p15:guide id="37" orient="horz" pos="360"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Nicholezheng123@ibm.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mailto:icholezheng123@ibm.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26.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hyperlink" Target="https://www.ibm.com/products/watsonx?utm_source"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0.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43613A2-28F2-1135-13AB-E7155D225A45}"/>
              </a:ext>
            </a:extLst>
          </p:cNvPr>
          <p:cNvSpPr>
            <a:spLocks noGrp="1"/>
          </p:cNvSpPr>
          <p:nvPr>
            <p:ph type="body" sz="quarter" idx="12"/>
          </p:nvPr>
        </p:nvSpPr>
        <p:spPr>
          <a:xfrm>
            <a:off x="582045" y="12166599"/>
            <a:ext cx="4942455" cy="1074293"/>
          </a:xfrm>
        </p:spPr>
        <p:txBody>
          <a:bodyPr/>
          <a:lstStyle/>
          <a:p>
            <a:r>
              <a:rPr lang="en-US"/>
              <a:t>Nichole Zheng</a:t>
            </a:r>
            <a:br>
              <a:rPr lang="en-US"/>
            </a:br>
            <a:r>
              <a:rPr lang="en-US">
                <a:hlinkClick r:id="rId3"/>
              </a:rPr>
              <a:t>N</a:t>
            </a:r>
            <a:r>
              <a:rPr lang="en-US">
                <a:hlinkClick r:id="rId4"/>
              </a:rPr>
              <a:t>icholezheng123@ibm.com</a:t>
            </a:r>
            <a:endParaRPr lang="en-US"/>
          </a:p>
        </p:txBody>
      </p:sp>
      <p:sp>
        <p:nvSpPr>
          <p:cNvPr id="2" name="Title 1">
            <a:extLst>
              <a:ext uri="{FF2B5EF4-FFF2-40B4-BE49-F238E27FC236}">
                <a16:creationId xmlns:a16="http://schemas.microsoft.com/office/drawing/2014/main" id="{B335AEEA-5D4C-1E14-8D74-5ACD379B06AE}"/>
              </a:ext>
            </a:extLst>
          </p:cNvPr>
          <p:cNvSpPr>
            <a:spLocks noGrp="1"/>
          </p:cNvSpPr>
          <p:nvPr>
            <p:ph type="title"/>
          </p:nvPr>
        </p:nvSpPr>
        <p:spPr>
          <a:xfrm>
            <a:off x="576000" y="311151"/>
            <a:ext cx="10101072" cy="7308850"/>
          </a:xfrm>
        </p:spPr>
        <p:txBody>
          <a:bodyPr/>
          <a:lstStyle/>
          <a:p>
            <a:r>
              <a:rPr lang="en-US" sz="13200"/>
              <a:t>What is IBM?</a:t>
            </a:r>
            <a:br>
              <a:rPr lang="en-US" sz="13200"/>
            </a:br>
            <a:r>
              <a:rPr lang="en-US" sz="4800">
                <a:solidFill>
                  <a:schemeClr val="tx1">
                    <a:lumMod val="50000"/>
                    <a:lumOff val="50000"/>
                  </a:schemeClr>
                </a:solidFill>
              </a:rPr>
              <a:t>How a 100+ year old company keeps reinventing itself</a:t>
            </a:r>
            <a:endParaRPr lang="en-US" sz="4800" dirty="0">
              <a:solidFill>
                <a:schemeClr val="tx1">
                  <a:lumMod val="50000"/>
                  <a:lumOff val="50000"/>
                </a:schemeClr>
              </a:solidFill>
            </a:endParaRPr>
          </a:p>
        </p:txBody>
      </p:sp>
      <p:sp>
        <p:nvSpPr>
          <p:cNvPr id="4" name="TextBox 3">
            <a:extLst>
              <a:ext uri="{FF2B5EF4-FFF2-40B4-BE49-F238E27FC236}">
                <a16:creationId xmlns:a16="http://schemas.microsoft.com/office/drawing/2014/main" id="{F94A33F8-139B-8200-6A96-D49D97030438}"/>
              </a:ext>
            </a:extLst>
          </p:cNvPr>
          <p:cNvSpPr txBox="1"/>
          <p:nvPr/>
        </p:nvSpPr>
        <p:spPr>
          <a:xfrm>
            <a:off x="13512800" y="12700000"/>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a:solidFill>
                <a:srgbClr val="000000"/>
              </a:solidFill>
              <a:ea typeface="+mj-ea"/>
              <a:cs typeface="+mj-cs"/>
              <a:sym typeface="IBM Plex Sans Light"/>
            </a:endParaRPr>
          </a:p>
        </p:txBody>
      </p:sp>
    </p:spTree>
    <p:extLst>
      <p:ext uri="{BB962C8B-B14F-4D97-AF65-F5344CB8AC3E}">
        <p14:creationId xmlns:p14="http://schemas.microsoft.com/office/powerpoint/2010/main" val="257129121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84088-D00D-09A6-0602-629D37192F8B}"/>
              </a:ext>
            </a:extLst>
          </p:cNvPr>
          <p:cNvSpPr>
            <a:spLocks noGrp="1"/>
          </p:cNvSpPr>
          <p:nvPr>
            <p:ph type="title"/>
          </p:nvPr>
        </p:nvSpPr>
        <p:spPr/>
        <p:txBody>
          <a:bodyPr/>
          <a:lstStyle/>
          <a:p>
            <a:r>
              <a:rPr lang="en-US" sz="4000"/>
              <a:t>Timeline</a:t>
            </a:r>
            <a:endParaRPr lang="en-US" sz="4000" dirty="0"/>
          </a:p>
        </p:txBody>
      </p:sp>
      <p:sp>
        <p:nvSpPr>
          <p:cNvPr id="3" name="Slide Number Placeholder 2">
            <a:extLst>
              <a:ext uri="{FF2B5EF4-FFF2-40B4-BE49-F238E27FC236}">
                <a16:creationId xmlns:a16="http://schemas.microsoft.com/office/drawing/2014/main" id="{F32B24A5-4CD8-DDDF-A0C2-642C92AB4DC3}"/>
              </a:ext>
            </a:extLst>
          </p:cNvPr>
          <p:cNvSpPr>
            <a:spLocks noGrp="1"/>
          </p:cNvSpPr>
          <p:nvPr>
            <p:ph type="sldNum" sz="quarter" idx="4"/>
          </p:nvPr>
        </p:nvSpPr>
        <p:spPr/>
        <p:txBody>
          <a:bodyPr/>
          <a:lstStyle/>
          <a:p>
            <a:fld id="{86CB4B4D-7CA3-9044-876B-883B54F8677D}" type="slidenum">
              <a:rPr lang="en-US" smtClean="0"/>
              <a:t>2</a:t>
            </a:fld>
            <a:endParaRPr lang="en-US" dirty="0"/>
          </a:p>
        </p:txBody>
      </p:sp>
      <p:sp>
        <p:nvSpPr>
          <p:cNvPr id="5" name="TextBox 4">
            <a:extLst>
              <a:ext uri="{FF2B5EF4-FFF2-40B4-BE49-F238E27FC236}">
                <a16:creationId xmlns:a16="http://schemas.microsoft.com/office/drawing/2014/main" id="{1C217157-8840-3AB9-DDB7-E8D9E80BD9FD}"/>
              </a:ext>
            </a:extLst>
          </p:cNvPr>
          <p:cNvSpPr txBox="1"/>
          <p:nvPr/>
        </p:nvSpPr>
        <p:spPr>
          <a:xfrm>
            <a:off x="2216443" y="2705686"/>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a:solidFill>
                <a:srgbClr val="000000"/>
              </a:solidFill>
              <a:ea typeface="+mj-ea"/>
              <a:cs typeface="+mj-cs"/>
              <a:sym typeface="IBM Plex Sans Light"/>
            </a:endParaRPr>
          </a:p>
        </p:txBody>
      </p:sp>
      <p:cxnSp>
        <p:nvCxnSpPr>
          <p:cNvPr id="16" name="Straight Connector 15">
            <a:extLst>
              <a:ext uri="{FF2B5EF4-FFF2-40B4-BE49-F238E27FC236}">
                <a16:creationId xmlns:a16="http://schemas.microsoft.com/office/drawing/2014/main" id="{3D0721F8-DFF1-AD42-4D7A-A0698C1BDC1C}"/>
              </a:ext>
            </a:extLst>
          </p:cNvPr>
          <p:cNvCxnSpPr>
            <a:cxnSpLocks/>
          </p:cNvCxnSpPr>
          <p:nvPr/>
        </p:nvCxnSpPr>
        <p:spPr bwMode="auto">
          <a:xfrm>
            <a:off x="716676" y="6858000"/>
            <a:ext cx="23095824" cy="23445"/>
          </a:xfrm>
          <a:prstGeom prst="line">
            <a:avLst/>
          </a:prstGeom>
          <a:ln w="508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3C319544-B98C-BA93-5888-03D995177521}"/>
              </a:ext>
            </a:extLst>
          </p:cNvPr>
          <p:cNvCxnSpPr/>
          <p:nvPr/>
        </p:nvCxnSpPr>
        <p:spPr bwMode="auto">
          <a:xfrm flipV="1">
            <a:off x="1849628" y="5849815"/>
            <a:ext cx="0" cy="1031631"/>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FB0EEA6-721A-7834-99AE-E619BFE8F314}"/>
              </a:ext>
            </a:extLst>
          </p:cNvPr>
          <p:cNvSpPr txBox="1"/>
          <p:nvPr/>
        </p:nvSpPr>
        <p:spPr>
          <a:xfrm>
            <a:off x="1000942" y="4123006"/>
            <a:ext cx="2823693" cy="17936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2800" kern="0">
                <a:solidFill>
                  <a:srgbClr val="000000"/>
                </a:solidFill>
                <a:ea typeface="+mj-ea"/>
                <a:cs typeface="+mj-cs"/>
                <a:sym typeface="IBM Plex Sans Light"/>
              </a:rPr>
              <a:t>1911- IBM founded as CTR</a:t>
            </a:r>
          </a:p>
          <a:p>
            <a:pPr defTabSz="2438400">
              <a:spcBef>
                <a:spcPts val="500"/>
              </a:spcBef>
              <a:buSzPct val="100000"/>
            </a:pPr>
            <a:r>
              <a:rPr lang="en-US" sz="2000">
                <a:solidFill>
                  <a:schemeClr val="tx1">
                    <a:lumMod val="50000"/>
                    <a:lumOff val="50000"/>
                  </a:schemeClr>
                </a:solidFill>
              </a:rPr>
              <a:t>Punch cards and tabulating machines</a:t>
            </a:r>
            <a:endParaRPr lang="en-US" sz="2000" kern="0">
              <a:solidFill>
                <a:schemeClr val="tx1">
                  <a:lumMod val="50000"/>
                  <a:lumOff val="50000"/>
                </a:schemeClr>
              </a:solidFill>
              <a:ea typeface="+mj-ea"/>
              <a:cs typeface="+mj-cs"/>
              <a:sym typeface="IBM Plex Sans Light"/>
            </a:endParaRPr>
          </a:p>
        </p:txBody>
      </p:sp>
      <p:cxnSp>
        <p:nvCxnSpPr>
          <p:cNvPr id="23" name="Straight Connector 22">
            <a:extLst>
              <a:ext uri="{FF2B5EF4-FFF2-40B4-BE49-F238E27FC236}">
                <a16:creationId xmlns:a16="http://schemas.microsoft.com/office/drawing/2014/main" id="{89CA8427-FC62-FBB5-E78B-84068049A3FB}"/>
              </a:ext>
            </a:extLst>
          </p:cNvPr>
          <p:cNvCxnSpPr/>
          <p:nvPr/>
        </p:nvCxnSpPr>
        <p:spPr bwMode="auto">
          <a:xfrm flipV="1">
            <a:off x="2703247" y="6881445"/>
            <a:ext cx="0" cy="1031631"/>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6BEEABE-1F64-8B4F-9FB2-ED07F22B123D}"/>
              </a:ext>
            </a:extLst>
          </p:cNvPr>
          <p:cNvSpPr txBox="1"/>
          <p:nvPr/>
        </p:nvSpPr>
        <p:spPr>
          <a:xfrm>
            <a:off x="1490399" y="8050057"/>
            <a:ext cx="2823693" cy="17936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2800" kern="0">
                <a:solidFill>
                  <a:srgbClr val="000000"/>
                </a:solidFill>
                <a:ea typeface="+mj-ea"/>
                <a:cs typeface="+mj-cs"/>
                <a:sym typeface="IBM Plex Sans Light"/>
              </a:rPr>
              <a:t>1924- Renamed to IBM</a:t>
            </a:r>
          </a:p>
          <a:p>
            <a:pPr defTabSz="2438400">
              <a:spcBef>
                <a:spcPts val="500"/>
              </a:spcBef>
              <a:buSzPct val="100000"/>
            </a:pPr>
            <a:r>
              <a:rPr lang="en-US" sz="2000" kern="0">
                <a:solidFill>
                  <a:schemeClr val="tx1">
                    <a:lumMod val="50000"/>
                    <a:lumOff val="50000"/>
                  </a:schemeClr>
                </a:solidFill>
                <a:ea typeface="+mj-ea"/>
                <a:cs typeface="+mj-cs"/>
                <a:sym typeface="IBM Plex Sans Light"/>
              </a:rPr>
              <a:t>Expanded globably, “International Business Machines”</a:t>
            </a:r>
          </a:p>
        </p:txBody>
      </p:sp>
      <p:cxnSp>
        <p:nvCxnSpPr>
          <p:cNvPr id="26" name="Straight Connector 25">
            <a:extLst>
              <a:ext uri="{FF2B5EF4-FFF2-40B4-BE49-F238E27FC236}">
                <a16:creationId xmlns:a16="http://schemas.microsoft.com/office/drawing/2014/main" id="{A6300A11-A0B6-AC42-97F0-5B429DAAC75A}"/>
              </a:ext>
            </a:extLst>
          </p:cNvPr>
          <p:cNvCxnSpPr/>
          <p:nvPr/>
        </p:nvCxnSpPr>
        <p:spPr bwMode="auto">
          <a:xfrm flipV="1">
            <a:off x="4617529" y="5811128"/>
            <a:ext cx="0" cy="1031631"/>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0AD38B9-39B7-A442-F3C0-517E66D8396D}"/>
              </a:ext>
            </a:extLst>
          </p:cNvPr>
          <p:cNvSpPr txBox="1"/>
          <p:nvPr/>
        </p:nvSpPr>
        <p:spPr>
          <a:xfrm>
            <a:off x="4160016" y="3607190"/>
            <a:ext cx="2823693" cy="17936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2800" kern="0">
                <a:solidFill>
                  <a:srgbClr val="000000"/>
                </a:solidFill>
                <a:ea typeface="+mj-ea"/>
                <a:cs typeface="+mj-cs"/>
                <a:sym typeface="IBM Plex Sans Light"/>
              </a:rPr>
              <a:t>1956- RAMAC introduced</a:t>
            </a:r>
          </a:p>
          <a:p>
            <a:pPr defTabSz="2438400">
              <a:spcBef>
                <a:spcPts val="500"/>
              </a:spcBef>
              <a:buSzPct val="100000"/>
            </a:pPr>
            <a:r>
              <a:rPr lang="en-US" sz="2000" kern="0">
                <a:solidFill>
                  <a:schemeClr val="tx1">
                    <a:lumMod val="50000"/>
                    <a:lumOff val="50000"/>
                  </a:schemeClr>
                </a:solidFill>
                <a:ea typeface="+mj-ea"/>
                <a:cs typeface="+mj-cs"/>
                <a:sym typeface="IBM Plex Sans Light"/>
              </a:rPr>
              <a:t>First hard disk storage system, leader in enterprise computing infrastructure </a:t>
            </a:r>
          </a:p>
        </p:txBody>
      </p:sp>
      <p:cxnSp>
        <p:nvCxnSpPr>
          <p:cNvPr id="28" name="Straight Connector 27">
            <a:extLst>
              <a:ext uri="{FF2B5EF4-FFF2-40B4-BE49-F238E27FC236}">
                <a16:creationId xmlns:a16="http://schemas.microsoft.com/office/drawing/2014/main" id="{AF8E9808-DF2A-6A07-CC57-E2AB3523F67B}"/>
              </a:ext>
            </a:extLst>
          </p:cNvPr>
          <p:cNvCxnSpPr/>
          <p:nvPr/>
        </p:nvCxnSpPr>
        <p:spPr bwMode="auto">
          <a:xfrm flipV="1">
            <a:off x="6321286" y="6881445"/>
            <a:ext cx="0" cy="1031631"/>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4457490-7741-9DF3-B564-4AC103A9F12F}"/>
              </a:ext>
            </a:extLst>
          </p:cNvPr>
          <p:cNvSpPr txBox="1"/>
          <p:nvPr/>
        </p:nvSpPr>
        <p:spPr>
          <a:xfrm>
            <a:off x="4617529" y="8066759"/>
            <a:ext cx="3354163" cy="17936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2800" kern="0">
                <a:solidFill>
                  <a:srgbClr val="000000"/>
                </a:solidFill>
                <a:ea typeface="+mj-ea"/>
                <a:cs typeface="+mj-cs"/>
                <a:sym typeface="IBM Plex Sans Light"/>
              </a:rPr>
              <a:t>1964- System/360 Mainframe launched</a:t>
            </a:r>
          </a:p>
          <a:p>
            <a:pPr defTabSz="2438400">
              <a:spcBef>
                <a:spcPts val="500"/>
              </a:spcBef>
              <a:buSzPct val="100000"/>
            </a:pPr>
            <a:r>
              <a:rPr lang="en-US" sz="2000" kern="0">
                <a:solidFill>
                  <a:schemeClr val="tx1">
                    <a:lumMod val="50000"/>
                    <a:lumOff val="50000"/>
                  </a:schemeClr>
                </a:solidFill>
                <a:ea typeface="+mj-ea"/>
                <a:cs typeface="+mj-cs"/>
                <a:sym typeface="IBM Plex Sans Light"/>
              </a:rPr>
              <a:t>Massive recurring enterprise revenue , standardized computing for businesses </a:t>
            </a:r>
          </a:p>
        </p:txBody>
      </p:sp>
      <p:sp>
        <p:nvSpPr>
          <p:cNvPr id="31" name="Left Bracket 30">
            <a:extLst>
              <a:ext uri="{FF2B5EF4-FFF2-40B4-BE49-F238E27FC236}">
                <a16:creationId xmlns:a16="http://schemas.microsoft.com/office/drawing/2014/main" id="{D0D5BE99-F21B-182F-1AB4-3560B18B9313}"/>
              </a:ext>
            </a:extLst>
          </p:cNvPr>
          <p:cNvSpPr/>
          <p:nvPr/>
        </p:nvSpPr>
        <p:spPr bwMode="auto">
          <a:xfrm rot="5400000">
            <a:off x="3560758" y="651987"/>
            <a:ext cx="374345" cy="5434520"/>
          </a:xfrm>
          <a:prstGeom prst="leftBracket">
            <a:avLst/>
          </a:prstGeom>
          <a:ln w="25400">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9B06911F-09B5-56CB-C978-651FEBFE45E7}"/>
              </a:ext>
            </a:extLst>
          </p:cNvPr>
          <p:cNvSpPr txBox="1"/>
          <p:nvPr/>
        </p:nvSpPr>
        <p:spPr>
          <a:xfrm>
            <a:off x="1116132" y="2714974"/>
            <a:ext cx="5205154" cy="6160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2800" kern="0">
                <a:solidFill>
                  <a:schemeClr val="tx1">
                    <a:lumMod val="50000"/>
                    <a:lumOff val="50000"/>
                  </a:schemeClr>
                </a:solidFill>
                <a:ea typeface="+mj-ea"/>
                <a:cs typeface="+mj-cs"/>
                <a:sym typeface="IBM Plex Sans Light"/>
              </a:rPr>
              <a:t>Founding &amp; Early Computing Era</a:t>
            </a:r>
            <a:endParaRPr lang="en-US" sz="2000" kern="0">
              <a:solidFill>
                <a:schemeClr val="tx1">
                  <a:lumMod val="50000"/>
                  <a:lumOff val="50000"/>
                </a:schemeClr>
              </a:solidFill>
              <a:ea typeface="+mj-ea"/>
              <a:cs typeface="+mj-cs"/>
              <a:sym typeface="IBM Plex Sans Light"/>
            </a:endParaRPr>
          </a:p>
        </p:txBody>
      </p:sp>
      <p:sp>
        <p:nvSpPr>
          <p:cNvPr id="33" name="Left Bracket 32">
            <a:extLst>
              <a:ext uri="{FF2B5EF4-FFF2-40B4-BE49-F238E27FC236}">
                <a16:creationId xmlns:a16="http://schemas.microsoft.com/office/drawing/2014/main" id="{FED396FA-08AB-25B0-5641-6396ADE6410F}"/>
              </a:ext>
            </a:extLst>
          </p:cNvPr>
          <p:cNvSpPr/>
          <p:nvPr/>
        </p:nvSpPr>
        <p:spPr bwMode="auto">
          <a:xfrm rot="5400000">
            <a:off x="10178565" y="2439180"/>
            <a:ext cx="374345" cy="4786940"/>
          </a:xfrm>
          <a:prstGeom prst="leftBracket">
            <a:avLst/>
          </a:prstGeom>
          <a:ln w="25400">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a:extLst>
              <a:ext uri="{FF2B5EF4-FFF2-40B4-BE49-F238E27FC236}">
                <a16:creationId xmlns:a16="http://schemas.microsoft.com/office/drawing/2014/main" id="{0A63D617-8E66-C28D-373A-7F3E4E6498A7}"/>
              </a:ext>
            </a:extLst>
          </p:cNvPr>
          <p:cNvSpPr txBox="1"/>
          <p:nvPr/>
        </p:nvSpPr>
        <p:spPr>
          <a:xfrm>
            <a:off x="8178780" y="4123710"/>
            <a:ext cx="4786939" cy="6160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spcBef>
                <a:spcPts val="2900"/>
              </a:spcBef>
              <a:buSzPct val="100000"/>
            </a:pPr>
            <a:r>
              <a:rPr lang="en-US" sz="2800" kern="0">
                <a:solidFill>
                  <a:schemeClr val="tx1">
                    <a:lumMod val="50000"/>
                    <a:lumOff val="50000"/>
                  </a:schemeClr>
                </a:solidFill>
                <a:ea typeface="+mj-ea"/>
                <a:cs typeface="+mj-cs"/>
                <a:sym typeface="IBM Plex Sans Light"/>
              </a:rPr>
              <a:t>Mainframe Era</a:t>
            </a:r>
            <a:endParaRPr lang="en-US" sz="2000" kern="0">
              <a:solidFill>
                <a:schemeClr val="tx1">
                  <a:lumMod val="50000"/>
                  <a:lumOff val="50000"/>
                </a:schemeClr>
              </a:solidFill>
              <a:ea typeface="+mj-ea"/>
              <a:cs typeface="+mj-cs"/>
              <a:sym typeface="IBM Plex Sans Light"/>
            </a:endParaRPr>
          </a:p>
        </p:txBody>
      </p:sp>
      <p:sp>
        <p:nvSpPr>
          <p:cNvPr id="35" name="TextBox 34">
            <a:extLst>
              <a:ext uri="{FF2B5EF4-FFF2-40B4-BE49-F238E27FC236}">
                <a16:creationId xmlns:a16="http://schemas.microsoft.com/office/drawing/2014/main" id="{5D03976F-1BF7-2EA7-F41C-4BEB2F5ECED9}"/>
              </a:ext>
            </a:extLst>
          </p:cNvPr>
          <p:cNvSpPr txBox="1"/>
          <p:nvPr/>
        </p:nvSpPr>
        <p:spPr>
          <a:xfrm>
            <a:off x="7971692" y="5160497"/>
            <a:ext cx="4994027" cy="17936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2800" kern="0">
                <a:solidFill>
                  <a:srgbClr val="000000"/>
                </a:solidFill>
                <a:ea typeface="+mj-ea"/>
                <a:cs typeface="+mj-cs"/>
                <a:sym typeface="IBM Plex Sans Light"/>
              </a:rPr>
              <a:t>1964- 1980 Mainframe</a:t>
            </a:r>
          </a:p>
          <a:p>
            <a:pPr defTabSz="2438400">
              <a:spcBef>
                <a:spcPts val="500"/>
              </a:spcBef>
              <a:buSzPct val="100000"/>
            </a:pPr>
            <a:r>
              <a:rPr lang="en-US" sz="2000" kern="0">
                <a:solidFill>
                  <a:schemeClr val="tx1">
                    <a:lumMod val="50000"/>
                    <a:lumOff val="50000"/>
                  </a:schemeClr>
                </a:solidFill>
                <a:ea typeface="+mj-ea"/>
                <a:cs typeface="+mj-cs"/>
                <a:sym typeface="IBM Plex Sans Light"/>
              </a:rPr>
              <a:t>Earned revenue through products like System/360, Mainframes and ATM systems mainly for banks, airlines and governments. </a:t>
            </a:r>
          </a:p>
        </p:txBody>
      </p:sp>
      <p:sp>
        <p:nvSpPr>
          <p:cNvPr id="36" name="Left Bracket 35">
            <a:extLst>
              <a:ext uri="{FF2B5EF4-FFF2-40B4-BE49-F238E27FC236}">
                <a16:creationId xmlns:a16="http://schemas.microsoft.com/office/drawing/2014/main" id="{DEAAD70B-E240-E8E8-0FBC-7ACCFF01D383}"/>
              </a:ext>
            </a:extLst>
          </p:cNvPr>
          <p:cNvSpPr/>
          <p:nvPr/>
        </p:nvSpPr>
        <p:spPr bwMode="auto">
          <a:xfrm rot="16200000">
            <a:off x="15607993" y="6817420"/>
            <a:ext cx="374344" cy="4751211"/>
          </a:xfrm>
          <a:prstGeom prst="leftBracket">
            <a:avLst/>
          </a:prstGeom>
          <a:ln w="25400">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TextBox 36">
            <a:extLst>
              <a:ext uri="{FF2B5EF4-FFF2-40B4-BE49-F238E27FC236}">
                <a16:creationId xmlns:a16="http://schemas.microsoft.com/office/drawing/2014/main" id="{E50D1520-BFD4-2AB5-59A5-E4BBABEC85D3}"/>
              </a:ext>
            </a:extLst>
          </p:cNvPr>
          <p:cNvSpPr txBox="1"/>
          <p:nvPr/>
        </p:nvSpPr>
        <p:spPr>
          <a:xfrm>
            <a:off x="13418983" y="9566962"/>
            <a:ext cx="4544699" cy="6160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spcBef>
                <a:spcPts val="2900"/>
              </a:spcBef>
              <a:buSzPct val="100000"/>
            </a:pPr>
            <a:r>
              <a:rPr lang="en-US" sz="2800" kern="0">
                <a:solidFill>
                  <a:schemeClr val="tx1">
                    <a:lumMod val="50000"/>
                    <a:lumOff val="50000"/>
                  </a:schemeClr>
                </a:solidFill>
                <a:ea typeface="+mj-ea"/>
                <a:cs typeface="+mj-cs"/>
                <a:sym typeface="IBM Plex Sans Light"/>
              </a:rPr>
              <a:t>PC Era</a:t>
            </a:r>
            <a:endParaRPr lang="en-US" sz="2000" kern="0">
              <a:solidFill>
                <a:schemeClr val="tx1">
                  <a:lumMod val="50000"/>
                  <a:lumOff val="50000"/>
                </a:schemeClr>
              </a:solidFill>
              <a:ea typeface="+mj-ea"/>
              <a:cs typeface="+mj-cs"/>
              <a:sym typeface="IBM Plex Sans Light"/>
            </a:endParaRPr>
          </a:p>
        </p:txBody>
      </p:sp>
      <p:sp>
        <p:nvSpPr>
          <p:cNvPr id="40" name="TextBox 39">
            <a:extLst>
              <a:ext uri="{FF2B5EF4-FFF2-40B4-BE49-F238E27FC236}">
                <a16:creationId xmlns:a16="http://schemas.microsoft.com/office/drawing/2014/main" id="{4CCF0A40-A366-DEB7-9946-99E7632A6FED}"/>
              </a:ext>
            </a:extLst>
          </p:cNvPr>
          <p:cNvSpPr txBox="1"/>
          <p:nvPr/>
        </p:nvSpPr>
        <p:spPr>
          <a:xfrm>
            <a:off x="13418983" y="7229748"/>
            <a:ext cx="4994027" cy="17936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2800" kern="0">
                <a:solidFill>
                  <a:srgbClr val="000000"/>
                </a:solidFill>
                <a:ea typeface="+mj-ea"/>
                <a:cs typeface="+mj-cs"/>
                <a:sym typeface="IBM Plex Sans Light"/>
              </a:rPr>
              <a:t>1981- 1990 PC</a:t>
            </a:r>
          </a:p>
          <a:p>
            <a:pPr defTabSz="2438400">
              <a:spcBef>
                <a:spcPts val="500"/>
              </a:spcBef>
              <a:buSzPct val="100000"/>
            </a:pPr>
            <a:r>
              <a:rPr lang="en-US" sz="2000" kern="0">
                <a:solidFill>
                  <a:schemeClr val="tx1">
                    <a:lumMod val="50000"/>
                    <a:lumOff val="50000"/>
                  </a:schemeClr>
                </a:solidFill>
                <a:ea typeface="+mj-ea"/>
                <a:cs typeface="+mj-cs"/>
                <a:sym typeface="IBM Plex Sans Light"/>
              </a:rPr>
              <a:t>Revenue shifted towards PC sales, business computing hardware and enterprise technology solutions. Competition increased due to Microsoft and Intel.</a:t>
            </a:r>
          </a:p>
        </p:txBody>
      </p:sp>
      <p:sp>
        <p:nvSpPr>
          <p:cNvPr id="46" name="Left Bracket 45">
            <a:extLst>
              <a:ext uri="{FF2B5EF4-FFF2-40B4-BE49-F238E27FC236}">
                <a16:creationId xmlns:a16="http://schemas.microsoft.com/office/drawing/2014/main" id="{F82AE390-BC3C-9A43-58F0-8C0C02F49270}"/>
              </a:ext>
            </a:extLst>
          </p:cNvPr>
          <p:cNvSpPr/>
          <p:nvPr/>
        </p:nvSpPr>
        <p:spPr bwMode="auto">
          <a:xfrm rot="5400000">
            <a:off x="20807955" y="2218435"/>
            <a:ext cx="374344" cy="4751211"/>
          </a:xfrm>
          <a:prstGeom prst="leftBracket">
            <a:avLst/>
          </a:prstGeom>
          <a:ln w="25400">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Box 46">
            <a:extLst>
              <a:ext uri="{FF2B5EF4-FFF2-40B4-BE49-F238E27FC236}">
                <a16:creationId xmlns:a16="http://schemas.microsoft.com/office/drawing/2014/main" id="{8CFB6FE9-18C2-452E-CEA1-5B68B2CC7789}"/>
              </a:ext>
            </a:extLst>
          </p:cNvPr>
          <p:cNvSpPr txBox="1"/>
          <p:nvPr/>
        </p:nvSpPr>
        <p:spPr>
          <a:xfrm>
            <a:off x="18826033" y="3885101"/>
            <a:ext cx="4544699" cy="6160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spcBef>
                <a:spcPts val="2900"/>
              </a:spcBef>
              <a:buSzPct val="100000"/>
            </a:pPr>
            <a:r>
              <a:rPr lang="en-US" sz="2800" kern="0">
                <a:solidFill>
                  <a:schemeClr val="tx1">
                    <a:lumMod val="50000"/>
                    <a:lumOff val="50000"/>
                  </a:schemeClr>
                </a:solidFill>
                <a:ea typeface="+mj-ea"/>
                <a:cs typeface="+mj-cs"/>
                <a:sym typeface="IBM Plex Sans Light"/>
              </a:rPr>
              <a:t>Serivces Era</a:t>
            </a:r>
            <a:endParaRPr lang="en-US" sz="2000" kern="0">
              <a:solidFill>
                <a:schemeClr val="tx1">
                  <a:lumMod val="50000"/>
                  <a:lumOff val="50000"/>
                </a:schemeClr>
              </a:solidFill>
              <a:ea typeface="+mj-ea"/>
              <a:cs typeface="+mj-cs"/>
              <a:sym typeface="IBM Plex Sans Light"/>
            </a:endParaRPr>
          </a:p>
        </p:txBody>
      </p:sp>
      <p:sp>
        <p:nvSpPr>
          <p:cNvPr id="53" name="TextBox 52">
            <a:extLst>
              <a:ext uri="{FF2B5EF4-FFF2-40B4-BE49-F238E27FC236}">
                <a16:creationId xmlns:a16="http://schemas.microsoft.com/office/drawing/2014/main" id="{EC52AB34-9739-D7A2-1713-5ED1B920CD9D}"/>
              </a:ext>
            </a:extLst>
          </p:cNvPr>
          <p:cNvSpPr txBox="1"/>
          <p:nvPr/>
        </p:nvSpPr>
        <p:spPr>
          <a:xfrm>
            <a:off x="18618945" y="4921888"/>
            <a:ext cx="4994027" cy="17936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2800" kern="0" dirty="0">
                <a:solidFill>
                  <a:srgbClr val="000000"/>
                </a:solidFill>
                <a:ea typeface="+mj-ea"/>
                <a:cs typeface="+mj-cs"/>
                <a:sym typeface="IBM Plex Sans Light"/>
              </a:rPr>
              <a:t>1992- 2008 Services</a:t>
            </a:r>
          </a:p>
          <a:p>
            <a:pPr defTabSz="2438400">
              <a:spcBef>
                <a:spcPts val="500"/>
              </a:spcBef>
              <a:buSzPct val="100000"/>
            </a:pPr>
            <a:r>
              <a:rPr lang="en-US" sz="2000" kern="0" dirty="0">
                <a:solidFill>
                  <a:schemeClr val="tx1">
                    <a:lumMod val="50000"/>
                    <a:lumOff val="50000"/>
                  </a:schemeClr>
                </a:solidFill>
                <a:ea typeface="+mj-ea"/>
                <a:cs typeface="+mj-cs"/>
                <a:sym typeface="IBM Plex Sans Light"/>
              </a:rPr>
              <a:t>Earned revenue through IT consulting, enterprise services, outsourcing contracts... “Solving business problems” so became business tech  &amp; consulting company.</a:t>
            </a:r>
          </a:p>
        </p:txBody>
      </p:sp>
      <p:sp>
        <p:nvSpPr>
          <p:cNvPr id="57" name="Text Placeholder 13">
            <a:extLst>
              <a:ext uri="{FF2B5EF4-FFF2-40B4-BE49-F238E27FC236}">
                <a16:creationId xmlns:a16="http://schemas.microsoft.com/office/drawing/2014/main" id="{A8ADE5A4-01B1-EB61-8F7A-BDA2F9C7D296}"/>
              </a:ext>
            </a:extLst>
          </p:cNvPr>
          <p:cNvSpPr>
            <a:spLocks noGrp="1"/>
          </p:cNvSpPr>
          <p:nvPr>
            <p:ph type="body" sz="quarter" idx="13"/>
          </p:nvPr>
        </p:nvSpPr>
        <p:spPr>
          <a:xfrm>
            <a:off x="574675" y="12439733"/>
            <a:ext cx="5524500" cy="758026"/>
          </a:xfrm>
        </p:spPr>
        <p:txBody>
          <a:bodyPr/>
          <a:lstStyle/>
          <a:p>
            <a:r>
              <a:rPr lang="en-US" kern="0"/>
              <a:t>Source</a:t>
            </a:r>
            <a:r>
              <a:rPr lang="en-US"/>
              <a:t>: https://www.linkedin.com/posts/jeremypaulwaite_think-activity-7121412507239337984-UzSG</a:t>
            </a:r>
            <a:endParaRPr lang="en-US" dirty="0"/>
          </a:p>
        </p:txBody>
      </p:sp>
    </p:spTree>
    <p:extLst>
      <p:ext uri="{BB962C8B-B14F-4D97-AF65-F5344CB8AC3E}">
        <p14:creationId xmlns:p14="http://schemas.microsoft.com/office/powerpoint/2010/main" val="320883684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1EBCC-6D39-10CA-E02F-E1D8156DA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EEB673-C68B-835F-F727-73E35E76F0A7}"/>
              </a:ext>
            </a:extLst>
          </p:cNvPr>
          <p:cNvSpPr>
            <a:spLocks noGrp="1"/>
          </p:cNvSpPr>
          <p:nvPr>
            <p:ph type="title"/>
          </p:nvPr>
        </p:nvSpPr>
        <p:spPr/>
        <p:txBody>
          <a:bodyPr/>
          <a:lstStyle/>
          <a:p>
            <a:r>
              <a:rPr lang="en-US" sz="4000"/>
              <a:t> Timeline</a:t>
            </a:r>
            <a:endParaRPr lang="en-US" sz="4000" dirty="0"/>
          </a:p>
        </p:txBody>
      </p:sp>
      <p:sp>
        <p:nvSpPr>
          <p:cNvPr id="3" name="Slide Number Placeholder 2">
            <a:extLst>
              <a:ext uri="{FF2B5EF4-FFF2-40B4-BE49-F238E27FC236}">
                <a16:creationId xmlns:a16="http://schemas.microsoft.com/office/drawing/2014/main" id="{5453B2CF-00C2-FEAB-1A6A-BCA888282018}"/>
              </a:ext>
            </a:extLst>
          </p:cNvPr>
          <p:cNvSpPr>
            <a:spLocks noGrp="1"/>
          </p:cNvSpPr>
          <p:nvPr>
            <p:ph type="sldNum" sz="quarter" idx="4"/>
          </p:nvPr>
        </p:nvSpPr>
        <p:spPr/>
        <p:txBody>
          <a:bodyPr/>
          <a:lstStyle/>
          <a:p>
            <a:fld id="{86CB4B4D-7CA3-9044-876B-883B54F8677D}" type="slidenum">
              <a:rPr lang="en-US" smtClean="0"/>
              <a:t>3</a:t>
            </a:fld>
            <a:endParaRPr lang="en-US" dirty="0"/>
          </a:p>
        </p:txBody>
      </p:sp>
      <p:sp>
        <p:nvSpPr>
          <p:cNvPr id="14" name="Text Placeholder 13">
            <a:extLst>
              <a:ext uri="{FF2B5EF4-FFF2-40B4-BE49-F238E27FC236}">
                <a16:creationId xmlns:a16="http://schemas.microsoft.com/office/drawing/2014/main" id="{9D6E1C2B-1C2D-E080-DD6E-2B54A2961D06}"/>
              </a:ext>
            </a:extLst>
          </p:cNvPr>
          <p:cNvSpPr>
            <a:spLocks noGrp="1"/>
          </p:cNvSpPr>
          <p:nvPr>
            <p:ph type="body" sz="quarter" idx="13"/>
          </p:nvPr>
        </p:nvSpPr>
        <p:spPr>
          <a:xfrm>
            <a:off x="574675" y="12439733"/>
            <a:ext cx="5524500" cy="758026"/>
          </a:xfrm>
        </p:spPr>
        <p:txBody>
          <a:bodyPr/>
          <a:lstStyle/>
          <a:p>
            <a:r>
              <a:rPr lang="en-US" kern="0"/>
              <a:t>Source</a:t>
            </a:r>
            <a:r>
              <a:rPr lang="en-US"/>
              <a:t>: https://www.linkedin.com/posts/jeremypaulwaite_think-activity-7121412507239337984-UzSG</a:t>
            </a:r>
            <a:endParaRPr lang="en-US" dirty="0"/>
          </a:p>
        </p:txBody>
      </p:sp>
      <p:sp>
        <p:nvSpPr>
          <p:cNvPr id="5" name="TextBox 4">
            <a:extLst>
              <a:ext uri="{FF2B5EF4-FFF2-40B4-BE49-F238E27FC236}">
                <a16:creationId xmlns:a16="http://schemas.microsoft.com/office/drawing/2014/main" id="{D5C54E18-6222-5586-00F5-59943BB6CF74}"/>
              </a:ext>
            </a:extLst>
          </p:cNvPr>
          <p:cNvSpPr txBox="1"/>
          <p:nvPr/>
        </p:nvSpPr>
        <p:spPr>
          <a:xfrm>
            <a:off x="1442720" y="268224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a:solidFill>
                <a:srgbClr val="000000"/>
              </a:solidFill>
              <a:ea typeface="+mj-ea"/>
              <a:cs typeface="+mj-cs"/>
              <a:sym typeface="IBM Plex Sans Light"/>
            </a:endParaRPr>
          </a:p>
        </p:txBody>
      </p:sp>
      <p:cxnSp>
        <p:nvCxnSpPr>
          <p:cNvPr id="16" name="Straight Connector 15">
            <a:extLst>
              <a:ext uri="{FF2B5EF4-FFF2-40B4-BE49-F238E27FC236}">
                <a16:creationId xmlns:a16="http://schemas.microsoft.com/office/drawing/2014/main" id="{A3F9A1B9-AC90-F2C6-D7B6-82D2163A80B3}"/>
              </a:ext>
            </a:extLst>
          </p:cNvPr>
          <p:cNvCxnSpPr>
            <a:cxnSpLocks/>
          </p:cNvCxnSpPr>
          <p:nvPr/>
        </p:nvCxnSpPr>
        <p:spPr bwMode="auto">
          <a:xfrm>
            <a:off x="716676" y="6858000"/>
            <a:ext cx="14452519" cy="0"/>
          </a:xfrm>
          <a:prstGeom prst="line">
            <a:avLst/>
          </a:prstGeom>
          <a:ln w="508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1" name="Left Bracket 30">
            <a:extLst>
              <a:ext uri="{FF2B5EF4-FFF2-40B4-BE49-F238E27FC236}">
                <a16:creationId xmlns:a16="http://schemas.microsoft.com/office/drawing/2014/main" id="{7880CDCA-7668-1EC1-2A59-2CFD592C3FB3}"/>
              </a:ext>
            </a:extLst>
          </p:cNvPr>
          <p:cNvSpPr/>
          <p:nvPr/>
        </p:nvSpPr>
        <p:spPr bwMode="auto">
          <a:xfrm rot="5400000">
            <a:off x="3633760" y="1716536"/>
            <a:ext cx="374345" cy="5434520"/>
          </a:xfrm>
          <a:prstGeom prst="leftBracket">
            <a:avLst/>
          </a:prstGeom>
          <a:ln w="25400">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3A380AF4-1D73-E90E-C2F5-A47D48D4FB16}"/>
              </a:ext>
            </a:extLst>
          </p:cNvPr>
          <p:cNvSpPr txBox="1"/>
          <p:nvPr/>
        </p:nvSpPr>
        <p:spPr>
          <a:xfrm>
            <a:off x="1189134" y="3779523"/>
            <a:ext cx="5205154" cy="6160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spcBef>
                <a:spcPts val="2900"/>
              </a:spcBef>
              <a:buSzPct val="100000"/>
            </a:pPr>
            <a:r>
              <a:rPr lang="en-US" sz="2800" kern="0">
                <a:solidFill>
                  <a:schemeClr val="tx1">
                    <a:lumMod val="50000"/>
                    <a:lumOff val="50000"/>
                  </a:schemeClr>
                </a:solidFill>
                <a:ea typeface="+mj-ea"/>
                <a:cs typeface="+mj-cs"/>
                <a:sym typeface="IBM Plex Sans Light"/>
              </a:rPr>
              <a:t>Software &amp; AI Era</a:t>
            </a:r>
            <a:endParaRPr lang="en-US" sz="2000" kern="0">
              <a:solidFill>
                <a:schemeClr val="tx1">
                  <a:lumMod val="50000"/>
                  <a:lumOff val="50000"/>
                </a:schemeClr>
              </a:solidFill>
              <a:ea typeface="+mj-ea"/>
              <a:cs typeface="+mj-cs"/>
              <a:sym typeface="IBM Plex Sans Light"/>
            </a:endParaRPr>
          </a:p>
        </p:txBody>
      </p:sp>
      <p:sp>
        <p:nvSpPr>
          <p:cNvPr id="33" name="Left Bracket 32">
            <a:extLst>
              <a:ext uri="{FF2B5EF4-FFF2-40B4-BE49-F238E27FC236}">
                <a16:creationId xmlns:a16="http://schemas.microsoft.com/office/drawing/2014/main" id="{9BD62925-A6A9-D80D-82CA-CFFE0C67B2E7}"/>
              </a:ext>
            </a:extLst>
          </p:cNvPr>
          <p:cNvSpPr/>
          <p:nvPr/>
        </p:nvSpPr>
        <p:spPr bwMode="auto">
          <a:xfrm rot="5400000">
            <a:off x="10061700" y="2539508"/>
            <a:ext cx="345781" cy="6165647"/>
          </a:xfrm>
          <a:prstGeom prst="leftBracket">
            <a:avLst/>
          </a:prstGeom>
          <a:ln w="25400">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a:extLst>
              <a:ext uri="{FF2B5EF4-FFF2-40B4-BE49-F238E27FC236}">
                <a16:creationId xmlns:a16="http://schemas.microsoft.com/office/drawing/2014/main" id="{46656995-339B-1E0D-EF39-ED5B33F80C61}"/>
              </a:ext>
            </a:extLst>
          </p:cNvPr>
          <p:cNvSpPr txBox="1"/>
          <p:nvPr/>
        </p:nvSpPr>
        <p:spPr>
          <a:xfrm>
            <a:off x="7254735" y="4768569"/>
            <a:ext cx="6062679" cy="6160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spcBef>
                <a:spcPts val="2900"/>
              </a:spcBef>
              <a:buSzPct val="100000"/>
            </a:pPr>
            <a:r>
              <a:rPr lang="en-US" sz="2800" kern="0">
                <a:solidFill>
                  <a:schemeClr val="tx1">
                    <a:lumMod val="50000"/>
                    <a:lumOff val="50000"/>
                  </a:schemeClr>
                </a:solidFill>
                <a:ea typeface="+mj-ea"/>
                <a:cs typeface="+mj-cs"/>
              </a:rPr>
              <a:t>Hybrid Cloud, AI &amp; Quantum </a:t>
            </a:r>
            <a:r>
              <a:rPr lang="en-US" sz="2800" kern="0">
                <a:solidFill>
                  <a:schemeClr val="tx1">
                    <a:lumMod val="50000"/>
                    <a:lumOff val="50000"/>
                  </a:schemeClr>
                </a:solidFill>
                <a:ea typeface="+mj-ea"/>
                <a:cs typeface="+mj-cs"/>
                <a:sym typeface="IBM Plex Sans Light"/>
              </a:rPr>
              <a:t> Era</a:t>
            </a:r>
            <a:endParaRPr lang="en-US" sz="2000" kern="0">
              <a:solidFill>
                <a:schemeClr val="tx1">
                  <a:lumMod val="50000"/>
                  <a:lumOff val="50000"/>
                </a:schemeClr>
              </a:solidFill>
              <a:ea typeface="+mj-ea"/>
              <a:cs typeface="+mj-cs"/>
              <a:sym typeface="IBM Plex Sans Light"/>
            </a:endParaRPr>
          </a:p>
        </p:txBody>
      </p:sp>
      <p:sp>
        <p:nvSpPr>
          <p:cNvPr id="6" name="TextBox 5">
            <a:extLst>
              <a:ext uri="{FF2B5EF4-FFF2-40B4-BE49-F238E27FC236}">
                <a16:creationId xmlns:a16="http://schemas.microsoft.com/office/drawing/2014/main" id="{6C9CDA0D-1592-A2DA-D650-D2129B50CE10}"/>
              </a:ext>
            </a:extLst>
          </p:cNvPr>
          <p:cNvSpPr txBox="1"/>
          <p:nvPr/>
        </p:nvSpPr>
        <p:spPr>
          <a:xfrm>
            <a:off x="1232979" y="4721224"/>
            <a:ext cx="5434521" cy="17936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l" defTabSz="2438400">
              <a:spcBef>
                <a:spcPts val="2900"/>
              </a:spcBef>
              <a:buSzPct val="100000"/>
            </a:pPr>
            <a:r>
              <a:rPr lang="en-US" sz="2800" kern="0">
                <a:solidFill>
                  <a:srgbClr val="000000"/>
                </a:solidFill>
                <a:ea typeface="+mj-ea"/>
                <a:cs typeface="+mj-cs"/>
                <a:sym typeface="IBM Plex Sans Light"/>
              </a:rPr>
              <a:t>2011- 2018 AI</a:t>
            </a:r>
          </a:p>
          <a:p>
            <a:pPr defTabSz="2438400">
              <a:spcBef>
                <a:spcPts val="500"/>
              </a:spcBef>
              <a:buSzPct val="100000"/>
            </a:pPr>
            <a:r>
              <a:rPr lang="en-US" sz="2000" kern="0">
                <a:solidFill>
                  <a:schemeClr val="tx1">
                    <a:lumMod val="50000"/>
                    <a:lumOff val="50000"/>
                  </a:schemeClr>
                </a:solidFill>
                <a:ea typeface="+mj-ea"/>
                <a:cs typeface="+mj-cs"/>
                <a:sym typeface="IBM Plex Sans Light"/>
              </a:rPr>
              <a:t>Watson gained global attention after winning </a:t>
            </a:r>
            <a:r>
              <a:rPr lang="en-US" sz="2000" kern="0">
                <a:solidFill>
                  <a:schemeClr val="tx1">
                    <a:lumMod val="50000"/>
                    <a:lumOff val="50000"/>
                  </a:schemeClr>
                </a:solidFill>
                <a:ea typeface="+mj-ea"/>
                <a:cs typeface="+mj-cs"/>
              </a:rPr>
              <a:t>Jeopardy! in 2011. However, faced competition from AWS, Microsoft Azure and Google Cloud. Shifted toward enterprise AI, analytics &amp; software platforms.</a:t>
            </a:r>
            <a:endParaRPr lang="en-US" sz="2000" kern="0">
              <a:solidFill>
                <a:schemeClr val="tx1">
                  <a:lumMod val="50000"/>
                  <a:lumOff val="50000"/>
                </a:schemeClr>
              </a:solidFill>
              <a:ea typeface="+mj-ea"/>
              <a:cs typeface="+mj-cs"/>
              <a:sym typeface="IBM Plex Sans Light"/>
            </a:endParaRPr>
          </a:p>
        </p:txBody>
      </p:sp>
      <p:cxnSp>
        <p:nvCxnSpPr>
          <p:cNvPr id="7" name="Straight Connector 6">
            <a:extLst>
              <a:ext uri="{FF2B5EF4-FFF2-40B4-BE49-F238E27FC236}">
                <a16:creationId xmlns:a16="http://schemas.microsoft.com/office/drawing/2014/main" id="{158181CD-1A08-6BAE-EBBC-49B7963778AA}"/>
              </a:ext>
            </a:extLst>
          </p:cNvPr>
          <p:cNvCxnSpPr/>
          <p:nvPr/>
        </p:nvCxnSpPr>
        <p:spPr bwMode="auto">
          <a:xfrm flipV="1">
            <a:off x="7236261" y="6858000"/>
            <a:ext cx="0" cy="1031631"/>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BF5D925-841E-F9F6-5756-031CD48FAA90}"/>
              </a:ext>
            </a:extLst>
          </p:cNvPr>
          <p:cNvSpPr txBox="1"/>
          <p:nvPr/>
        </p:nvSpPr>
        <p:spPr>
          <a:xfrm>
            <a:off x="6394288" y="8064467"/>
            <a:ext cx="2823693" cy="17936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2800" kern="0">
                <a:solidFill>
                  <a:srgbClr val="000000"/>
                </a:solidFill>
                <a:ea typeface="+mj-ea"/>
                <a:cs typeface="+mj-cs"/>
                <a:sym typeface="IBM Plex Sans Light"/>
              </a:rPr>
              <a:t>2019- Red Hat acquisition </a:t>
            </a:r>
          </a:p>
          <a:p>
            <a:pPr defTabSz="2438400">
              <a:spcBef>
                <a:spcPts val="500"/>
              </a:spcBef>
              <a:buSzPct val="100000"/>
            </a:pPr>
            <a:r>
              <a:rPr lang="en-US" sz="2000" kern="0">
                <a:solidFill>
                  <a:schemeClr val="tx1">
                    <a:lumMod val="50000"/>
                    <a:lumOff val="50000"/>
                  </a:schemeClr>
                </a:solidFill>
                <a:ea typeface="+mj-ea"/>
                <a:cs typeface="+mj-cs"/>
              </a:rPr>
              <a:t>Helped IBM dominate hybrid cloud</a:t>
            </a:r>
            <a:endParaRPr lang="en-US" sz="2000" kern="0">
              <a:solidFill>
                <a:schemeClr val="tx1">
                  <a:lumMod val="50000"/>
                  <a:lumOff val="50000"/>
                </a:schemeClr>
              </a:solidFill>
              <a:ea typeface="+mj-ea"/>
              <a:cs typeface="+mj-cs"/>
              <a:sym typeface="IBM Plex Sans Light"/>
            </a:endParaRPr>
          </a:p>
        </p:txBody>
      </p:sp>
      <p:cxnSp>
        <p:nvCxnSpPr>
          <p:cNvPr id="9" name="Straight Connector 8">
            <a:extLst>
              <a:ext uri="{FF2B5EF4-FFF2-40B4-BE49-F238E27FC236}">
                <a16:creationId xmlns:a16="http://schemas.microsoft.com/office/drawing/2014/main" id="{DF7615B3-B410-727B-91E0-4A6827B17522}"/>
              </a:ext>
            </a:extLst>
          </p:cNvPr>
          <p:cNvCxnSpPr/>
          <p:nvPr/>
        </p:nvCxnSpPr>
        <p:spPr bwMode="auto">
          <a:xfrm flipV="1">
            <a:off x="9944292" y="6858000"/>
            <a:ext cx="0" cy="1031631"/>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FAAFD73-F25E-D620-CDAE-C1BBCA5ACB50}"/>
              </a:ext>
            </a:extLst>
          </p:cNvPr>
          <p:cNvSpPr txBox="1"/>
          <p:nvPr/>
        </p:nvSpPr>
        <p:spPr>
          <a:xfrm>
            <a:off x="9217981" y="8043313"/>
            <a:ext cx="2823693" cy="17936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2800" kern="0">
                <a:solidFill>
                  <a:srgbClr val="000000"/>
                </a:solidFill>
                <a:ea typeface="+mj-ea"/>
                <a:cs typeface="+mj-cs"/>
                <a:sym typeface="IBM Plex Sans Light"/>
              </a:rPr>
              <a:t>2023- Watsonx</a:t>
            </a:r>
          </a:p>
          <a:p>
            <a:pPr defTabSz="2438400">
              <a:spcBef>
                <a:spcPts val="500"/>
              </a:spcBef>
              <a:buSzPct val="100000"/>
            </a:pPr>
            <a:r>
              <a:rPr lang="en-US" sz="2000" kern="0">
                <a:solidFill>
                  <a:schemeClr val="tx1">
                    <a:lumMod val="50000"/>
                    <a:lumOff val="50000"/>
                  </a:schemeClr>
                </a:solidFill>
                <a:ea typeface="+mj-ea"/>
                <a:cs typeface="+mj-cs"/>
              </a:rPr>
              <a:t>Generative AI tools like ChatGPT, but focused on companies, security, and business data.</a:t>
            </a:r>
            <a:endParaRPr lang="en-US" sz="2000" kern="0">
              <a:solidFill>
                <a:schemeClr val="tx1">
                  <a:lumMod val="50000"/>
                  <a:lumOff val="50000"/>
                </a:schemeClr>
              </a:solidFill>
              <a:ea typeface="+mj-ea"/>
              <a:cs typeface="+mj-cs"/>
              <a:sym typeface="IBM Plex Sans Light"/>
            </a:endParaRPr>
          </a:p>
        </p:txBody>
      </p:sp>
      <p:sp>
        <p:nvSpPr>
          <p:cNvPr id="12" name="TextBox 11">
            <a:extLst>
              <a:ext uri="{FF2B5EF4-FFF2-40B4-BE49-F238E27FC236}">
                <a16:creationId xmlns:a16="http://schemas.microsoft.com/office/drawing/2014/main" id="{36949A45-3CC1-8377-472C-78B6D02D9927}"/>
              </a:ext>
            </a:extLst>
          </p:cNvPr>
          <p:cNvSpPr txBox="1"/>
          <p:nvPr/>
        </p:nvSpPr>
        <p:spPr>
          <a:xfrm>
            <a:off x="15653462" y="5649855"/>
            <a:ext cx="9581118" cy="175432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en-US"/>
              <a:t>IBM survived for more than 100 years because it repeatedly reinvented itself whenever technology changed.</a:t>
            </a:r>
          </a:p>
        </p:txBody>
      </p:sp>
      <p:sp>
        <p:nvSpPr>
          <p:cNvPr id="13" name="TextBox 12">
            <a:extLst>
              <a:ext uri="{FF2B5EF4-FFF2-40B4-BE49-F238E27FC236}">
                <a16:creationId xmlns:a16="http://schemas.microsoft.com/office/drawing/2014/main" id="{EBD72BB1-5716-166B-F6A7-6FC9A1E71A03}"/>
              </a:ext>
            </a:extLst>
          </p:cNvPr>
          <p:cNvSpPr txBox="1"/>
          <p:nvPr/>
        </p:nvSpPr>
        <p:spPr>
          <a:xfrm>
            <a:off x="7151767" y="5953881"/>
            <a:ext cx="6165643" cy="5609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spcBef>
                <a:spcPts val="2900"/>
              </a:spcBef>
              <a:buSzPct val="100000"/>
            </a:pPr>
            <a:r>
              <a:rPr lang="en-US" sz="2800" kern="0">
                <a:solidFill>
                  <a:srgbClr val="000000"/>
                </a:solidFill>
                <a:ea typeface="+mj-ea"/>
                <a:cs typeface="+mj-cs"/>
                <a:sym typeface="IBM Plex Sans Light"/>
              </a:rPr>
              <a:t>2019- Present</a:t>
            </a:r>
          </a:p>
          <a:p>
            <a:pPr defTabSz="2438400">
              <a:spcBef>
                <a:spcPts val="500"/>
              </a:spcBef>
              <a:buSzPct val="100000"/>
            </a:pPr>
            <a:endParaRPr lang="en-US" sz="2000" kern="0">
              <a:solidFill>
                <a:schemeClr val="tx1">
                  <a:lumMod val="50000"/>
                  <a:lumOff val="50000"/>
                </a:schemeClr>
              </a:solidFill>
              <a:ea typeface="+mj-ea"/>
              <a:cs typeface="+mj-cs"/>
              <a:sym typeface="IBM Plex Sans Light"/>
            </a:endParaRPr>
          </a:p>
        </p:txBody>
      </p:sp>
      <p:sp>
        <p:nvSpPr>
          <p:cNvPr id="15" name="TextBox 14">
            <a:extLst>
              <a:ext uri="{FF2B5EF4-FFF2-40B4-BE49-F238E27FC236}">
                <a16:creationId xmlns:a16="http://schemas.microsoft.com/office/drawing/2014/main" id="{36831FA5-0A7A-7F43-A004-B396702104A3}"/>
              </a:ext>
            </a:extLst>
          </p:cNvPr>
          <p:cNvSpPr txBox="1"/>
          <p:nvPr/>
        </p:nvSpPr>
        <p:spPr>
          <a:xfrm>
            <a:off x="9636369" y="5369169"/>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cxnSp>
        <p:nvCxnSpPr>
          <p:cNvPr id="17" name="Straight Connector 16">
            <a:extLst>
              <a:ext uri="{FF2B5EF4-FFF2-40B4-BE49-F238E27FC236}">
                <a16:creationId xmlns:a16="http://schemas.microsoft.com/office/drawing/2014/main" id="{01E346F3-FCF4-BEC9-C0E3-0775561D1B3D}"/>
              </a:ext>
            </a:extLst>
          </p:cNvPr>
          <p:cNvCxnSpPr/>
          <p:nvPr/>
        </p:nvCxnSpPr>
        <p:spPr bwMode="auto">
          <a:xfrm flipV="1">
            <a:off x="13071813" y="6879154"/>
            <a:ext cx="0" cy="1031631"/>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02B79AF-8AA6-D119-BC09-FBA849EB1C11}"/>
              </a:ext>
            </a:extLst>
          </p:cNvPr>
          <p:cNvSpPr txBox="1"/>
          <p:nvPr/>
        </p:nvSpPr>
        <p:spPr>
          <a:xfrm>
            <a:off x="12345502" y="8064467"/>
            <a:ext cx="2823693" cy="17936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2800" kern="0">
                <a:solidFill>
                  <a:srgbClr val="000000"/>
                </a:solidFill>
                <a:ea typeface="+mj-ea"/>
                <a:cs typeface="+mj-cs"/>
                <a:sym typeface="IBM Plex Sans Light"/>
              </a:rPr>
              <a:t>Now</a:t>
            </a:r>
          </a:p>
          <a:p>
            <a:pPr defTabSz="2438400">
              <a:spcBef>
                <a:spcPts val="500"/>
              </a:spcBef>
              <a:buSzPct val="100000"/>
            </a:pPr>
            <a:r>
              <a:rPr lang="en-US" sz="2000">
                <a:solidFill>
                  <a:schemeClr val="tx1">
                    <a:lumMod val="50000"/>
                    <a:lumOff val="50000"/>
                  </a:schemeClr>
                </a:solidFill>
              </a:rPr>
              <a:t>Research with Quantum Computing through cloud. </a:t>
            </a:r>
            <a:endParaRPr lang="en-US" sz="2000" kern="0">
              <a:solidFill>
                <a:schemeClr val="tx1">
                  <a:lumMod val="50000"/>
                  <a:lumOff val="50000"/>
                </a:schemeClr>
              </a:solidFill>
              <a:ea typeface="+mj-ea"/>
              <a:cs typeface="+mj-cs"/>
              <a:sym typeface="IBM Plex Sans Light"/>
            </a:endParaRPr>
          </a:p>
        </p:txBody>
      </p:sp>
    </p:spTree>
    <p:extLst>
      <p:ext uri="{BB962C8B-B14F-4D97-AF65-F5344CB8AC3E}">
        <p14:creationId xmlns:p14="http://schemas.microsoft.com/office/powerpoint/2010/main" val="349775147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738CC-3118-1EAD-4DE6-F54AC9BF84E5}"/>
              </a:ext>
            </a:extLst>
          </p:cNvPr>
          <p:cNvSpPr>
            <a:spLocks noGrp="1"/>
          </p:cNvSpPr>
          <p:nvPr>
            <p:ph type="title"/>
          </p:nvPr>
        </p:nvSpPr>
        <p:spPr>
          <a:xfrm>
            <a:off x="576000" y="311150"/>
            <a:ext cx="10101072" cy="10356850"/>
          </a:xfrm>
        </p:spPr>
        <p:txBody>
          <a:bodyPr/>
          <a:lstStyle/>
          <a:p>
            <a:r>
              <a:rPr lang="en-US"/>
              <a:t>What IBM Actually is Today</a:t>
            </a:r>
            <a:br>
              <a:rPr lang="en-US" dirty="0"/>
            </a:br>
            <a:br>
              <a:rPr lang="en-US" sz="2800"/>
            </a:br>
            <a:endParaRPr lang="en-US" dirty="0"/>
          </a:p>
        </p:txBody>
      </p:sp>
      <p:graphicFrame>
        <p:nvGraphicFramePr>
          <p:cNvPr id="3" name="Table 2">
            <a:extLst>
              <a:ext uri="{FF2B5EF4-FFF2-40B4-BE49-F238E27FC236}">
                <a16:creationId xmlns:a16="http://schemas.microsoft.com/office/drawing/2014/main" id="{02915C6E-A5D4-0654-B9FD-BB62E4A90E3A}"/>
              </a:ext>
            </a:extLst>
          </p:cNvPr>
          <p:cNvGraphicFramePr>
            <a:graphicFrameLocks noGrp="1"/>
          </p:cNvGraphicFramePr>
          <p:nvPr>
            <p:extLst>
              <p:ext uri="{D42A27DB-BD31-4B8C-83A1-F6EECF244321}">
                <p14:modId xmlns:p14="http://schemas.microsoft.com/office/powerpoint/2010/main" val="2532558127"/>
              </p:ext>
            </p:extLst>
          </p:nvPr>
        </p:nvGraphicFramePr>
        <p:xfrm>
          <a:off x="2053125" y="3493477"/>
          <a:ext cx="20280924" cy="7502766"/>
        </p:xfrm>
        <a:graphic>
          <a:graphicData uri="http://schemas.openxmlformats.org/drawingml/2006/table">
            <a:tbl>
              <a:tblPr firstRow="1" bandRow="1">
                <a:tableStyleId>{BC89EF96-8CEA-46FF-86C4-4CE0E7609802}</a:tableStyleId>
              </a:tblPr>
              <a:tblGrid>
                <a:gridCol w="10140462">
                  <a:extLst>
                    <a:ext uri="{9D8B030D-6E8A-4147-A177-3AD203B41FA5}">
                      <a16:colId xmlns:a16="http://schemas.microsoft.com/office/drawing/2014/main" val="318097263"/>
                    </a:ext>
                  </a:extLst>
                </a:gridCol>
                <a:gridCol w="10140462">
                  <a:extLst>
                    <a:ext uri="{9D8B030D-6E8A-4147-A177-3AD203B41FA5}">
                      <a16:colId xmlns:a16="http://schemas.microsoft.com/office/drawing/2014/main" val="554452936"/>
                    </a:ext>
                  </a:extLst>
                </a:gridCol>
              </a:tblGrid>
              <a:tr h="1250461">
                <a:tc>
                  <a:txBody>
                    <a:bodyPr/>
                    <a:lstStyle/>
                    <a:p>
                      <a:pPr algn="ctr">
                        <a:lnSpc>
                          <a:spcPct val="200000"/>
                        </a:lnSpc>
                      </a:pPr>
                      <a:r>
                        <a:rPr lang="en-US" sz="3200"/>
                        <a:t>Business Area</a:t>
                      </a:r>
                    </a:p>
                  </a:txBody>
                  <a:tcPr/>
                </a:tc>
                <a:tc>
                  <a:txBody>
                    <a:bodyPr/>
                    <a:lstStyle/>
                    <a:p>
                      <a:pPr algn="ctr">
                        <a:lnSpc>
                          <a:spcPct val="200000"/>
                        </a:lnSpc>
                      </a:pPr>
                      <a:r>
                        <a:rPr lang="en-US" sz="3200" b="1" i="0" u="none" strike="noStrike" cap="none" spc="0" baseline="0">
                          <a:solidFill>
                            <a:schemeClr val="tx1"/>
                          </a:solidFill>
                          <a:uFillTx/>
                          <a:latin typeface="+mn-lt"/>
                          <a:ea typeface="+mn-ea"/>
                          <a:cs typeface="+mn-cs"/>
                          <a:sym typeface="IBM Plex Sans"/>
                        </a:rPr>
                        <a:t>Focus </a:t>
                      </a:r>
                    </a:p>
                  </a:txBody>
                  <a:tcPr/>
                </a:tc>
                <a:extLst>
                  <a:ext uri="{0D108BD9-81ED-4DB2-BD59-A6C34878D82A}">
                    <a16:rowId xmlns:a16="http://schemas.microsoft.com/office/drawing/2014/main" val="1976338074"/>
                  </a:ext>
                </a:extLst>
              </a:tr>
              <a:tr h="1250461">
                <a:tc>
                  <a:txBody>
                    <a:bodyPr/>
                    <a:lstStyle/>
                    <a:p>
                      <a:pPr algn="ctr">
                        <a:lnSpc>
                          <a:spcPct val="200000"/>
                        </a:lnSpc>
                      </a:pPr>
                      <a:r>
                        <a:rPr lang="en-US" sz="3200"/>
                        <a:t>Software</a:t>
                      </a:r>
                    </a:p>
                  </a:txBody>
                  <a:tcPr/>
                </a:tc>
                <a:tc>
                  <a:txBody>
                    <a:bodyPr/>
                    <a:lstStyle/>
                    <a:p>
                      <a:pPr algn="ctr">
                        <a:lnSpc>
                          <a:spcPct val="200000"/>
                        </a:lnSpc>
                      </a:pPr>
                      <a:r>
                        <a:rPr lang="en-US" sz="3200"/>
                        <a:t>AI, automation, data platforms</a:t>
                      </a:r>
                    </a:p>
                  </a:txBody>
                  <a:tcPr/>
                </a:tc>
                <a:extLst>
                  <a:ext uri="{0D108BD9-81ED-4DB2-BD59-A6C34878D82A}">
                    <a16:rowId xmlns:a16="http://schemas.microsoft.com/office/drawing/2014/main" val="2322991838"/>
                  </a:ext>
                </a:extLst>
              </a:tr>
              <a:tr h="1250461">
                <a:tc>
                  <a:txBody>
                    <a:bodyPr/>
                    <a:lstStyle/>
                    <a:p>
                      <a:pPr algn="ctr">
                        <a:lnSpc>
                          <a:spcPct val="200000"/>
                        </a:lnSpc>
                      </a:pPr>
                      <a:r>
                        <a:rPr lang="en-US" sz="3200"/>
                        <a:t>Consulting</a:t>
                      </a:r>
                    </a:p>
                  </a:txBody>
                  <a:tcPr/>
                </a:tc>
                <a:tc>
                  <a:txBody>
                    <a:bodyPr/>
                    <a:lstStyle/>
                    <a:p>
                      <a:pPr algn="ctr">
                        <a:lnSpc>
                          <a:spcPct val="200000"/>
                        </a:lnSpc>
                      </a:pPr>
                      <a:r>
                        <a:rPr lang="en-US" sz="3200"/>
                        <a:t>Helping companies transform with AI/cloud</a:t>
                      </a:r>
                    </a:p>
                  </a:txBody>
                  <a:tcPr/>
                </a:tc>
                <a:extLst>
                  <a:ext uri="{0D108BD9-81ED-4DB2-BD59-A6C34878D82A}">
                    <a16:rowId xmlns:a16="http://schemas.microsoft.com/office/drawing/2014/main" val="717606345"/>
                  </a:ext>
                </a:extLst>
              </a:tr>
              <a:tr h="1250461">
                <a:tc>
                  <a:txBody>
                    <a:bodyPr/>
                    <a:lstStyle/>
                    <a:p>
                      <a:pPr algn="ctr">
                        <a:lnSpc>
                          <a:spcPct val="200000"/>
                        </a:lnSpc>
                      </a:pPr>
                      <a:r>
                        <a:rPr lang="en-US" sz="3200"/>
                        <a:t>Infrastructure </a:t>
                      </a:r>
                    </a:p>
                  </a:txBody>
                  <a:tcPr/>
                </a:tc>
                <a:tc>
                  <a:txBody>
                    <a:bodyPr/>
                    <a:lstStyle/>
                    <a:p>
                      <a:pPr algn="ctr">
                        <a:lnSpc>
                          <a:spcPct val="200000"/>
                        </a:lnSpc>
                      </a:pPr>
                      <a:r>
                        <a:rPr lang="en-US" sz="3200"/>
                        <a:t>Servers, mainframes, enterprise systems</a:t>
                      </a:r>
                    </a:p>
                  </a:txBody>
                  <a:tcPr/>
                </a:tc>
                <a:extLst>
                  <a:ext uri="{0D108BD9-81ED-4DB2-BD59-A6C34878D82A}">
                    <a16:rowId xmlns:a16="http://schemas.microsoft.com/office/drawing/2014/main" val="800765567"/>
                  </a:ext>
                </a:extLst>
              </a:tr>
              <a:tr h="1250461">
                <a:tc>
                  <a:txBody>
                    <a:bodyPr/>
                    <a:lstStyle/>
                    <a:p>
                      <a:pPr algn="ctr">
                        <a:lnSpc>
                          <a:spcPct val="200000"/>
                        </a:lnSpc>
                      </a:pPr>
                      <a:r>
                        <a:rPr lang="en-US" sz="3200"/>
                        <a:t>Hybrid Cloud</a:t>
                      </a:r>
                    </a:p>
                  </a:txBody>
                  <a:tcPr/>
                </a:tc>
                <a:tc>
                  <a:txBody>
                    <a:bodyPr/>
                    <a:lstStyle/>
                    <a:p>
                      <a:pPr algn="ctr">
                        <a:lnSpc>
                          <a:spcPct val="200000"/>
                        </a:lnSpc>
                      </a:pPr>
                      <a:r>
                        <a:rPr lang="en-US" sz="3200"/>
                        <a:t>Managing systems across clouds</a:t>
                      </a:r>
                    </a:p>
                  </a:txBody>
                  <a:tcPr/>
                </a:tc>
                <a:extLst>
                  <a:ext uri="{0D108BD9-81ED-4DB2-BD59-A6C34878D82A}">
                    <a16:rowId xmlns:a16="http://schemas.microsoft.com/office/drawing/2014/main" val="1520853587"/>
                  </a:ext>
                </a:extLst>
              </a:tr>
              <a:tr h="1250461">
                <a:tc>
                  <a:txBody>
                    <a:bodyPr/>
                    <a:lstStyle/>
                    <a:p>
                      <a:pPr algn="ctr">
                        <a:lnSpc>
                          <a:spcPct val="200000"/>
                        </a:lnSpc>
                      </a:pPr>
                      <a:r>
                        <a:rPr lang="en-US" sz="3200"/>
                        <a:t>Quantum Computing</a:t>
                      </a:r>
                    </a:p>
                  </a:txBody>
                  <a:tcPr/>
                </a:tc>
                <a:tc>
                  <a:txBody>
                    <a:bodyPr/>
                    <a:lstStyle/>
                    <a:p>
                      <a:pPr algn="ctr">
                        <a:lnSpc>
                          <a:spcPct val="200000"/>
                        </a:lnSpc>
                      </a:pPr>
                      <a:r>
                        <a:rPr lang="en-US" sz="3200"/>
                        <a:t>Future computing research</a:t>
                      </a:r>
                    </a:p>
                  </a:txBody>
                  <a:tcPr/>
                </a:tc>
                <a:extLst>
                  <a:ext uri="{0D108BD9-81ED-4DB2-BD59-A6C34878D82A}">
                    <a16:rowId xmlns:a16="http://schemas.microsoft.com/office/drawing/2014/main" val="1798925643"/>
                  </a:ext>
                </a:extLst>
              </a:tr>
            </a:tbl>
          </a:graphicData>
        </a:graphic>
      </p:graphicFrame>
    </p:spTree>
    <p:extLst>
      <p:ext uri="{BB962C8B-B14F-4D97-AF65-F5344CB8AC3E}">
        <p14:creationId xmlns:p14="http://schemas.microsoft.com/office/powerpoint/2010/main" val="323315734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F5EAE4-1CD3-1AB3-0738-4CE54C430F31}"/>
              </a:ext>
            </a:extLst>
          </p:cNvPr>
          <p:cNvSpPr>
            <a:spLocks noGrp="1"/>
          </p:cNvSpPr>
          <p:nvPr>
            <p:ph type="title"/>
          </p:nvPr>
        </p:nvSpPr>
        <p:spPr>
          <a:xfrm>
            <a:off x="576000" y="384048"/>
            <a:ext cx="4949825" cy="4210177"/>
          </a:xfrm>
        </p:spPr>
        <p:txBody>
          <a:bodyPr>
            <a:normAutofit/>
          </a:bodyPr>
          <a:lstStyle/>
          <a:p>
            <a:r>
              <a:rPr lang="en-US"/>
              <a:t>About Watsonx</a:t>
            </a:r>
            <a:endParaRPr lang="en-US" dirty="0"/>
          </a:p>
        </p:txBody>
      </p:sp>
      <p:sp>
        <p:nvSpPr>
          <p:cNvPr id="3" name="Text Placeholder 2">
            <a:extLst>
              <a:ext uri="{FF2B5EF4-FFF2-40B4-BE49-F238E27FC236}">
                <a16:creationId xmlns:a16="http://schemas.microsoft.com/office/drawing/2014/main" id="{C2199FB5-6F03-023D-EBCC-BBF509A8C3FE}"/>
              </a:ext>
            </a:extLst>
          </p:cNvPr>
          <p:cNvSpPr>
            <a:spLocks noGrp="1"/>
          </p:cNvSpPr>
          <p:nvPr>
            <p:ph type="body" sz="quarter" idx="15"/>
          </p:nvPr>
        </p:nvSpPr>
        <p:spPr>
          <a:xfrm>
            <a:off x="7120730" y="4633712"/>
            <a:ext cx="3743066" cy="3110583"/>
          </a:xfrm>
        </p:spPr>
        <p:txBody>
          <a:bodyPr>
            <a:normAutofit/>
          </a:bodyPr>
          <a:lstStyle/>
          <a:p>
            <a:pPr>
              <a:spcAft>
                <a:spcPts val="600"/>
              </a:spcAft>
            </a:pPr>
            <a:r>
              <a:rPr lang="en-US" sz="4800"/>
              <a:t>Watsonx.data</a:t>
            </a:r>
          </a:p>
        </p:txBody>
      </p:sp>
      <p:sp>
        <p:nvSpPr>
          <p:cNvPr id="10" name="Text Placeholder 3">
            <a:extLst>
              <a:ext uri="{FF2B5EF4-FFF2-40B4-BE49-F238E27FC236}">
                <a16:creationId xmlns:a16="http://schemas.microsoft.com/office/drawing/2014/main" id="{5B210985-D64F-D258-4833-E7EE89CD8DC4}"/>
              </a:ext>
            </a:extLst>
          </p:cNvPr>
          <p:cNvSpPr>
            <a:spLocks noGrp="1"/>
          </p:cNvSpPr>
          <p:nvPr>
            <p:ph type="body" sz="quarter" idx="12"/>
          </p:nvPr>
        </p:nvSpPr>
        <p:spPr>
          <a:xfrm>
            <a:off x="6677206" y="6364558"/>
            <a:ext cx="4951413" cy="9188588"/>
          </a:xfrm>
        </p:spPr>
        <p:txBody>
          <a:bodyPr/>
          <a:lstStyle/>
          <a:p>
            <a:r>
              <a:rPr lang="en-US"/>
              <a:t>Organize the company’s information</a:t>
            </a:r>
          </a:p>
          <a:p>
            <a:endParaRPr lang="en-US"/>
          </a:p>
          <a:p>
            <a:r>
              <a:rPr lang="en-US"/>
              <a:t>Watsonx.data helps collect and organize it so AI can use it</a:t>
            </a:r>
          </a:p>
        </p:txBody>
      </p:sp>
      <p:pic>
        <p:nvPicPr>
          <p:cNvPr id="2" name="Picture 1" descr="Document security, Black pictogram">
            <a:extLst>
              <a:ext uri="{FF2B5EF4-FFF2-40B4-BE49-F238E27FC236}">
                <a16:creationId xmlns:a16="http://schemas.microsoft.com/office/drawing/2014/main" id="{A569CE42-72C1-B4A1-09F7-8B551D7BA0C0}"/>
              </a:ext>
            </a:extLst>
          </p:cNvPr>
          <p:cNvPicPr>
            <a:picLocks noChangeAspect="1"/>
          </p:cNvPicPr>
          <p:nvPr/>
        </p:nvPicPr>
        <p:blipFill>
          <a:blip r:embed="rId3"/>
          <a:stretch/>
        </p:blipFill>
        <p:spPr>
          <a:xfrm>
            <a:off x="8491241" y="3313015"/>
            <a:ext cx="1214462" cy="1214462"/>
          </a:xfrm>
          <a:prstGeom prst="rect">
            <a:avLst/>
          </a:prstGeom>
          <a:noFill/>
        </p:spPr>
      </p:pic>
      <p:sp>
        <p:nvSpPr>
          <p:cNvPr id="12" name="Text Placeholder 5">
            <a:extLst>
              <a:ext uri="{FF2B5EF4-FFF2-40B4-BE49-F238E27FC236}">
                <a16:creationId xmlns:a16="http://schemas.microsoft.com/office/drawing/2014/main" id="{F9216AD0-2821-E6B5-A548-A4ED33AEADB8}"/>
              </a:ext>
            </a:extLst>
          </p:cNvPr>
          <p:cNvSpPr>
            <a:spLocks noGrp="1"/>
          </p:cNvSpPr>
          <p:nvPr>
            <p:ph type="body" sz="quarter" idx="13"/>
          </p:nvPr>
        </p:nvSpPr>
        <p:spPr>
          <a:xfrm>
            <a:off x="12780000" y="6364558"/>
            <a:ext cx="4953000" cy="5836966"/>
          </a:xfrm>
        </p:spPr>
        <p:txBody>
          <a:bodyPr/>
          <a:lstStyle/>
          <a:p>
            <a:r>
              <a:rPr lang="en-US" sz="2800">
                <a:latin typeface="IBM Plex Sans Light" panose="020B0403050203000203" pitchFamily="34" charset="0"/>
              </a:rPr>
              <a:t>The actual AI brain</a:t>
            </a:r>
          </a:p>
          <a:p>
            <a:endParaRPr lang="en-US" sz="2800">
              <a:latin typeface="IBM Plex Sans Light" panose="020B0403050203000203" pitchFamily="34" charset="0"/>
            </a:endParaRPr>
          </a:p>
          <a:p>
            <a:endParaRPr lang="en-US" sz="2800">
              <a:latin typeface="IBM Plex Sans Light" panose="020B0403050203000203" pitchFamily="34" charset="0"/>
            </a:endParaRPr>
          </a:p>
          <a:p>
            <a:r>
              <a:rPr lang="en-US" sz="2800">
                <a:latin typeface="IBM Plex Sans Light" panose="020B0403050203000203" pitchFamily="34" charset="0"/>
              </a:rPr>
              <a:t>AI searches company databases and creates a summary </a:t>
            </a:r>
          </a:p>
        </p:txBody>
      </p:sp>
      <p:sp>
        <p:nvSpPr>
          <p:cNvPr id="16" name="Text Placeholder 7">
            <a:extLst>
              <a:ext uri="{FF2B5EF4-FFF2-40B4-BE49-F238E27FC236}">
                <a16:creationId xmlns:a16="http://schemas.microsoft.com/office/drawing/2014/main" id="{26AB777D-6CB9-B2D8-70C6-151FA6878B6D}"/>
              </a:ext>
            </a:extLst>
          </p:cNvPr>
          <p:cNvSpPr>
            <a:spLocks noGrp="1"/>
          </p:cNvSpPr>
          <p:nvPr>
            <p:ph type="body" sz="quarter" idx="14"/>
          </p:nvPr>
        </p:nvSpPr>
        <p:spPr>
          <a:xfrm>
            <a:off x="18859500" y="6364558"/>
            <a:ext cx="4959350" cy="5343525"/>
          </a:xfrm>
        </p:spPr>
        <p:txBody>
          <a:bodyPr/>
          <a:lstStyle/>
          <a:p>
            <a:r>
              <a:rPr lang="en-US" sz="2800">
                <a:latin typeface="IBM Plex Sans Light" panose="020B0403050203000203" pitchFamily="34" charset="0"/>
              </a:rPr>
              <a:t>Makes sure AI is safe and compliant</a:t>
            </a:r>
          </a:p>
          <a:p>
            <a:endParaRPr lang="en-US" sz="2800">
              <a:latin typeface="IBM Plex Sans Light" panose="020B0403050203000203" pitchFamily="34" charset="0"/>
            </a:endParaRPr>
          </a:p>
          <a:p>
            <a:r>
              <a:rPr lang="en-US" sz="2800">
                <a:latin typeface="IBM Plex Sans Light" panose="020B0403050203000203" pitchFamily="34" charset="0"/>
              </a:rPr>
              <a:t>Monitors whether whether AI is biased whether data is secure whether regulations are followed</a:t>
            </a:r>
          </a:p>
        </p:txBody>
      </p:sp>
      <p:sp>
        <p:nvSpPr>
          <p:cNvPr id="18" name="Footer Placeholder 8">
            <a:extLst>
              <a:ext uri="{FF2B5EF4-FFF2-40B4-BE49-F238E27FC236}">
                <a16:creationId xmlns:a16="http://schemas.microsoft.com/office/drawing/2014/main" id="{FB525E7A-1E6E-DE72-FBB4-B0CFFD0CBE4D}"/>
              </a:ext>
            </a:extLst>
          </p:cNvPr>
          <p:cNvSpPr>
            <a:spLocks noGrp="1"/>
          </p:cNvSpPr>
          <p:nvPr>
            <p:ph type="ftr" sz="quarter" idx="18"/>
          </p:nvPr>
        </p:nvSpPr>
        <p:spPr>
          <a:xfrm>
            <a:off x="581024" y="12823285"/>
            <a:ext cx="4956176" cy="381000"/>
          </a:xfrm>
        </p:spPr>
        <p:txBody>
          <a:bodyPr/>
          <a:lstStyle/>
          <a:p>
            <a:r>
              <a:rPr lang="en-US">
                <a:hlinkClick r:id="rId4"/>
              </a:rPr>
              <a:t>https://www.ibm.com/products/watsonx?utm_source</a:t>
            </a:r>
            <a:endParaRPr lang="en-US"/>
          </a:p>
        </p:txBody>
      </p:sp>
      <p:sp>
        <p:nvSpPr>
          <p:cNvPr id="20" name="Slide Number Placeholder 9">
            <a:extLst>
              <a:ext uri="{FF2B5EF4-FFF2-40B4-BE49-F238E27FC236}">
                <a16:creationId xmlns:a16="http://schemas.microsoft.com/office/drawing/2014/main" id="{EC3F3DD2-1091-E33E-0186-296FB591799B}"/>
              </a:ext>
            </a:extLst>
          </p:cNvPr>
          <p:cNvSpPr>
            <a:spLocks noGrp="1"/>
          </p:cNvSpPr>
          <p:nvPr>
            <p:ph type="sldNum" sz="quarter" idx="4"/>
          </p:nvPr>
        </p:nvSpPr>
        <p:spPr>
          <a:xfrm>
            <a:off x="23541592" y="12951538"/>
            <a:ext cx="270908" cy="246221"/>
          </a:xfrm>
        </p:spPr>
        <p:txBody>
          <a:bodyPr/>
          <a:lstStyle/>
          <a:p>
            <a:pPr>
              <a:spcAft>
                <a:spcPts val="600"/>
              </a:spcAft>
            </a:pPr>
            <a:fld id="{86CB4B4D-7CA3-9044-876B-883B54F8677D}" type="slidenum">
              <a:rPr lang="en-US" smtClean="0"/>
              <a:pPr>
                <a:spcAft>
                  <a:spcPts val="600"/>
                </a:spcAft>
              </a:pPr>
              <a:t>5</a:t>
            </a:fld>
            <a:endParaRPr lang="en-US"/>
          </a:p>
        </p:txBody>
      </p:sp>
      <p:pic>
        <p:nvPicPr>
          <p:cNvPr id="4" name="Picture 3" descr="Build, Black pictogram">
            <a:extLst>
              <a:ext uri="{FF2B5EF4-FFF2-40B4-BE49-F238E27FC236}">
                <a16:creationId xmlns:a16="http://schemas.microsoft.com/office/drawing/2014/main" id="{38774F9F-BAB4-3F96-A277-F28564DFEC12}"/>
              </a:ext>
            </a:extLst>
          </p:cNvPr>
          <p:cNvPicPr>
            <a:picLocks noChangeAspect="1"/>
          </p:cNvPicPr>
          <p:nvPr/>
        </p:nvPicPr>
        <p:blipFill>
          <a:blip r:embed="rId5"/>
          <a:srcRect/>
          <a:stretch/>
        </p:blipFill>
        <p:spPr>
          <a:xfrm>
            <a:off x="14529129" y="3313015"/>
            <a:ext cx="1214463" cy="1214463"/>
          </a:xfrm>
          <a:prstGeom prst="rect">
            <a:avLst/>
          </a:prstGeom>
        </p:spPr>
      </p:pic>
      <p:sp>
        <p:nvSpPr>
          <p:cNvPr id="6" name="Text Placeholder 2">
            <a:extLst>
              <a:ext uri="{FF2B5EF4-FFF2-40B4-BE49-F238E27FC236}">
                <a16:creationId xmlns:a16="http://schemas.microsoft.com/office/drawing/2014/main" id="{499D76F0-1DDD-3841-533E-2651CDFA902C}"/>
              </a:ext>
            </a:extLst>
          </p:cNvPr>
          <p:cNvSpPr txBox="1">
            <a:spLocks/>
          </p:cNvSpPr>
          <p:nvPr/>
        </p:nvSpPr>
        <p:spPr>
          <a:xfrm>
            <a:off x="13842039" y="4589242"/>
            <a:ext cx="3743066" cy="311058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mj-lt"/>
                <a:ea typeface="+mj-ea"/>
                <a:cs typeface="+mj-cs"/>
                <a:sym typeface="IBM Plex Sans Light"/>
              </a:defRPr>
            </a:lvl1pPr>
            <a:lvl2pPr marL="329184" marR="0" indent="-329184" algn="l" defTabSz="2438400" rtl="0" eaLnBrk="1" latinLnBrk="0" hangingPunct="1">
              <a:lnSpc>
                <a:spcPct val="9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9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9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90000"/>
              </a:lnSpc>
              <a:spcBef>
                <a:spcPts val="0"/>
              </a:spcBef>
              <a:spcAft>
                <a:spcPts val="0"/>
              </a:spcAft>
              <a:buClrTx/>
              <a:buSzPct val="100000"/>
              <a:buFont typeface="IBM Plex Sans" panose="020B0604020202020204" pitchFamily="34" charset="0"/>
              <a:buChar char="•"/>
              <a:tabLst/>
              <a:defRPr sz="28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spcAft>
                <a:spcPts val="600"/>
              </a:spcAft>
            </a:pPr>
            <a:r>
              <a:rPr lang="en-US" sz="4800" kern="0"/>
              <a:t>Watsonx.ai</a:t>
            </a:r>
          </a:p>
        </p:txBody>
      </p:sp>
      <p:sp>
        <p:nvSpPr>
          <p:cNvPr id="7" name="Text Placeholder 2">
            <a:extLst>
              <a:ext uri="{FF2B5EF4-FFF2-40B4-BE49-F238E27FC236}">
                <a16:creationId xmlns:a16="http://schemas.microsoft.com/office/drawing/2014/main" id="{5F648046-1B65-7B87-7570-5BD77383BAD2}"/>
              </a:ext>
            </a:extLst>
          </p:cNvPr>
          <p:cNvSpPr txBox="1">
            <a:spLocks/>
          </p:cNvSpPr>
          <p:nvPr/>
        </p:nvSpPr>
        <p:spPr>
          <a:xfrm>
            <a:off x="18997302" y="4594225"/>
            <a:ext cx="4076331" cy="311058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mj-lt"/>
                <a:ea typeface="+mj-ea"/>
                <a:cs typeface="+mj-cs"/>
                <a:sym typeface="IBM Plex Sans Light"/>
              </a:defRPr>
            </a:lvl1pPr>
            <a:lvl2pPr marL="329184" marR="0" indent="-329184" algn="l" defTabSz="2438400" rtl="0" eaLnBrk="1" latinLnBrk="0" hangingPunct="1">
              <a:lnSpc>
                <a:spcPct val="9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9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9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90000"/>
              </a:lnSpc>
              <a:spcBef>
                <a:spcPts val="0"/>
              </a:spcBef>
              <a:spcAft>
                <a:spcPts val="0"/>
              </a:spcAft>
              <a:buClrTx/>
              <a:buSzPct val="100000"/>
              <a:buFont typeface="IBM Plex Sans" panose="020B0604020202020204" pitchFamily="34" charset="0"/>
              <a:buChar char="•"/>
              <a:tabLst/>
              <a:defRPr sz="28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ctr">
              <a:spcAft>
                <a:spcPts val="600"/>
              </a:spcAft>
            </a:pPr>
            <a:r>
              <a:rPr lang="en-US" sz="4800" kern="0"/>
              <a:t>Watsonx.</a:t>
            </a:r>
            <a:r>
              <a:rPr lang="en-US" sz="4800"/>
              <a:t> governance</a:t>
            </a:r>
            <a:endParaRPr lang="en-US" sz="4800" kern="0"/>
          </a:p>
        </p:txBody>
      </p:sp>
      <p:pic>
        <p:nvPicPr>
          <p:cNvPr id="9" name="Picture 8" descr="Data privacy, Black pictogram">
            <a:extLst>
              <a:ext uri="{FF2B5EF4-FFF2-40B4-BE49-F238E27FC236}">
                <a16:creationId xmlns:a16="http://schemas.microsoft.com/office/drawing/2014/main" id="{A6ADB257-7C29-97C0-2291-5CD1E6E620BF}"/>
              </a:ext>
            </a:extLst>
          </p:cNvPr>
          <p:cNvPicPr>
            <a:picLocks noChangeAspect="1"/>
          </p:cNvPicPr>
          <p:nvPr/>
        </p:nvPicPr>
        <p:blipFill>
          <a:blip r:embed="rId6"/>
          <a:srcRect/>
          <a:stretch/>
        </p:blipFill>
        <p:spPr>
          <a:xfrm>
            <a:off x="20425867" y="3375025"/>
            <a:ext cx="1219200" cy="1219200"/>
          </a:xfrm>
          <a:prstGeom prst="rect">
            <a:avLst/>
          </a:prstGeom>
        </p:spPr>
      </p:pic>
      <p:sp>
        <p:nvSpPr>
          <p:cNvPr id="11" name="TextBox 10">
            <a:extLst>
              <a:ext uri="{FF2B5EF4-FFF2-40B4-BE49-F238E27FC236}">
                <a16:creationId xmlns:a16="http://schemas.microsoft.com/office/drawing/2014/main" id="{C747F59E-4705-FF42-FA76-2CC668EF44D0}"/>
              </a:ext>
            </a:extLst>
          </p:cNvPr>
          <p:cNvSpPr txBox="1"/>
          <p:nvPr/>
        </p:nvSpPr>
        <p:spPr>
          <a:xfrm>
            <a:off x="20562277" y="7784123"/>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402885781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55A89-31D3-C769-71AD-38E9ADC2B454}"/>
              </a:ext>
            </a:extLst>
          </p:cNvPr>
          <p:cNvSpPr>
            <a:spLocks noGrp="1"/>
          </p:cNvSpPr>
          <p:nvPr>
            <p:ph type="title"/>
          </p:nvPr>
        </p:nvSpPr>
        <p:spPr>
          <a:xfrm>
            <a:off x="576000" y="384048"/>
            <a:ext cx="11036491" cy="2663825"/>
          </a:xfrm>
        </p:spPr>
        <p:txBody>
          <a:bodyPr/>
          <a:lstStyle/>
          <a:p>
            <a:r>
              <a:rPr lang="en-US"/>
              <a:t>Red Hat &amp; OpenShift Drive IBM’s Hybrid Cloud Growth</a:t>
            </a:r>
            <a:endParaRPr lang="en-US" dirty="0"/>
          </a:p>
        </p:txBody>
      </p:sp>
      <p:sp>
        <p:nvSpPr>
          <p:cNvPr id="9" name="Slide Number Placeholder">
            <a:extLst>
              <a:ext uri="{FF2B5EF4-FFF2-40B4-BE49-F238E27FC236}">
                <a16:creationId xmlns:a16="http://schemas.microsoft.com/office/drawing/2014/main" id="{41794889-6D85-5EF1-D228-19EEF3359F33}"/>
              </a:ext>
            </a:extLst>
          </p:cNvPr>
          <p:cNvSpPr>
            <a:spLocks noGrp="1"/>
          </p:cNvSpPr>
          <p:nvPr>
            <p:ph type="sldNum" sz="quarter" idx="4"/>
          </p:nvPr>
        </p:nvSpPr>
        <p:spPr>
          <a:xfrm>
            <a:off x="23541592" y="12951538"/>
            <a:ext cx="270908" cy="246221"/>
          </a:xfrm>
        </p:spPr>
        <p:txBody>
          <a:bodyPr/>
          <a:lstStyle>
            <a:lvl1pPr>
              <a:defRPr>
                <a:solidFill>
                  <a:schemeClr val="tx1"/>
                </a:solidFill>
              </a:defRPr>
            </a:lvl1pPr>
          </a:lstStyle>
          <a:p>
            <a:fld id="{59395FB3-9C97-154F-86B2-7E381B951268}" type="slidenum">
              <a:rPr lang="en-US" smtClean="0"/>
              <a:pPr/>
              <a:t>6</a:t>
            </a:fld>
            <a:endParaRPr lang="en-US" dirty="0"/>
          </a:p>
        </p:txBody>
      </p:sp>
      <p:sp>
        <p:nvSpPr>
          <p:cNvPr id="4" name="Footer Placeholder 5">
            <a:extLst>
              <a:ext uri="{FF2B5EF4-FFF2-40B4-BE49-F238E27FC236}">
                <a16:creationId xmlns:a16="http://schemas.microsoft.com/office/drawing/2014/main" id="{758058FD-55FE-14C2-54F7-4C716F103C00}"/>
              </a:ext>
            </a:extLst>
          </p:cNvPr>
          <p:cNvSpPr>
            <a:spLocks noGrp="1"/>
          </p:cNvSpPr>
          <p:nvPr>
            <p:ph type="ftr" sz="quarter" idx="18"/>
          </p:nvPr>
        </p:nvSpPr>
        <p:spPr>
          <a:xfrm>
            <a:off x="576000" y="12816000"/>
            <a:ext cx="4956176" cy="381000"/>
          </a:xfrm>
        </p:spPr>
        <p:txBody>
          <a:bodyPr/>
          <a:lstStyle/>
          <a:p>
            <a:r>
              <a:rPr lang="en-US"/>
              <a:t>IBM 1Q 2026 Earnings Report</a:t>
            </a:r>
            <a:endParaRPr lang="en-US" dirty="0"/>
          </a:p>
        </p:txBody>
      </p:sp>
      <p:sp>
        <p:nvSpPr>
          <p:cNvPr id="3" name="TextBox 2">
            <a:extLst>
              <a:ext uri="{FF2B5EF4-FFF2-40B4-BE49-F238E27FC236}">
                <a16:creationId xmlns:a16="http://schemas.microsoft.com/office/drawing/2014/main" id="{8835573A-314E-BC77-F42F-1B9956618253}"/>
              </a:ext>
            </a:extLst>
          </p:cNvPr>
          <p:cNvSpPr txBox="1"/>
          <p:nvPr/>
        </p:nvSpPr>
        <p:spPr>
          <a:xfrm>
            <a:off x="3423138" y="3540369"/>
            <a:ext cx="4032739" cy="966317"/>
          </a:xfrm>
          <a:prstGeom prst="rect">
            <a:avLst/>
          </a:prstGeom>
          <a:ln w="12700">
            <a:solidFill>
              <a:schemeClr val="accent1">
                <a:shade val="95000"/>
                <a:satMod val="105000"/>
              </a:schemeClr>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lnSpc>
                <a:spcPct val="150000"/>
              </a:lnSpc>
              <a:spcBef>
                <a:spcPts val="2900"/>
              </a:spcBef>
              <a:buSzPct val="100000"/>
            </a:pPr>
            <a:r>
              <a:rPr lang="en-US" kern="0">
                <a:solidFill>
                  <a:srgbClr val="000000"/>
                </a:solidFill>
                <a:ea typeface="+mj-ea"/>
                <a:cs typeface="+mj-cs"/>
                <a:sym typeface="IBM Plex Sans Light"/>
              </a:rPr>
              <a:t>Private Cloud</a:t>
            </a:r>
            <a:endParaRPr lang="en-US" kern="0" dirty="0">
              <a:solidFill>
                <a:srgbClr val="000000"/>
              </a:solidFill>
              <a:ea typeface="+mj-ea"/>
              <a:cs typeface="+mj-cs"/>
              <a:sym typeface="IBM Plex Sans Light"/>
            </a:endParaRPr>
          </a:p>
        </p:txBody>
      </p:sp>
      <p:sp>
        <p:nvSpPr>
          <p:cNvPr id="5" name="TextBox 4">
            <a:extLst>
              <a:ext uri="{FF2B5EF4-FFF2-40B4-BE49-F238E27FC236}">
                <a16:creationId xmlns:a16="http://schemas.microsoft.com/office/drawing/2014/main" id="{B8BAC59B-6751-7C4A-01B3-C34791163CAD}"/>
              </a:ext>
            </a:extLst>
          </p:cNvPr>
          <p:cNvSpPr txBox="1"/>
          <p:nvPr/>
        </p:nvSpPr>
        <p:spPr>
          <a:xfrm>
            <a:off x="9192567" y="3540369"/>
            <a:ext cx="4032739" cy="966317"/>
          </a:xfrm>
          <a:prstGeom prst="rect">
            <a:avLst/>
          </a:prstGeom>
          <a:ln w="12700">
            <a:solidFill>
              <a:schemeClr val="accent1">
                <a:shade val="95000"/>
                <a:satMod val="105000"/>
              </a:schemeClr>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lnSpc>
                <a:spcPct val="150000"/>
              </a:lnSpc>
              <a:spcBef>
                <a:spcPts val="2900"/>
              </a:spcBef>
              <a:buSzPct val="100000"/>
            </a:pPr>
            <a:r>
              <a:rPr lang="en-US" kern="0">
                <a:solidFill>
                  <a:srgbClr val="000000"/>
                </a:solidFill>
                <a:ea typeface="+mj-ea"/>
                <a:cs typeface="+mj-cs"/>
                <a:sym typeface="IBM Plex Sans Light"/>
              </a:rPr>
              <a:t>Public Cloud</a:t>
            </a:r>
            <a:endParaRPr lang="en-US" kern="0" dirty="0">
              <a:solidFill>
                <a:srgbClr val="000000"/>
              </a:solidFill>
              <a:ea typeface="+mj-ea"/>
              <a:cs typeface="+mj-cs"/>
              <a:sym typeface="IBM Plex Sans Light"/>
            </a:endParaRPr>
          </a:p>
        </p:txBody>
      </p:sp>
      <p:sp>
        <p:nvSpPr>
          <p:cNvPr id="6" name="TextBox 5">
            <a:extLst>
              <a:ext uri="{FF2B5EF4-FFF2-40B4-BE49-F238E27FC236}">
                <a16:creationId xmlns:a16="http://schemas.microsoft.com/office/drawing/2014/main" id="{39E3A0B1-1038-4862-6D4A-0A05A4695F48}"/>
              </a:ext>
            </a:extLst>
          </p:cNvPr>
          <p:cNvSpPr txBox="1"/>
          <p:nvPr/>
        </p:nvSpPr>
        <p:spPr>
          <a:xfrm>
            <a:off x="14961996" y="3540369"/>
            <a:ext cx="4958861" cy="966317"/>
          </a:xfrm>
          <a:prstGeom prst="rect">
            <a:avLst/>
          </a:prstGeom>
          <a:ln w="12700">
            <a:solidFill>
              <a:schemeClr val="accent1">
                <a:shade val="95000"/>
                <a:satMod val="105000"/>
              </a:schemeClr>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lnSpc>
                <a:spcPct val="150000"/>
              </a:lnSpc>
              <a:spcBef>
                <a:spcPts val="2900"/>
              </a:spcBef>
              <a:buSzPct val="100000"/>
            </a:pPr>
            <a:r>
              <a:rPr lang="en-US"/>
              <a:t>On-Premise Servers</a:t>
            </a:r>
            <a:endParaRPr lang="en-US" kern="0" dirty="0">
              <a:solidFill>
                <a:srgbClr val="000000"/>
              </a:solidFill>
              <a:ea typeface="+mj-ea"/>
              <a:cs typeface="+mj-cs"/>
              <a:sym typeface="IBM Plex Sans Light"/>
            </a:endParaRPr>
          </a:p>
        </p:txBody>
      </p:sp>
      <p:cxnSp>
        <p:nvCxnSpPr>
          <p:cNvPr id="8" name="Straight Connector 7">
            <a:extLst>
              <a:ext uri="{FF2B5EF4-FFF2-40B4-BE49-F238E27FC236}">
                <a16:creationId xmlns:a16="http://schemas.microsoft.com/office/drawing/2014/main" id="{7D543FF7-36AA-100F-1E80-649D45DEBFFA}"/>
              </a:ext>
            </a:extLst>
          </p:cNvPr>
          <p:cNvCxnSpPr>
            <a:stCxn id="3" idx="2"/>
          </p:cNvCxnSpPr>
          <p:nvPr/>
        </p:nvCxnSpPr>
        <p:spPr bwMode="auto">
          <a:xfrm>
            <a:off x="5439508" y="4506686"/>
            <a:ext cx="4129035" cy="235131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6DD5BD5A-7D7B-2307-D10A-462E40462767}"/>
              </a:ext>
            </a:extLst>
          </p:cNvPr>
          <p:cNvCxnSpPr>
            <a:stCxn id="5" idx="2"/>
          </p:cNvCxnSpPr>
          <p:nvPr/>
        </p:nvCxnSpPr>
        <p:spPr bwMode="auto">
          <a:xfrm>
            <a:off x="11208937" y="4506686"/>
            <a:ext cx="25120" cy="235131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28897E7E-D4D4-9A14-682B-E8B3DF724E4B}"/>
              </a:ext>
            </a:extLst>
          </p:cNvPr>
          <p:cNvCxnSpPr>
            <a:stCxn id="6" idx="2"/>
          </p:cNvCxnSpPr>
          <p:nvPr/>
        </p:nvCxnSpPr>
        <p:spPr bwMode="auto">
          <a:xfrm flipH="1">
            <a:off x="13225306" y="4506686"/>
            <a:ext cx="4216121" cy="235131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DDA63C8F-D083-784E-12B6-F01B17965A00}"/>
              </a:ext>
            </a:extLst>
          </p:cNvPr>
          <p:cNvSpPr txBox="1"/>
          <p:nvPr/>
        </p:nvSpPr>
        <p:spPr>
          <a:xfrm>
            <a:off x="9217687" y="7002527"/>
            <a:ext cx="4032739" cy="966317"/>
          </a:xfrm>
          <a:prstGeom prst="rect">
            <a:avLst/>
          </a:prstGeom>
          <a:ln w="12700">
            <a:solidFill>
              <a:schemeClr val="accent1">
                <a:shade val="95000"/>
                <a:satMod val="105000"/>
              </a:schemeClr>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lnSpc>
                <a:spcPct val="150000"/>
              </a:lnSpc>
              <a:spcBef>
                <a:spcPts val="2900"/>
              </a:spcBef>
              <a:buSzPct val="100000"/>
            </a:pPr>
            <a:r>
              <a:rPr lang="en-US" kern="0">
                <a:solidFill>
                  <a:srgbClr val="000000"/>
                </a:solidFill>
                <a:ea typeface="+mj-ea"/>
                <a:cs typeface="+mj-cs"/>
                <a:sym typeface="IBM Plex Sans Light"/>
              </a:rPr>
              <a:t>OpenShift</a:t>
            </a:r>
            <a:endParaRPr lang="en-US" kern="0" dirty="0">
              <a:solidFill>
                <a:srgbClr val="000000"/>
              </a:solidFill>
              <a:ea typeface="+mj-ea"/>
              <a:cs typeface="+mj-cs"/>
              <a:sym typeface="IBM Plex Sans Light"/>
            </a:endParaRPr>
          </a:p>
        </p:txBody>
      </p:sp>
      <p:sp>
        <p:nvSpPr>
          <p:cNvPr id="16" name="TextBox 15">
            <a:extLst>
              <a:ext uri="{FF2B5EF4-FFF2-40B4-BE49-F238E27FC236}">
                <a16:creationId xmlns:a16="http://schemas.microsoft.com/office/drawing/2014/main" id="{36410F9F-17AA-1095-C6A8-AE14A767528D}"/>
              </a:ext>
            </a:extLst>
          </p:cNvPr>
          <p:cNvSpPr txBox="1"/>
          <p:nvPr/>
        </p:nvSpPr>
        <p:spPr>
          <a:xfrm>
            <a:off x="4400550" y="8609150"/>
            <a:ext cx="15095764"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lgn="ctr"/>
            <a:r>
              <a:rPr lang="en-US"/>
              <a:t>OpenShift helps enterprises run applications and AI anywhere.</a:t>
            </a:r>
          </a:p>
        </p:txBody>
      </p:sp>
      <p:sp>
        <p:nvSpPr>
          <p:cNvPr id="18" name="TextBox 17">
            <a:extLst>
              <a:ext uri="{FF2B5EF4-FFF2-40B4-BE49-F238E27FC236}">
                <a16:creationId xmlns:a16="http://schemas.microsoft.com/office/drawing/2014/main" id="{B50C3E30-BE51-EC87-A961-34257352D8EA}"/>
              </a:ext>
            </a:extLst>
          </p:cNvPr>
          <p:cNvSpPr txBox="1"/>
          <p:nvPr/>
        </p:nvSpPr>
        <p:spPr>
          <a:xfrm>
            <a:off x="1657351" y="9941625"/>
            <a:ext cx="6376306" cy="156966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en-US" sz="4800" b="1"/>
              <a:t>+10%</a:t>
            </a:r>
          </a:p>
          <a:p>
            <a:pPr>
              <a:buNone/>
            </a:pPr>
            <a:r>
              <a:rPr lang="en-US" sz="4800"/>
              <a:t>Hybrid Cloud Growth</a:t>
            </a:r>
          </a:p>
        </p:txBody>
      </p:sp>
      <p:sp>
        <p:nvSpPr>
          <p:cNvPr id="20" name="TextBox 19">
            <a:extLst>
              <a:ext uri="{FF2B5EF4-FFF2-40B4-BE49-F238E27FC236}">
                <a16:creationId xmlns:a16="http://schemas.microsoft.com/office/drawing/2014/main" id="{CF0CC03C-A53A-6D32-6353-4327D0BEF97C}"/>
              </a:ext>
            </a:extLst>
          </p:cNvPr>
          <p:cNvSpPr txBox="1"/>
          <p:nvPr/>
        </p:nvSpPr>
        <p:spPr>
          <a:xfrm>
            <a:off x="9431337" y="10020793"/>
            <a:ext cx="5524499" cy="156966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en-US" sz="4800" b="1"/>
              <a:t>$2B</a:t>
            </a:r>
          </a:p>
          <a:p>
            <a:pPr>
              <a:buNone/>
            </a:pPr>
            <a:r>
              <a:rPr lang="en-US" sz="4800"/>
              <a:t>OpenShift ARR</a:t>
            </a:r>
          </a:p>
        </p:txBody>
      </p:sp>
      <p:sp>
        <p:nvSpPr>
          <p:cNvPr id="22" name="TextBox 21">
            <a:extLst>
              <a:ext uri="{FF2B5EF4-FFF2-40B4-BE49-F238E27FC236}">
                <a16:creationId xmlns:a16="http://schemas.microsoft.com/office/drawing/2014/main" id="{ED921E2D-5BD0-1809-365B-C1F7EC4440D3}"/>
              </a:ext>
            </a:extLst>
          </p:cNvPr>
          <p:cNvSpPr txBox="1"/>
          <p:nvPr/>
        </p:nvSpPr>
        <p:spPr>
          <a:xfrm>
            <a:off x="16734064" y="9988136"/>
            <a:ext cx="5524499" cy="156966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en-US" sz="4800" b="1"/>
              <a:t>+10%</a:t>
            </a:r>
          </a:p>
          <a:p>
            <a:pPr>
              <a:buNone/>
            </a:pPr>
            <a:r>
              <a:rPr lang="en-US" sz="4800"/>
              <a:t>Red Hat Growth</a:t>
            </a:r>
          </a:p>
        </p:txBody>
      </p:sp>
    </p:spTree>
    <p:extLst>
      <p:ext uri="{BB962C8B-B14F-4D97-AF65-F5344CB8AC3E}">
        <p14:creationId xmlns:p14="http://schemas.microsoft.com/office/powerpoint/2010/main" val="248481365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81D31-13CD-0C8C-9D0C-FCFEA294A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139FA-0E2F-EF19-9E09-F3A9C39114CE}"/>
              </a:ext>
            </a:extLst>
          </p:cNvPr>
          <p:cNvSpPr>
            <a:spLocks noGrp="1"/>
          </p:cNvSpPr>
          <p:nvPr>
            <p:ph type="title"/>
          </p:nvPr>
        </p:nvSpPr>
        <p:spPr>
          <a:xfrm>
            <a:off x="576000" y="384048"/>
            <a:ext cx="11987061" cy="2663825"/>
          </a:xfrm>
        </p:spPr>
        <p:txBody>
          <a:bodyPr/>
          <a:lstStyle/>
          <a:p>
            <a:r>
              <a:rPr lang="en-US"/>
              <a:t>IBM Powers Critical Systems Worldwide</a:t>
            </a:r>
            <a:endParaRPr lang="en-US" dirty="0"/>
          </a:p>
        </p:txBody>
      </p:sp>
      <p:sp>
        <p:nvSpPr>
          <p:cNvPr id="9" name="Slide Number Placeholder">
            <a:extLst>
              <a:ext uri="{FF2B5EF4-FFF2-40B4-BE49-F238E27FC236}">
                <a16:creationId xmlns:a16="http://schemas.microsoft.com/office/drawing/2014/main" id="{9FB8592C-434A-E09C-CE6F-007017F02ABF}"/>
              </a:ext>
            </a:extLst>
          </p:cNvPr>
          <p:cNvSpPr>
            <a:spLocks noGrp="1"/>
          </p:cNvSpPr>
          <p:nvPr>
            <p:ph type="sldNum" sz="quarter" idx="4"/>
          </p:nvPr>
        </p:nvSpPr>
        <p:spPr>
          <a:xfrm>
            <a:off x="23541592" y="12951538"/>
            <a:ext cx="270908" cy="246221"/>
          </a:xfrm>
        </p:spPr>
        <p:txBody>
          <a:bodyPr/>
          <a:lstStyle>
            <a:lvl1pPr>
              <a:defRPr>
                <a:solidFill>
                  <a:schemeClr val="tx1"/>
                </a:solidFill>
              </a:defRPr>
            </a:lvl1pPr>
          </a:lstStyle>
          <a:p>
            <a:fld id="{59395FB3-9C97-154F-86B2-7E381B951268}" type="slidenum">
              <a:rPr lang="en-US" smtClean="0"/>
              <a:pPr/>
              <a:t>7</a:t>
            </a:fld>
            <a:endParaRPr lang="en-US" dirty="0"/>
          </a:p>
        </p:txBody>
      </p:sp>
      <p:sp>
        <p:nvSpPr>
          <p:cNvPr id="4" name="Footer Placeholder 5">
            <a:extLst>
              <a:ext uri="{FF2B5EF4-FFF2-40B4-BE49-F238E27FC236}">
                <a16:creationId xmlns:a16="http://schemas.microsoft.com/office/drawing/2014/main" id="{82B5CD53-1AA8-ECB6-ACCC-704A1AA569E0}"/>
              </a:ext>
            </a:extLst>
          </p:cNvPr>
          <p:cNvSpPr>
            <a:spLocks noGrp="1"/>
          </p:cNvSpPr>
          <p:nvPr>
            <p:ph type="ftr" sz="quarter" idx="18"/>
          </p:nvPr>
        </p:nvSpPr>
        <p:spPr>
          <a:xfrm>
            <a:off x="576000" y="12816000"/>
            <a:ext cx="4956176" cy="381000"/>
          </a:xfrm>
        </p:spPr>
        <p:txBody>
          <a:bodyPr/>
          <a:lstStyle/>
          <a:p>
            <a:r>
              <a:rPr lang="en-US"/>
              <a:t>IBM 1Q 2026 Earnings Report</a:t>
            </a:r>
            <a:endParaRPr lang="en-US" dirty="0"/>
          </a:p>
        </p:txBody>
      </p:sp>
      <p:sp>
        <p:nvSpPr>
          <p:cNvPr id="18" name="TextBox 17">
            <a:extLst>
              <a:ext uri="{FF2B5EF4-FFF2-40B4-BE49-F238E27FC236}">
                <a16:creationId xmlns:a16="http://schemas.microsoft.com/office/drawing/2014/main" id="{8426D623-2029-0016-45E4-94F51649B05B}"/>
              </a:ext>
            </a:extLst>
          </p:cNvPr>
          <p:cNvSpPr txBox="1"/>
          <p:nvPr/>
        </p:nvSpPr>
        <p:spPr>
          <a:xfrm>
            <a:off x="3184901" y="10132207"/>
            <a:ext cx="21229983" cy="92333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a:buNone/>
            </a:pPr>
            <a:r>
              <a:rPr lang="en-US" sz="5400" b="1" dirty="0"/>
              <a:t>IBM operates behind the scenes of the global economy.</a:t>
            </a:r>
          </a:p>
        </p:txBody>
      </p:sp>
      <p:pic>
        <p:nvPicPr>
          <p:cNvPr id="7" name="Picture 6">
            <a:extLst>
              <a:ext uri="{FF2B5EF4-FFF2-40B4-BE49-F238E27FC236}">
                <a16:creationId xmlns:a16="http://schemas.microsoft.com/office/drawing/2014/main" id="{2995EB16-A58B-5165-7590-36F28DBA33AC}"/>
              </a:ext>
            </a:extLst>
          </p:cNvPr>
          <p:cNvPicPr>
            <a:picLocks noChangeAspect="1"/>
          </p:cNvPicPr>
          <p:nvPr/>
        </p:nvPicPr>
        <p:blipFill>
          <a:blip r:embed="rId3"/>
          <a:stretch>
            <a:fillRect/>
          </a:stretch>
        </p:blipFill>
        <p:spPr>
          <a:xfrm>
            <a:off x="2642466" y="4794290"/>
            <a:ext cx="4338391" cy="1075921"/>
          </a:xfrm>
          <a:prstGeom prst="rect">
            <a:avLst/>
          </a:prstGeom>
        </p:spPr>
      </p:pic>
      <p:pic>
        <p:nvPicPr>
          <p:cNvPr id="10" name="Picture 9">
            <a:extLst>
              <a:ext uri="{FF2B5EF4-FFF2-40B4-BE49-F238E27FC236}">
                <a16:creationId xmlns:a16="http://schemas.microsoft.com/office/drawing/2014/main" id="{3A160148-181C-B51A-9106-9A626A53143D}"/>
              </a:ext>
            </a:extLst>
          </p:cNvPr>
          <p:cNvPicPr>
            <a:picLocks noChangeAspect="1"/>
          </p:cNvPicPr>
          <p:nvPr/>
        </p:nvPicPr>
        <p:blipFill>
          <a:blip r:embed="rId4"/>
          <a:stretch>
            <a:fillRect/>
          </a:stretch>
        </p:blipFill>
        <p:spPr>
          <a:xfrm>
            <a:off x="8039879" y="6119737"/>
            <a:ext cx="3973862" cy="2587631"/>
          </a:xfrm>
          <a:prstGeom prst="rect">
            <a:avLst/>
          </a:prstGeom>
        </p:spPr>
      </p:pic>
      <p:pic>
        <p:nvPicPr>
          <p:cNvPr id="12" name="Picture 11">
            <a:extLst>
              <a:ext uri="{FF2B5EF4-FFF2-40B4-BE49-F238E27FC236}">
                <a16:creationId xmlns:a16="http://schemas.microsoft.com/office/drawing/2014/main" id="{CDB325B3-B42A-F478-E801-4051E5AC2E0A}"/>
              </a:ext>
            </a:extLst>
          </p:cNvPr>
          <p:cNvPicPr>
            <a:picLocks noChangeAspect="1"/>
          </p:cNvPicPr>
          <p:nvPr/>
        </p:nvPicPr>
        <p:blipFill>
          <a:blip r:embed="rId5"/>
          <a:stretch>
            <a:fillRect/>
          </a:stretch>
        </p:blipFill>
        <p:spPr>
          <a:xfrm>
            <a:off x="4260446" y="6728260"/>
            <a:ext cx="4139645" cy="1300107"/>
          </a:xfrm>
          <a:prstGeom prst="rect">
            <a:avLst/>
          </a:prstGeom>
        </p:spPr>
      </p:pic>
      <p:pic>
        <p:nvPicPr>
          <p:cNvPr id="15" name="Picture 14">
            <a:extLst>
              <a:ext uri="{FF2B5EF4-FFF2-40B4-BE49-F238E27FC236}">
                <a16:creationId xmlns:a16="http://schemas.microsoft.com/office/drawing/2014/main" id="{E4EED684-8C1E-9007-DEC8-D5A9D9833386}"/>
              </a:ext>
            </a:extLst>
          </p:cNvPr>
          <p:cNvPicPr>
            <a:picLocks noChangeAspect="1"/>
          </p:cNvPicPr>
          <p:nvPr/>
        </p:nvPicPr>
        <p:blipFill>
          <a:blip r:embed="rId6"/>
          <a:stretch>
            <a:fillRect/>
          </a:stretch>
        </p:blipFill>
        <p:spPr>
          <a:xfrm>
            <a:off x="7522875" y="3993702"/>
            <a:ext cx="2579413" cy="2579413"/>
          </a:xfrm>
          <a:prstGeom prst="rect">
            <a:avLst/>
          </a:prstGeom>
        </p:spPr>
      </p:pic>
      <p:pic>
        <p:nvPicPr>
          <p:cNvPr id="17" name="Picture 16">
            <a:extLst>
              <a:ext uri="{FF2B5EF4-FFF2-40B4-BE49-F238E27FC236}">
                <a16:creationId xmlns:a16="http://schemas.microsoft.com/office/drawing/2014/main" id="{86646528-679B-7039-92E1-20A1A917DBC7}"/>
              </a:ext>
            </a:extLst>
          </p:cNvPr>
          <p:cNvPicPr>
            <a:picLocks noChangeAspect="1"/>
          </p:cNvPicPr>
          <p:nvPr/>
        </p:nvPicPr>
        <p:blipFill>
          <a:blip r:embed="rId7"/>
          <a:stretch>
            <a:fillRect/>
          </a:stretch>
        </p:blipFill>
        <p:spPr>
          <a:xfrm>
            <a:off x="880799" y="5738401"/>
            <a:ext cx="2820902" cy="2820902"/>
          </a:xfrm>
          <a:prstGeom prst="rect">
            <a:avLst/>
          </a:prstGeom>
        </p:spPr>
      </p:pic>
      <p:sp>
        <p:nvSpPr>
          <p:cNvPr id="21" name="TextBox 20">
            <a:extLst>
              <a:ext uri="{FF2B5EF4-FFF2-40B4-BE49-F238E27FC236}">
                <a16:creationId xmlns:a16="http://schemas.microsoft.com/office/drawing/2014/main" id="{4AF52577-9EF5-AF42-365F-B9D47EF125EA}"/>
              </a:ext>
            </a:extLst>
          </p:cNvPr>
          <p:cNvSpPr txBox="1"/>
          <p:nvPr/>
        </p:nvSpPr>
        <p:spPr>
          <a:xfrm>
            <a:off x="13618663" y="4645980"/>
            <a:ext cx="12205252" cy="432426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en-US" sz="4800" b="1"/>
              <a:t>Why enterprises choose IBM:</a:t>
            </a:r>
          </a:p>
          <a:p>
            <a:pPr>
              <a:buNone/>
            </a:pPr>
            <a:endParaRPr lang="en-US" sz="1100" b="1"/>
          </a:p>
          <a:p>
            <a:pPr marL="571500" indent="-571500">
              <a:buFontTx/>
              <a:buChar char="-"/>
            </a:pPr>
            <a:r>
              <a:rPr lang="en-US"/>
              <a:t>Reliability &amp; security </a:t>
            </a:r>
          </a:p>
          <a:p>
            <a:pPr marL="571500" indent="-571500">
              <a:buFontTx/>
              <a:buChar char="-"/>
            </a:pPr>
            <a:endParaRPr lang="en-US"/>
          </a:p>
          <a:p>
            <a:pPr marL="571500" indent="-571500">
              <a:buFontTx/>
              <a:buChar char="-"/>
            </a:pPr>
            <a:r>
              <a:rPr lang="en-US"/>
              <a:t>Massive transaction processing </a:t>
            </a:r>
          </a:p>
          <a:p>
            <a:pPr marL="571500" indent="-571500">
              <a:buFontTx/>
              <a:buChar char="-"/>
            </a:pPr>
            <a:endParaRPr lang="en-US"/>
          </a:p>
          <a:p>
            <a:pPr marL="571500" indent="-571500">
              <a:buFontTx/>
              <a:buChar char="-"/>
            </a:pPr>
            <a:r>
              <a:rPr lang="en-US"/>
              <a:t>Long-term enterprise trust</a:t>
            </a:r>
          </a:p>
          <a:p>
            <a:endParaRPr lang="en-US"/>
          </a:p>
        </p:txBody>
      </p:sp>
    </p:spTree>
    <p:extLst>
      <p:ext uri="{BB962C8B-B14F-4D97-AF65-F5344CB8AC3E}">
        <p14:creationId xmlns:p14="http://schemas.microsoft.com/office/powerpoint/2010/main" val="98056443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8B88E-DD91-30C4-867E-DFEA914D61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D1543-EEF9-9CBE-9D67-209170549151}"/>
              </a:ext>
            </a:extLst>
          </p:cNvPr>
          <p:cNvSpPr>
            <a:spLocks noGrp="1"/>
          </p:cNvSpPr>
          <p:nvPr>
            <p:ph type="title"/>
          </p:nvPr>
        </p:nvSpPr>
        <p:spPr>
          <a:xfrm>
            <a:off x="576000" y="384048"/>
            <a:ext cx="11987061" cy="2663825"/>
          </a:xfrm>
        </p:spPr>
        <p:txBody>
          <a:bodyPr/>
          <a:lstStyle/>
          <a:p>
            <a:r>
              <a:rPr lang="en-US"/>
              <a:t>IBM vs Other Tech Companies</a:t>
            </a:r>
            <a:endParaRPr lang="en-US" dirty="0"/>
          </a:p>
        </p:txBody>
      </p:sp>
      <p:sp>
        <p:nvSpPr>
          <p:cNvPr id="9" name="Slide Number Placeholder">
            <a:extLst>
              <a:ext uri="{FF2B5EF4-FFF2-40B4-BE49-F238E27FC236}">
                <a16:creationId xmlns:a16="http://schemas.microsoft.com/office/drawing/2014/main" id="{B54C1A9F-1A62-9539-3403-B149CDB80891}"/>
              </a:ext>
            </a:extLst>
          </p:cNvPr>
          <p:cNvSpPr>
            <a:spLocks noGrp="1"/>
          </p:cNvSpPr>
          <p:nvPr>
            <p:ph type="sldNum" sz="quarter" idx="4"/>
          </p:nvPr>
        </p:nvSpPr>
        <p:spPr>
          <a:xfrm>
            <a:off x="23541592" y="12951538"/>
            <a:ext cx="270908" cy="246221"/>
          </a:xfrm>
        </p:spPr>
        <p:txBody>
          <a:bodyPr/>
          <a:lstStyle>
            <a:lvl1pPr>
              <a:defRPr>
                <a:solidFill>
                  <a:schemeClr val="tx1"/>
                </a:solidFill>
              </a:defRPr>
            </a:lvl1pPr>
          </a:lstStyle>
          <a:p>
            <a:fld id="{59395FB3-9C97-154F-86B2-7E381B951268}" type="slidenum">
              <a:rPr lang="en-US" smtClean="0"/>
              <a:pPr/>
              <a:t>8</a:t>
            </a:fld>
            <a:endParaRPr lang="en-US" dirty="0"/>
          </a:p>
        </p:txBody>
      </p:sp>
      <p:sp>
        <p:nvSpPr>
          <p:cNvPr id="4" name="Footer Placeholder 5">
            <a:extLst>
              <a:ext uri="{FF2B5EF4-FFF2-40B4-BE49-F238E27FC236}">
                <a16:creationId xmlns:a16="http://schemas.microsoft.com/office/drawing/2014/main" id="{ACF401B8-DB9D-0165-F286-C202E591BAA4}"/>
              </a:ext>
            </a:extLst>
          </p:cNvPr>
          <p:cNvSpPr>
            <a:spLocks noGrp="1"/>
          </p:cNvSpPr>
          <p:nvPr>
            <p:ph type="ftr" sz="quarter" idx="18"/>
          </p:nvPr>
        </p:nvSpPr>
        <p:spPr>
          <a:xfrm>
            <a:off x="576000" y="12816000"/>
            <a:ext cx="4956176" cy="381000"/>
          </a:xfrm>
        </p:spPr>
        <p:txBody>
          <a:bodyPr/>
          <a:lstStyle/>
          <a:p>
            <a:r>
              <a:rPr lang="en-US"/>
              <a:t>IBM 1Q 2026 Earnings Report</a:t>
            </a:r>
            <a:endParaRPr lang="en-US" dirty="0"/>
          </a:p>
        </p:txBody>
      </p:sp>
      <p:graphicFrame>
        <p:nvGraphicFramePr>
          <p:cNvPr id="5" name="Table 4">
            <a:extLst>
              <a:ext uri="{FF2B5EF4-FFF2-40B4-BE49-F238E27FC236}">
                <a16:creationId xmlns:a16="http://schemas.microsoft.com/office/drawing/2014/main" id="{47164FEC-8D28-2085-2498-5DF9B498C990}"/>
              </a:ext>
            </a:extLst>
          </p:cNvPr>
          <p:cNvGraphicFramePr>
            <a:graphicFrameLocks noGrp="1"/>
          </p:cNvGraphicFramePr>
          <p:nvPr>
            <p:extLst>
              <p:ext uri="{D42A27DB-BD31-4B8C-83A1-F6EECF244321}">
                <p14:modId xmlns:p14="http://schemas.microsoft.com/office/powerpoint/2010/main" val="2848476673"/>
              </p:ext>
            </p:extLst>
          </p:nvPr>
        </p:nvGraphicFramePr>
        <p:xfrm>
          <a:off x="3463171" y="3296571"/>
          <a:ext cx="17210220" cy="7122858"/>
        </p:xfrm>
        <a:graphic>
          <a:graphicData uri="http://schemas.openxmlformats.org/drawingml/2006/table">
            <a:tbl>
              <a:tblPr firstRow="1" bandRow="1">
                <a:tableStyleId>{BC89EF96-8CEA-46FF-86C4-4CE0E7609802}</a:tableStyleId>
              </a:tblPr>
              <a:tblGrid>
                <a:gridCol w="8605110">
                  <a:extLst>
                    <a:ext uri="{9D8B030D-6E8A-4147-A177-3AD203B41FA5}">
                      <a16:colId xmlns:a16="http://schemas.microsoft.com/office/drawing/2014/main" val="33056143"/>
                    </a:ext>
                  </a:extLst>
                </a:gridCol>
                <a:gridCol w="8605110">
                  <a:extLst>
                    <a:ext uri="{9D8B030D-6E8A-4147-A177-3AD203B41FA5}">
                      <a16:colId xmlns:a16="http://schemas.microsoft.com/office/drawing/2014/main" val="2887801190"/>
                    </a:ext>
                  </a:extLst>
                </a:gridCol>
              </a:tblGrid>
              <a:tr h="1187143">
                <a:tc>
                  <a:txBody>
                    <a:bodyPr/>
                    <a:lstStyle/>
                    <a:p>
                      <a:pPr algn="ctr">
                        <a:lnSpc>
                          <a:spcPct val="200000"/>
                        </a:lnSpc>
                      </a:pPr>
                      <a:r>
                        <a:rPr lang="en-US" sz="3200"/>
                        <a:t>Business Area</a:t>
                      </a:r>
                    </a:p>
                  </a:txBody>
                  <a:tcPr/>
                </a:tc>
                <a:tc>
                  <a:txBody>
                    <a:bodyPr/>
                    <a:lstStyle/>
                    <a:p>
                      <a:pPr algn="ctr">
                        <a:lnSpc>
                          <a:spcPct val="200000"/>
                        </a:lnSpc>
                      </a:pPr>
                      <a:r>
                        <a:rPr lang="en-US" sz="3200" b="1" i="0" u="none" strike="noStrike" cap="none" spc="0" baseline="0">
                          <a:solidFill>
                            <a:schemeClr val="tx1"/>
                          </a:solidFill>
                          <a:uFillTx/>
                          <a:latin typeface="+mn-lt"/>
                          <a:ea typeface="+mn-ea"/>
                          <a:cs typeface="+mn-cs"/>
                          <a:sym typeface="IBM Plex Sans"/>
                        </a:rPr>
                        <a:t>Focus </a:t>
                      </a:r>
                    </a:p>
                  </a:txBody>
                  <a:tcPr/>
                </a:tc>
                <a:extLst>
                  <a:ext uri="{0D108BD9-81ED-4DB2-BD59-A6C34878D82A}">
                    <a16:rowId xmlns:a16="http://schemas.microsoft.com/office/drawing/2014/main" val="2194781673"/>
                  </a:ext>
                </a:extLst>
              </a:tr>
              <a:tr h="1187143">
                <a:tc>
                  <a:txBody>
                    <a:bodyPr/>
                    <a:lstStyle/>
                    <a:p>
                      <a:pPr algn="ctr">
                        <a:lnSpc>
                          <a:spcPct val="200000"/>
                        </a:lnSpc>
                      </a:pPr>
                      <a:r>
                        <a:rPr lang="en-US" sz="3200" b="0" i="0" u="none" strike="noStrike" cap="none" spc="0" baseline="0">
                          <a:solidFill>
                            <a:schemeClr val="tx1"/>
                          </a:solidFill>
                          <a:uFillTx/>
                          <a:latin typeface="+mn-lt"/>
                          <a:ea typeface="+mn-ea"/>
                          <a:cs typeface="+mn-cs"/>
                          <a:sym typeface="IBM Plex Sans"/>
                        </a:rPr>
                        <a:t>OpenAI</a:t>
                      </a:r>
                    </a:p>
                  </a:txBody>
                  <a:tcPr/>
                </a:tc>
                <a:tc>
                  <a:txBody>
                    <a:bodyPr/>
                    <a:lstStyle/>
                    <a:p>
                      <a:pPr algn="ctr">
                        <a:lnSpc>
                          <a:spcPct val="200000"/>
                        </a:lnSpc>
                      </a:pPr>
                      <a:r>
                        <a:rPr lang="en-US" sz="3200" b="0" i="0" u="none" strike="noStrike" cap="none" spc="0" baseline="0">
                          <a:solidFill>
                            <a:schemeClr val="tx1"/>
                          </a:solidFill>
                          <a:uFillTx/>
                          <a:latin typeface="+mn-lt"/>
                          <a:ea typeface="+mn-ea"/>
                          <a:cs typeface="+mn-cs"/>
                          <a:sym typeface="IBM Plex Sans"/>
                        </a:rPr>
                        <a:t>Consumer AI</a:t>
                      </a:r>
                    </a:p>
                  </a:txBody>
                  <a:tcPr/>
                </a:tc>
                <a:extLst>
                  <a:ext uri="{0D108BD9-81ED-4DB2-BD59-A6C34878D82A}">
                    <a16:rowId xmlns:a16="http://schemas.microsoft.com/office/drawing/2014/main" val="1560403070"/>
                  </a:ext>
                </a:extLst>
              </a:tr>
              <a:tr h="1187143">
                <a:tc>
                  <a:txBody>
                    <a:bodyPr/>
                    <a:lstStyle/>
                    <a:p>
                      <a:pPr algn="ctr">
                        <a:lnSpc>
                          <a:spcPct val="200000"/>
                        </a:lnSpc>
                      </a:pPr>
                      <a:r>
                        <a:rPr lang="en-US" sz="3200" b="0" i="0" u="none" strike="noStrike" cap="none" spc="0" baseline="0">
                          <a:solidFill>
                            <a:schemeClr val="tx1"/>
                          </a:solidFill>
                          <a:uFillTx/>
                          <a:latin typeface="+mn-lt"/>
                          <a:ea typeface="+mn-ea"/>
                          <a:cs typeface="+mn-cs"/>
                          <a:sym typeface="IBM Plex Sans"/>
                        </a:rPr>
                        <a:t>Google</a:t>
                      </a:r>
                    </a:p>
                  </a:txBody>
                  <a:tcPr/>
                </a:tc>
                <a:tc>
                  <a:txBody>
                    <a:bodyPr/>
                    <a:lstStyle/>
                    <a:p>
                      <a:pPr algn="ctr">
                        <a:lnSpc>
                          <a:spcPct val="200000"/>
                        </a:lnSpc>
                      </a:pPr>
                      <a:r>
                        <a:rPr lang="en-US" sz="3200"/>
                        <a:t>Search + AI</a:t>
                      </a:r>
                      <a:endParaRPr lang="en-US" sz="3200" b="0" i="0" u="none" strike="noStrike" cap="none" spc="0" baseline="0">
                        <a:solidFill>
                          <a:schemeClr val="tx1"/>
                        </a:solidFill>
                        <a:uFillTx/>
                        <a:latin typeface="+mn-lt"/>
                        <a:ea typeface="+mn-ea"/>
                        <a:cs typeface="+mn-cs"/>
                        <a:sym typeface="IBM Plex Sans"/>
                      </a:endParaRPr>
                    </a:p>
                  </a:txBody>
                  <a:tcPr/>
                </a:tc>
                <a:extLst>
                  <a:ext uri="{0D108BD9-81ED-4DB2-BD59-A6C34878D82A}">
                    <a16:rowId xmlns:a16="http://schemas.microsoft.com/office/drawing/2014/main" val="3349992114"/>
                  </a:ext>
                </a:extLst>
              </a:tr>
              <a:tr h="1187143">
                <a:tc>
                  <a:txBody>
                    <a:bodyPr/>
                    <a:lstStyle/>
                    <a:p>
                      <a:pPr algn="ctr">
                        <a:lnSpc>
                          <a:spcPct val="200000"/>
                        </a:lnSpc>
                      </a:pPr>
                      <a:r>
                        <a:rPr lang="en-US" sz="3200" b="0" i="0" u="none" strike="noStrike" cap="none" spc="0" baseline="0">
                          <a:solidFill>
                            <a:schemeClr val="tx1"/>
                          </a:solidFill>
                          <a:uFillTx/>
                          <a:latin typeface="+mn-lt"/>
                          <a:ea typeface="+mn-ea"/>
                          <a:cs typeface="+mn-cs"/>
                          <a:sym typeface="IBM Plex Sans"/>
                        </a:rPr>
                        <a:t>Microsoft</a:t>
                      </a:r>
                    </a:p>
                  </a:txBody>
                  <a:tcPr/>
                </a:tc>
                <a:tc>
                  <a:txBody>
                    <a:bodyPr/>
                    <a:lstStyle/>
                    <a:p>
                      <a:pPr algn="ctr">
                        <a:lnSpc>
                          <a:spcPct val="200000"/>
                        </a:lnSpc>
                      </a:pPr>
                      <a:r>
                        <a:rPr lang="en-US" sz="3200"/>
                        <a:t>Productivity + Cloud</a:t>
                      </a:r>
                      <a:endParaRPr lang="en-US" sz="3200" b="0" i="0" u="none" strike="noStrike" cap="none" spc="0" baseline="0">
                        <a:solidFill>
                          <a:schemeClr val="tx1"/>
                        </a:solidFill>
                        <a:uFillTx/>
                        <a:latin typeface="+mn-lt"/>
                        <a:ea typeface="+mn-ea"/>
                        <a:cs typeface="+mn-cs"/>
                        <a:sym typeface="IBM Plex Sans"/>
                      </a:endParaRPr>
                    </a:p>
                  </a:txBody>
                  <a:tcPr/>
                </a:tc>
                <a:extLst>
                  <a:ext uri="{0D108BD9-81ED-4DB2-BD59-A6C34878D82A}">
                    <a16:rowId xmlns:a16="http://schemas.microsoft.com/office/drawing/2014/main" val="1416882044"/>
                  </a:ext>
                </a:extLst>
              </a:tr>
              <a:tr h="1187143">
                <a:tc>
                  <a:txBody>
                    <a:bodyPr/>
                    <a:lstStyle/>
                    <a:p>
                      <a:pPr algn="ctr">
                        <a:lnSpc>
                          <a:spcPct val="200000"/>
                        </a:lnSpc>
                      </a:pPr>
                      <a:r>
                        <a:rPr lang="en-US" sz="3200" b="0" i="0" u="none" strike="noStrike" cap="none" spc="0" baseline="0">
                          <a:solidFill>
                            <a:schemeClr val="tx1"/>
                          </a:solidFill>
                          <a:uFillTx/>
                          <a:latin typeface="+mn-lt"/>
                          <a:ea typeface="+mn-ea"/>
                          <a:cs typeface="+mn-cs"/>
                          <a:sym typeface="IBM Plex Sans"/>
                        </a:rPr>
                        <a:t>Amazon AWS</a:t>
                      </a:r>
                    </a:p>
                  </a:txBody>
                  <a:tcPr/>
                </a:tc>
                <a:tc>
                  <a:txBody>
                    <a:bodyPr/>
                    <a:lstStyle/>
                    <a:p>
                      <a:pPr algn="ctr">
                        <a:lnSpc>
                          <a:spcPct val="200000"/>
                        </a:lnSpc>
                      </a:pPr>
                      <a:r>
                        <a:rPr lang="en-US" sz="3200"/>
                        <a:t>Cloud Infrastructure</a:t>
                      </a:r>
                      <a:endParaRPr lang="en-US" sz="3200" b="0" i="0" u="none" strike="noStrike" cap="none" spc="0" baseline="0">
                        <a:solidFill>
                          <a:schemeClr val="tx1"/>
                        </a:solidFill>
                        <a:uFillTx/>
                        <a:latin typeface="+mn-lt"/>
                        <a:ea typeface="+mn-ea"/>
                        <a:cs typeface="+mn-cs"/>
                        <a:sym typeface="IBM Plex Sans"/>
                      </a:endParaRPr>
                    </a:p>
                  </a:txBody>
                  <a:tcPr/>
                </a:tc>
                <a:extLst>
                  <a:ext uri="{0D108BD9-81ED-4DB2-BD59-A6C34878D82A}">
                    <a16:rowId xmlns:a16="http://schemas.microsoft.com/office/drawing/2014/main" val="257747210"/>
                  </a:ext>
                </a:extLst>
              </a:tr>
              <a:tr h="1187143">
                <a:tc>
                  <a:txBody>
                    <a:bodyPr/>
                    <a:lstStyle/>
                    <a:p>
                      <a:pPr algn="ctr">
                        <a:lnSpc>
                          <a:spcPct val="200000"/>
                        </a:lnSpc>
                      </a:pPr>
                      <a:r>
                        <a:rPr lang="en-US" sz="3200" b="0" i="0" u="none" strike="noStrike" cap="none" spc="0" baseline="0">
                          <a:solidFill>
                            <a:schemeClr val="tx1"/>
                          </a:solidFill>
                          <a:uFillTx/>
                          <a:latin typeface="+mn-lt"/>
                          <a:ea typeface="+mn-ea"/>
                          <a:cs typeface="+mn-cs"/>
                          <a:sym typeface="IBM Plex Sans"/>
                        </a:rPr>
                        <a:t>IBM</a:t>
                      </a:r>
                    </a:p>
                  </a:txBody>
                  <a:tcPr/>
                </a:tc>
                <a:tc>
                  <a:txBody>
                    <a:bodyPr/>
                    <a:lstStyle/>
                    <a:p>
                      <a:pPr algn="ctr">
                        <a:lnSpc>
                          <a:spcPct val="200000"/>
                        </a:lnSpc>
                      </a:pPr>
                      <a:r>
                        <a:rPr lang="en-US" sz="3200"/>
                        <a:t>Enterprise AI + Trust</a:t>
                      </a:r>
                      <a:endParaRPr lang="en-US" sz="3200" b="0" i="0" u="none" strike="noStrike" cap="none" spc="0" baseline="0">
                        <a:solidFill>
                          <a:schemeClr val="tx1"/>
                        </a:solidFill>
                        <a:uFillTx/>
                        <a:latin typeface="+mn-lt"/>
                        <a:ea typeface="+mn-ea"/>
                        <a:cs typeface="+mn-cs"/>
                        <a:sym typeface="IBM Plex Sans"/>
                      </a:endParaRPr>
                    </a:p>
                  </a:txBody>
                  <a:tcPr/>
                </a:tc>
                <a:extLst>
                  <a:ext uri="{0D108BD9-81ED-4DB2-BD59-A6C34878D82A}">
                    <a16:rowId xmlns:a16="http://schemas.microsoft.com/office/drawing/2014/main" val="2776419339"/>
                  </a:ext>
                </a:extLst>
              </a:tr>
            </a:tbl>
          </a:graphicData>
        </a:graphic>
      </p:graphicFrame>
      <p:sp>
        <p:nvSpPr>
          <p:cNvPr id="8" name="TextBox 7">
            <a:extLst>
              <a:ext uri="{FF2B5EF4-FFF2-40B4-BE49-F238E27FC236}">
                <a16:creationId xmlns:a16="http://schemas.microsoft.com/office/drawing/2014/main" id="{C65EC7A3-5E0E-3FAC-A734-E1570B9D1D3E}"/>
              </a:ext>
            </a:extLst>
          </p:cNvPr>
          <p:cNvSpPr txBox="1"/>
          <p:nvPr/>
        </p:nvSpPr>
        <p:spPr>
          <a:xfrm>
            <a:off x="2665863" y="11294549"/>
            <a:ext cx="18804835"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lgn="ctr"/>
            <a:r>
              <a:rPr lang="en-US" b="1"/>
              <a:t>IBM competes on reliability, security, AI governance, and deep enterprise integration</a:t>
            </a:r>
          </a:p>
        </p:txBody>
      </p:sp>
    </p:spTree>
    <p:extLst>
      <p:ext uri="{BB962C8B-B14F-4D97-AF65-F5344CB8AC3E}">
        <p14:creationId xmlns:p14="http://schemas.microsoft.com/office/powerpoint/2010/main" val="411288209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252CB-B4C9-3F90-A864-37295891115B}"/>
            </a:ext>
          </a:extLst>
        </p:cNvPr>
        <p:cNvGrpSpPr/>
        <p:nvPr/>
      </p:nvGrpSpPr>
      <p:grpSpPr>
        <a:xfrm>
          <a:off x="0" y="0"/>
          <a:ext cx="0" cy="0"/>
          <a:chOff x="0" y="0"/>
          <a:chExt cx="0" cy="0"/>
        </a:xfrm>
      </p:grpSpPr>
      <p:sp>
        <p:nvSpPr>
          <p:cNvPr id="17" name="Oval 16">
            <a:extLst>
              <a:ext uri="{FF2B5EF4-FFF2-40B4-BE49-F238E27FC236}">
                <a16:creationId xmlns:a16="http://schemas.microsoft.com/office/drawing/2014/main" id="{CD8EC422-8C22-7EC7-F457-7AF58423CFA9}"/>
              </a:ext>
            </a:extLst>
          </p:cNvPr>
          <p:cNvSpPr/>
          <p:nvPr/>
        </p:nvSpPr>
        <p:spPr bwMode="auto">
          <a:xfrm>
            <a:off x="9598439" y="5196108"/>
            <a:ext cx="4837997" cy="2451602"/>
          </a:xfrm>
          <a:prstGeom prst="ellipse">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2A20F13B-36FD-55C1-B888-39923FCE9FD8}"/>
              </a:ext>
            </a:extLst>
          </p:cNvPr>
          <p:cNvSpPr>
            <a:spLocks noGrp="1"/>
          </p:cNvSpPr>
          <p:nvPr>
            <p:ph type="title"/>
          </p:nvPr>
        </p:nvSpPr>
        <p:spPr>
          <a:xfrm>
            <a:off x="576000" y="384048"/>
            <a:ext cx="11987061" cy="2663825"/>
          </a:xfrm>
        </p:spPr>
        <p:txBody>
          <a:bodyPr/>
          <a:lstStyle/>
          <a:p>
            <a:r>
              <a:rPr lang="en-US" dirty="0"/>
              <a:t>IBM Culture &amp; Identity</a:t>
            </a:r>
          </a:p>
        </p:txBody>
      </p:sp>
      <p:sp>
        <p:nvSpPr>
          <p:cNvPr id="9" name="Slide Number Placeholder">
            <a:extLst>
              <a:ext uri="{FF2B5EF4-FFF2-40B4-BE49-F238E27FC236}">
                <a16:creationId xmlns:a16="http://schemas.microsoft.com/office/drawing/2014/main" id="{36FA2848-10A8-18A5-6E8C-E6E23FBE5653}"/>
              </a:ext>
            </a:extLst>
          </p:cNvPr>
          <p:cNvSpPr>
            <a:spLocks noGrp="1"/>
          </p:cNvSpPr>
          <p:nvPr>
            <p:ph type="sldNum" sz="quarter" idx="4"/>
          </p:nvPr>
        </p:nvSpPr>
        <p:spPr>
          <a:xfrm>
            <a:off x="23541592" y="12951538"/>
            <a:ext cx="270908" cy="246221"/>
          </a:xfrm>
        </p:spPr>
        <p:txBody>
          <a:bodyPr/>
          <a:lstStyle>
            <a:lvl1pPr>
              <a:defRPr>
                <a:solidFill>
                  <a:schemeClr val="tx1"/>
                </a:solidFill>
              </a:defRPr>
            </a:lvl1pPr>
          </a:lstStyle>
          <a:p>
            <a:fld id="{59395FB3-9C97-154F-86B2-7E381B951268}" type="slidenum">
              <a:rPr lang="en-US" smtClean="0"/>
              <a:pPr/>
              <a:t>9</a:t>
            </a:fld>
            <a:endParaRPr lang="en-US" dirty="0"/>
          </a:p>
        </p:txBody>
      </p:sp>
      <p:sp>
        <p:nvSpPr>
          <p:cNvPr id="4" name="Footer Placeholder 5">
            <a:extLst>
              <a:ext uri="{FF2B5EF4-FFF2-40B4-BE49-F238E27FC236}">
                <a16:creationId xmlns:a16="http://schemas.microsoft.com/office/drawing/2014/main" id="{9C42A50E-A14E-90E4-6B5B-2B0D9E5B76CB}"/>
              </a:ext>
            </a:extLst>
          </p:cNvPr>
          <p:cNvSpPr>
            <a:spLocks noGrp="1"/>
          </p:cNvSpPr>
          <p:nvPr>
            <p:ph type="ftr" sz="quarter" idx="18"/>
          </p:nvPr>
        </p:nvSpPr>
        <p:spPr>
          <a:xfrm>
            <a:off x="576000" y="12816000"/>
            <a:ext cx="4956176" cy="381000"/>
          </a:xfrm>
        </p:spPr>
        <p:txBody>
          <a:bodyPr/>
          <a:lstStyle/>
          <a:p>
            <a:r>
              <a:rPr lang="en-US"/>
              <a:t>IBM 1Q 2026 Earnings Report</a:t>
            </a:r>
            <a:endParaRPr lang="en-US" dirty="0"/>
          </a:p>
        </p:txBody>
      </p:sp>
      <p:sp>
        <p:nvSpPr>
          <p:cNvPr id="8" name="TextBox 7">
            <a:extLst>
              <a:ext uri="{FF2B5EF4-FFF2-40B4-BE49-F238E27FC236}">
                <a16:creationId xmlns:a16="http://schemas.microsoft.com/office/drawing/2014/main" id="{4B5A075C-A701-ABBC-B161-3E1416571F4A}"/>
              </a:ext>
            </a:extLst>
          </p:cNvPr>
          <p:cNvSpPr txBox="1"/>
          <p:nvPr/>
        </p:nvSpPr>
        <p:spPr>
          <a:xfrm>
            <a:off x="2791169" y="11130963"/>
            <a:ext cx="18804835" cy="1200329"/>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algn="ctr"/>
            <a:r>
              <a:rPr lang="en-US" b="1" dirty="0"/>
              <a:t>IBM’s identity is built less around consumer popularity and more around long-term enterprise trust and innovation.</a:t>
            </a:r>
          </a:p>
        </p:txBody>
      </p:sp>
      <p:sp>
        <p:nvSpPr>
          <p:cNvPr id="3" name="TextBox 2">
            <a:extLst>
              <a:ext uri="{FF2B5EF4-FFF2-40B4-BE49-F238E27FC236}">
                <a16:creationId xmlns:a16="http://schemas.microsoft.com/office/drawing/2014/main" id="{6FFAFC51-2CA1-26AF-8B54-73B4261FC2B6}"/>
              </a:ext>
            </a:extLst>
          </p:cNvPr>
          <p:cNvSpPr txBox="1"/>
          <p:nvPr/>
        </p:nvSpPr>
        <p:spPr>
          <a:xfrm>
            <a:off x="10289761" y="5948909"/>
            <a:ext cx="4546600" cy="1930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6000" kern="0" dirty="0">
                <a:solidFill>
                  <a:schemeClr val="accent1"/>
                </a:solidFill>
                <a:ea typeface="+mj-ea"/>
                <a:cs typeface="+mj-cs"/>
                <a:sym typeface="IBM Plex Sans Light"/>
              </a:rPr>
              <a:t>BIG BLUE </a:t>
            </a:r>
          </a:p>
        </p:txBody>
      </p:sp>
      <p:sp>
        <p:nvSpPr>
          <p:cNvPr id="6" name="TextBox 5">
            <a:extLst>
              <a:ext uri="{FF2B5EF4-FFF2-40B4-BE49-F238E27FC236}">
                <a16:creationId xmlns:a16="http://schemas.microsoft.com/office/drawing/2014/main" id="{F79AB642-7C56-96F2-1DFD-CBA48C9B9917}"/>
              </a:ext>
            </a:extLst>
          </p:cNvPr>
          <p:cNvSpPr txBox="1"/>
          <p:nvPr/>
        </p:nvSpPr>
        <p:spPr>
          <a:xfrm>
            <a:off x="6077122" y="4241586"/>
            <a:ext cx="3459424" cy="609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kern="0" dirty="0">
                <a:solidFill>
                  <a:srgbClr val="000000"/>
                </a:solidFill>
                <a:ea typeface="+mj-ea"/>
                <a:cs typeface="+mj-cs"/>
                <a:sym typeface="IBM Plex Sans Light"/>
              </a:rPr>
              <a:t>Research-Driven</a:t>
            </a:r>
          </a:p>
        </p:txBody>
      </p:sp>
      <p:sp>
        <p:nvSpPr>
          <p:cNvPr id="7" name="TextBox 6">
            <a:extLst>
              <a:ext uri="{FF2B5EF4-FFF2-40B4-BE49-F238E27FC236}">
                <a16:creationId xmlns:a16="http://schemas.microsoft.com/office/drawing/2014/main" id="{18648760-BA4B-7187-ADC4-D6ECAAD78DC3}"/>
              </a:ext>
            </a:extLst>
          </p:cNvPr>
          <p:cNvSpPr txBox="1"/>
          <p:nvPr/>
        </p:nvSpPr>
        <p:spPr>
          <a:xfrm>
            <a:off x="4857922" y="6308672"/>
            <a:ext cx="3459424" cy="609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kern="0" dirty="0">
                <a:solidFill>
                  <a:srgbClr val="000000"/>
                </a:solidFill>
                <a:ea typeface="+mj-ea"/>
                <a:cs typeface="+mj-cs"/>
                <a:sym typeface="IBM Plex Sans Light"/>
              </a:rPr>
              <a:t>Trusted Partner</a:t>
            </a:r>
          </a:p>
        </p:txBody>
      </p:sp>
      <p:sp>
        <p:nvSpPr>
          <p:cNvPr id="10" name="TextBox 9">
            <a:extLst>
              <a:ext uri="{FF2B5EF4-FFF2-40B4-BE49-F238E27FC236}">
                <a16:creationId xmlns:a16="http://schemas.microsoft.com/office/drawing/2014/main" id="{2A9EA68C-EB4D-5BFD-43F2-31442C49D493}"/>
              </a:ext>
            </a:extLst>
          </p:cNvPr>
          <p:cNvSpPr txBox="1"/>
          <p:nvPr/>
        </p:nvSpPr>
        <p:spPr>
          <a:xfrm>
            <a:off x="6077122" y="8445903"/>
            <a:ext cx="4262804" cy="6463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kern="0" dirty="0">
                <a:solidFill>
                  <a:srgbClr val="000000"/>
                </a:solidFill>
                <a:ea typeface="+mj-ea"/>
                <a:cs typeface="+mj-cs"/>
                <a:sym typeface="IBM Plex Sans Light"/>
              </a:rPr>
              <a:t>Global Collaboration</a:t>
            </a:r>
          </a:p>
        </p:txBody>
      </p:sp>
      <p:sp>
        <p:nvSpPr>
          <p:cNvPr id="11" name="TextBox 10">
            <a:extLst>
              <a:ext uri="{FF2B5EF4-FFF2-40B4-BE49-F238E27FC236}">
                <a16:creationId xmlns:a16="http://schemas.microsoft.com/office/drawing/2014/main" id="{798EEC52-7614-E312-9D52-03BD488680AC}"/>
              </a:ext>
            </a:extLst>
          </p:cNvPr>
          <p:cNvSpPr txBox="1"/>
          <p:nvPr/>
        </p:nvSpPr>
        <p:spPr>
          <a:xfrm>
            <a:off x="11008821" y="3270657"/>
            <a:ext cx="3459424" cy="609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kern="0" dirty="0">
                <a:solidFill>
                  <a:srgbClr val="000000"/>
                </a:solidFill>
                <a:ea typeface="+mj-ea"/>
                <a:cs typeface="+mj-cs"/>
                <a:sym typeface="IBM Plex Sans Light"/>
              </a:rPr>
              <a:t>Innovation</a:t>
            </a:r>
          </a:p>
        </p:txBody>
      </p:sp>
      <p:sp>
        <p:nvSpPr>
          <p:cNvPr id="12" name="TextBox 11">
            <a:extLst>
              <a:ext uri="{FF2B5EF4-FFF2-40B4-BE49-F238E27FC236}">
                <a16:creationId xmlns:a16="http://schemas.microsoft.com/office/drawing/2014/main" id="{3234376F-B839-7C7E-6ECE-800FF3DFAC86}"/>
              </a:ext>
            </a:extLst>
          </p:cNvPr>
          <p:cNvSpPr txBox="1"/>
          <p:nvPr/>
        </p:nvSpPr>
        <p:spPr>
          <a:xfrm>
            <a:off x="14886526" y="4278317"/>
            <a:ext cx="3459424" cy="609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defTabSz="2438400">
              <a:spcBef>
                <a:spcPts val="2900"/>
              </a:spcBef>
              <a:buSzPct val="100000"/>
            </a:pPr>
            <a:r>
              <a:rPr lang="en-US" dirty="0"/>
              <a:t>Longevity</a:t>
            </a:r>
            <a:endParaRPr lang="en-US" kern="0" dirty="0">
              <a:solidFill>
                <a:srgbClr val="000000"/>
              </a:solidFill>
              <a:ea typeface="+mj-ea"/>
              <a:cs typeface="+mj-cs"/>
              <a:sym typeface="IBM Plex Sans Light"/>
            </a:endParaRPr>
          </a:p>
        </p:txBody>
      </p:sp>
      <p:sp>
        <p:nvSpPr>
          <p:cNvPr id="14" name="TextBox 13">
            <a:extLst>
              <a:ext uri="{FF2B5EF4-FFF2-40B4-BE49-F238E27FC236}">
                <a16:creationId xmlns:a16="http://schemas.microsoft.com/office/drawing/2014/main" id="{0402E011-A5EE-C8A7-D317-4E64567B3D71}"/>
              </a:ext>
            </a:extLst>
          </p:cNvPr>
          <p:cNvSpPr txBox="1"/>
          <p:nvPr/>
        </p:nvSpPr>
        <p:spPr>
          <a:xfrm>
            <a:off x="15784946" y="6191358"/>
            <a:ext cx="3835400"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en-US" dirty="0"/>
              <a:t>Enterprise Focus </a:t>
            </a:r>
          </a:p>
        </p:txBody>
      </p:sp>
      <p:sp>
        <p:nvSpPr>
          <p:cNvPr id="16" name="TextBox 15">
            <a:extLst>
              <a:ext uri="{FF2B5EF4-FFF2-40B4-BE49-F238E27FC236}">
                <a16:creationId xmlns:a16="http://schemas.microsoft.com/office/drawing/2014/main" id="{A5308DE5-31B5-1B72-DEF0-808B554B3845}"/>
              </a:ext>
            </a:extLst>
          </p:cNvPr>
          <p:cNvSpPr txBox="1"/>
          <p:nvPr/>
        </p:nvSpPr>
        <p:spPr>
          <a:xfrm>
            <a:off x="13524346" y="8607438"/>
            <a:ext cx="12192000"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en-US" dirty="0"/>
              <a:t>Client-First Mindset</a:t>
            </a:r>
          </a:p>
        </p:txBody>
      </p:sp>
    </p:spTree>
    <p:extLst>
      <p:ext uri="{BB962C8B-B14F-4D97-AF65-F5344CB8AC3E}">
        <p14:creationId xmlns:p14="http://schemas.microsoft.com/office/powerpoint/2010/main" val="215413989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descr="Blue 10 half slide background">
            <a:extLst>
              <a:ext uri="{FF2B5EF4-FFF2-40B4-BE49-F238E27FC236}">
                <a16:creationId xmlns:a16="http://schemas.microsoft.com/office/drawing/2014/main" id="{50D516DF-236D-0360-6872-029EF3711306}"/>
              </a:ext>
            </a:extLst>
          </p:cNvPr>
          <p:cNvSpPr/>
          <p:nvPr/>
        </p:nvSpPr>
        <p:spPr bwMode="auto">
          <a:xfrm>
            <a:off x="0" y="0"/>
            <a:ext cx="12192000" cy="13716000"/>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A562C6EF-4994-3BD2-4D37-26B13DD1C1F3}"/>
              </a:ext>
            </a:extLst>
          </p:cNvPr>
          <p:cNvSpPr>
            <a:spLocks noGrp="1"/>
          </p:cNvSpPr>
          <p:nvPr>
            <p:ph type="title"/>
          </p:nvPr>
        </p:nvSpPr>
        <p:spPr>
          <a:xfrm>
            <a:off x="941838" y="900001"/>
            <a:ext cx="5526488" cy="3314704"/>
          </a:xfrm>
        </p:spPr>
        <p:txBody>
          <a:bodyPr/>
          <a:lstStyle/>
          <a:p>
            <a:r>
              <a:rPr lang="en-US" sz="7200" b="1" dirty="0"/>
              <a:t>My Perspective on IBM </a:t>
            </a:r>
          </a:p>
        </p:txBody>
      </p:sp>
      <p:sp>
        <p:nvSpPr>
          <p:cNvPr id="3" name="Text Placeholder 2">
            <a:extLst>
              <a:ext uri="{FF2B5EF4-FFF2-40B4-BE49-F238E27FC236}">
                <a16:creationId xmlns:a16="http://schemas.microsoft.com/office/drawing/2014/main" id="{9E2865AD-D1DA-93EE-548F-D368FB940EB4}"/>
              </a:ext>
            </a:extLst>
          </p:cNvPr>
          <p:cNvSpPr>
            <a:spLocks noGrp="1"/>
          </p:cNvSpPr>
          <p:nvPr>
            <p:ph type="body" sz="quarter" idx="12"/>
          </p:nvPr>
        </p:nvSpPr>
        <p:spPr>
          <a:xfrm>
            <a:off x="5396730" y="5462476"/>
            <a:ext cx="5867015" cy="4554773"/>
          </a:xfrm>
        </p:spPr>
        <p:txBody>
          <a:bodyPr/>
          <a:lstStyle/>
          <a:p>
            <a:r>
              <a:rPr lang="en-US" sz="4800" dirty="0"/>
              <a:t>One of the most important enterprise technology companies in the world.</a:t>
            </a:r>
          </a:p>
          <a:p>
            <a:endParaRPr lang="en-US" sz="4400" dirty="0"/>
          </a:p>
        </p:txBody>
      </p:sp>
      <p:sp>
        <p:nvSpPr>
          <p:cNvPr id="4" name="Text Placeholder 3">
            <a:extLst>
              <a:ext uri="{FF2B5EF4-FFF2-40B4-BE49-F238E27FC236}">
                <a16:creationId xmlns:a16="http://schemas.microsoft.com/office/drawing/2014/main" id="{0431FAB8-401D-1DD5-2B1A-7DB933AAA643}"/>
              </a:ext>
            </a:extLst>
          </p:cNvPr>
          <p:cNvSpPr>
            <a:spLocks noGrp="1"/>
          </p:cNvSpPr>
          <p:nvPr>
            <p:ph type="body" sz="quarter" idx="13"/>
          </p:nvPr>
        </p:nvSpPr>
        <p:spPr>
          <a:xfrm>
            <a:off x="16216604" y="2133601"/>
            <a:ext cx="6659896" cy="10067924"/>
          </a:xfrm>
        </p:spPr>
        <p:txBody>
          <a:bodyPr/>
          <a:lstStyle/>
          <a:p>
            <a:r>
              <a:rPr lang="en-US" sz="3200" dirty="0"/>
              <a:t>Deeply embedded in enterprises </a:t>
            </a:r>
          </a:p>
          <a:p>
            <a:endParaRPr lang="en-US" sz="3200" dirty="0"/>
          </a:p>
          <a:p>
            <a:endParaRPr lang="en-US" sz="3200" dirty="0"/>
          </a:p>
          <a:p>
            <a:endParaRPr lang="en-US" sz="3200" dirty="0"/>
          </a:p>
          <a:p>
            <a:endParaRPr lang="en-US" sz="1100" dirty="0"/>
          </a:p>
          <a:p>
            <a:r>
              <a:rPr lang="en-US" sz="3200" dirty="0"/>
              <a:t>Built on trust and reliability </a:t>
            </a:r>
          </a:p>
          <a:p>
            <a:endParaRPr lang="en-US" sz="3200" dirty="0"/>
          </a:p>
          <a:p>
            <a:endParaRPr lang="en-US" sz="3200" dirty="0"/>
          </a:p>
          <a:p>
            <a:endParaRPr lang="en-US" dirty="0"/>
          </a:p>
          <a:p>
            <a:r>
              <a:rPr lang="en-US" sz="3200" dirty="0"/>
              <a:t>Infrastructure behind AI &amp; cloud</a:t>
            </a:r>
          </a:p>
          <a:p>
            <a:endParaRPr lang="en-US" sz="3200" dirty="0"/>
          </a:p>
          <a:p>
            <a:endParaRPr lang="en-US" sz="3200" dirty="0"/>
          </a:p>
          <a:p>
            <a:endParaRPr lang="en-US" sz="3200" dirty="0"/>
          </a:p>
          <a:p>
            <a:r>
              <a:rPr lang="en-US" sz="3200" dirty="0"/>
              <a:t>Focused on long term innovation</a:t>
            </a:r>
          </a:p>
          <a:p>
            <a:endParaRPr lang="en-US" sz="3200" dirty="0"/>
          </a:p>
          <a:p>
            <a:endParaRPr lang="en-US" sz="3200" dirty="0"/>
          </a:p>
          <a:p>
            <a:endParaRPr lang="en-US" sz="3200" dirty="0"/>
          </a:p>
          <a:p>
            <a:r>
              <a:rPr lang="en-US" sz="3200" dirty="0"/>
              <a:t>Plays the long game </a:t>
            </a:r>
          </a:p>
          <a:p>
            <a:endParaRPr lang="en-US" dirty="0"/>
          </a:p>
        </p:txBody>
      </p:sp>
      <p:sp>
        <p:nvSpPr>
          <p:cNvPr id="8" name="Slide Number Placeholder 2">
            <a:extLst>
              <a:ext uri="{FF2B5EF4-FFF2-40B4-BE49-F238E27FC236}">
                <a16:creationId xmlns:a16="http://schemas.microsoft.com/office/drawing/2014/main" id="{62D468AE-2F95-3550-8B19-2D97EDAF12B0}"/>
              </a:ext>
            </a:extLst>
          </p:cNvPr>
          <p:cNvSpPr>
            <a:spLocks noGrp="1"/>
          </p:cNvSpPr>
          <p:nvPr>
            <p:ph type="sldNum" sz="quarter" idx="4"/>
          </p:nvPr>
        </p:nvSpPr>
        <p:spPr>
          <a:xfrm>
            <a:off x="23541592" y="12951538"/>
            <a:ext cx="270908" cy="246221"/>
          </a:xfrm>
        </p:spPr>
        <p:txBody>
          <a:bodyPr/>
          <a:lstStyle/>
          <a:p>
            <a:fld id="{86CB4B4D-7CA3-9044-876B-883B54F8677D}" type="slidenum">
              <a:rPr lang="en-US" smtClean="0"/>
              <a:pPr/>
              <a:t>10</a:t>
            </a:fld>
            <a:endParaRPr lang="en-US" dirty="0"/>
          </a:p>
        </p:txBody>
      </p:sp>
      <p:pic>
        <p:nvPicPr>
          <p:cNvPr id="6" name="Picture 5">
            <a:extLst>
              <a:ext uri="{FF2B5EF4-FFF2-40B4-BE49-F238E27FC236}">
                <a16:creationId xmlns:a16="http://schemas.microsoft.com/office/drawing/2014/main" id="{2A4B1E88-CACF-B8B3-5C8E-82263A8B056A}"/>
              </a:ext>
            </a:extLst>
          </p:cNvPr>
          <p:cNvPicPr>
            <a:picLocks noChangeAspect="1"/>
          </p:cNvPicPr>
          <p:nvPr/>
        </p:nvPicPr>
        <p:blipFill>
          <a:blip r:embed="rId3"/>
          <a:stretch>
            <a:fillRect/>
          </a:stretch>
        </p:blipFill>
        <p:spPr>
          <a:xfrm>
            <a:off x="2354295" y="5114706"/>
            <a:ext cx="2511995" cy="2372440"/>
          </a:xfrm>
          <a:prstGeom prst="rect">
            <a:avLst/>
          </a:prstGeom>
        </p:spPr>
      </p:pic>
      <p:pic>
        <p:nvPicPr>
          <p:cNvPr id="11" name="Picture 10">
            <a:extLst>
              <a:ext uri="{FF2B5EF4-FFF2-40B4-BE49-F238E27FC236}">
                <a16:creationId xmlns:a16="http://schemas.microsoft.com/office/drawing/2014/main" id="{4E958CC6-60D2-7A75-4BE2-25E89650F83D}"/>
              </a:ext>
            </a:extLst>
          </p:cNvPr>
          <p:cNvPicPr>
            <a:picLocks noChangeAspect="1"/>
          </p:cNvPicPr>
          <p:nvPr/>
        </p:nvPicPr>
        <p:blipFill>
          <a:blip r:embed="rId4"/>
          <a:stretch>
            <a:fillRect/>
          </a:stretch>
        </p:blipFill>
        <p:spPr>
          <a:xfrm>
            <a:off x="13133838" y="1409504"/>
            <a:ext cx="2140927" cy="10792020"/>
          </a:xfrm>
          <a:prstGeom prst="rect">
            <a:avLst/>
          </a:prstGeom>
        </p:spPr>
      </p:pic>
    </p:spTree>
    <p:extLst>
      <p:ext uri="{BB962C8B-B14F-4D97-AF65-F5344CB8AC3E}">
        <p14:creationId xmlns:p14="http://schemas.microsoft.com/office/powerpoint/2010/main" val="1624937328"/>
      </p:ext>
    </p:extLst>
  </p:cSld>
  <p:clrMapOvr>
    <a:masterClrMapping/>
  </p:clrMapOvr>
  <p:transition spd="med"/>
</p:sld>
</file>

<file path=ppt/theme/theme1.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31DF0289-1028-6943-A020-36845773A867}" vid="{420903E5-FF27-9C4D-AB14-78ABBED49DF3}"/>
    </a:ext>
  </a:extLst>
</a:theme>
</file>

<file path=ppt/theme/theme2.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3.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ox_x003a_02_PublishedAssets xmlns="583b3768-e370-44a4-8037-087c689a0545">
      <Url>https://ibm.box.com/s/zojjyxami5ot987ficfrh8iugmwo23b4</Url>
      <Description>Plex Embed v2.0</Description>
    </Box_x003a_02_PublishedAssets>
    <Completefilename xmlns="583b3768-e370-44a4-8037-087c689a0545">IBM_presentation_template_v_2_0_Plex_embed</Completefilename>
    <BoxLink xmlns="583b3768-e370-44a4-8037-087c689a0545">
      <Url>https://ibm.box.com/s/2kogrzdi4aedyxfhp9i870tyz9derbwg</Url>
      <Description>Plex Embed v2.0 Backup</Description>
    </BoxLink>
    <Order0 xmlns="583b3768-e370-44a4-8037-087c689a0545">1</Order0>
    <Thumbnail xmlns="583b3768-e370-44a4-8037-087c689a054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1694EF421EE7B4987B547F22F2A1DA3" ma:contentTypeVersion="8" ma:contentTypeDescription="Create a new document." ma:contentTypeScope="" ma:versionID="e3fd817475d01017a64616e760ff69ca">
  <xsd:schema xmlns:xsd="http://www.w3.org/2001/XMLSchema" xmlns:xs="http://www.w3.org/2001/XMLSchema" xmlns:p="http://schemas.microsoft.com/office/2006/metadata/properties" xmlns:ns2="583b3768-e370-44a4-8037-087c689a0545" targetNamespace="http://schemas.microsoft.com/office/2006/metadata/properties" ma:root="true" ma:fieldsID="30fb6e060836472f64f635eae5cc7aed" ns2:_="">
    <xsd:import namespace="583b3768-e370-44a4-8037-087c689a0545"/>
    <xsd:element name="properties">
      <xsd:complexType>
        <xsd:sequence>
          <xsd:element name="documentManagement">
            <xsd:complexType>
              <xsd:all>
                <xsd:element ref="ns2:Completefilename" minOccurs="0"/>
                <xsd:element ref="ns2:BoxLink" minOccurs="0"/>
                <xsd:element ref="ns2:Box_x003a_02_PublishedAssets" minOccurs="0"/>
                <xsd:element ref="ns2:Order0" minOccurs="0"/>
                <xsd:element ref="ns2:MediaServiceMetadata" minOccurs="0"/>
                <xsd:element ref="ns2:MediaServiceFastMetadata" minOccurs="0"/>
                <xsd:element ref="ns2:MediaServiceSearchProperties" minOccurs="0"/>
                <xsd:element ref="ns2:Thumbnai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3b3768-e370-44a4-8037-087c689a0545" elementFormDefault="qualified">
    <xsd:import namespace="http://schemas.microsoft.com/office/2006/documentManagement/types"/>
    <xsd:import namespace="http://schemas.microsoft.com/office/infopath/2007/PartnerControls"/>
    <xsd:element name="Completefilename" ma:index="8" nillable="true" ma:displayName="Complete file name" ma:description="file name of Box counterpart" ma:format="Dropdown" ma:internalName="Completefilename">
      <xsd:simpleType>
        <xsd:restriction base="dms:Text">
          <xsd:maxLength value="255"/>
        </xsd:restriction>
      </xsd:simpleType>
    </xsd:element>
    <xsd:element name="BoxLink" ma:index="9" nillable="true" ma:displayName="Box: 01_Projects" ma:description="Link to Box counterpart for production updates" ma:format="Hyperlink" ma:internalName="BoxLink">
      <xsd:complexType>
        <xsd:complexContent>
          <xsd:extension base="dms:URL">
            <xsd:sequence>
              <xsd:element name="Url" type="dms:ValidUrl" minOccurs="0" nillable="true"/>
              <xsd:element name="Description" type="xsd:string" nillable="true"/>
            </xsd:sequence>
          </xsd:extension>
        </xsd:complexContent>
      </xsd:complexType>
    </xsd:element>
    <xsd:element name="Box_x003a_02_PublishedAssets" ma:index="10" nillable="true" ma:displayName="Box: 02_PubAssets" ma:description="Link to files counterpart in published assets folder in Box" ma:format="Hyperlink" ma:internalName="Box_x003a_02_PublishedAssets">
      <xsd:complexType>
        <xsd:complexContent>
          <xsd:extension base="dms:URL">
            <xsd:sequence>
              <xsd:element name="Url" type="dms:ValidUrl" minOccurs="0" nillable="true"/>
              <xsd:element name="Description" type="xsd:string" nillable="true"/>
            </xsd:sequence>
          </xsd:extension>
        </xsd:complexContent>
      </xsd:complexType>
    </xsd:element>
    <xsd:element name="Order0" ma:index="11" nillable="true" ma:displayName="Sort order" ma:description="Sequence and order files should appear on template library view" ma:format="Dropdown" ma:internalName="Order0" ma:percentage="FALSE">
      <xsd:simpleType>
        <xsd:restriction base="dms:Number"/>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Thumbnail" ma:index="15" nillable="true" ma:displayName="Thumbnail" ma:format="Thumbnail" ma:internalName="Thumbnail">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798F27-E6E4-4ACB-B27D-44B603BA1245}">
  <ds:schemaRefs>
    <ds:schemaRef ds:uri="http://purl.org/dc/terms/"/>
    <ds:schemaRef ds:uri="583b3768-e370-44a4-8037-087c689a0545"/>
    <ds:schemaRef ds:uri="http://purl.org/dc/elements/1.1/"/>
    <ds:schemaRef ds:uri="http://schemas.microsoft.com/office/2006/metadata/properties"/>
    <ds:schemaRef ds:uri="http://schemas.openxmlformats.org/package/2006/metadata/core-properties"/>
    <ds:schemaRef ds:uri="http://www.w3.org/XML/1998/namespace"/>
    <ds:schemaRef ds:uri="http://schemas.microsoft.com/office/2006/documentManagement/types"/>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B91251C0-D336-4ADE-9149-489DC5DF0629}">
  <ds:schemaRefs>
    <ds:schemaRef ds:uri="http://schemas.microsoft.com/sharepoint/v3/contenttype/forms"/>
  </ds:schemaRefs>
</ds:datastoreItem>
</file>

<file path=customXml/itemProps3.xml><?xml version="1.0" encoding="utf-8"?>
<ds:datastoreItem xmlns:ds="http://schemas.openxmlformats.org/officeDocument/2006/customXml" ds:itemID="{C7466BDD-CE65-46C2-BF13-E8D466B07A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3b3768-e370-44a4-8037-087c689a05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IBM presentation template</Template>
  <TotalTime>1189</TotalTime>
  <Words>2105</Words>
  <Application>Microsoft Macintosh PowerPoint</Application>
  <PresentationFormat>Custom</PresentationFormat>
  <Paragraphs>253</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IBM Plex Sans ExtLt</vt:lpstr>
      <vt:lpstr>IBM Plex Sans</vt:lpstr>
      <vt:lpstr>IBM Plex Sans Light</vt:lpstr>
      <vt:lpstr>Arial</vt:lpstr>
      <vt:lpstr>IBM presentation template</vt:lpstr>
      <vt:lpstr>What is IBM? How a 100+ year old company keeps reinventing itself</vt:lpstr>
      <vt:lpstr>Timeline</vt:lpstr>
      <vt:lpstr> Timeline</vt:lpstr>
      <vt:lpstr>What IBM Actually is Today  </vt:lpstr>
      <vt:lpstr>About Watsonx</vt:lpstr>
      <vt:lpstr>Red Hat &amp; OpenShift Drive IBM’s Hybrid Cloud Growth</vt:lpstr>
      <vt:lpstr>IBM Powers Critical Systems Worldwide</vt:lpstr>
      <vt:lpstr>IBM vs Other Tech Companies</vt:lpstr>
      <vt:lpstr>IBM Culture &amp; Identity</vt:lpstr>
      <vt:lpstr>My Perspective on IBM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Nichole Zheng</dc:creator>
  <cp:keywords/>
  <dc:description/>
  <cp:lastModifiedBy>Nichole Zheng</cp:lastModifiedBy>
  <cp:revision>2</cp:revision>
  <cp:lastPrinted>2019-04-25T15:14:05Z</cp:lastPrinted>
  <dcterms:created xsi:type="dcterms:W3CDTF">2026-05-27T14:39:38Z</dcterms:created>
  <dcterms:modified xsi:type="dcterms:W3CDTF">2026-05-29T16:20:23Z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0x01010031694EF421EE7B4987B547F22F2A1DA3</vt:lpwstr>
  </property>
</Properties>
</file>